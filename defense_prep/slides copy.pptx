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Illustrative Health-Index trajectory</a:t>
            </a:r>
          </a:p>
        </c:rich>
      </c:tx>
      <c:layout/>
      <c:overlay val="0"/>
    </c:title>
    <c:autoTitleDeleted val="0"/>
    <c:plotArea>
      <c:layout/>
      <c:lineChart>
        <c:varyColors val="0"/>
        <c:ser>
          <c:idx val="0"/>
          <c:order val="0"/>
          <c:tx>
            <c:strRef>
              <c:f>Sheet1!$B$1</c:f>
              <c:strCache>
                <c:ptCount val="1"/>
                <c:pt idx="0">
                  <c:v>Health Index (posterior median)</c:v>
                </c:pt>
              </c:strCache>
            </c:strRef>
          </c:tx>
          <c:spPr>
            <a:solidFill>
              <a:srgbClr val="13315C"/>
            </a:solidFill>
            <a:ln w="25400" cap="flat">
              <a:solidFill>
                <a:srgbClr val="13315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3315C"/>
              </a:solidFill>
              <a:ln w="9525" cap="flat">
                <a:solidFill>
                  <a:srgbClr val="13315C"/>
                </a:solidFill>
                <a:prstDash val="solid"/>
                <a:round/>
              </a:ln>
              <a:effectLst/>
            </c:spPr>
          </c:marker>
          <c:cat>
            <c:multiLvlStrRef>
              <c:f>Sheet1!$A$2:$A$31</c:f>
              <c:multiLvlStrCache>
                <c:ptCount val="3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lvl>
              </c:multiLvlStrCache>
            </c:multiLvlStrRef>
          </c:cat>
          <c:val>
            <c:numRef>
              <c:f>Sheet1!$B$2:$B$31</c:f>
              <c:numCache>
                <c:formatCode>General</c:formatCode>
                <c:ptCount val="30"/>
                <c:pt idx="0">
                  <c:v>100</c:v>
                </c:pt>
                <c:pt idx="1">
                  <c:v>95.1229424500714</c:v>
                </c:pt>
                <c:pt idx="2">
                  <c:v>90.48374180359595</c:v>
                </c:pt>
                <c:pt idx="3">
                  <c:v>86.07079764250578</c:v>
                </c:pt>
                <c:pt idx="4">
                  <c:v>81.87307530779819</c:v>
                </c:pt>
                <c:pt idx="5">
                  <c:v>77.8800783071405</c:v>
                </c:pt>
                <c:pt idx="6">
                  <c:v>74.08182206817177</c:v>
                </c:pt>
                <c:pt idx="7">
                  <c:v>70.46880897187134</c:v>
                </c:pt>
                <c:pt idx="8">
                  <c:v>67.03200460356393</c:v>
                </c:pt>
                <c:pt idx="9">
                  <c:v>63.76281516217732</c:v>
                </c:pt>
                <c:pt idx="10">
                  <c:v>60.653065971263345</c:v>
                </c:pt>
                <c:pt idx="11">
                  <c:v>57.69498103804867</c:v>
                </c:pt>
                <c:pt idx="12">
                  <c:v>54.88116360940264</c:v>
                </c:pt>
                <c:pt idx="13">
                  <c:v>52.20457767610161</c:v>
                </c:pt>
                <c:pt idx="14">
                  <c:v>49.65853037914095</c:v>
                </c:pt>
                <c:pt idx="15">
                  <c:v>47.236655274101466</c:v>
                </c:pt>
                <c:pt idx="16">
                  <c:v>44.932896411722155</c:v>
                </c:pt>
                <c:pt idx="17">
                  <c:v>42.74149319487267</c:v>
                </c:pt>
                <c:pt idx="18">
                  <c:v>40.65696597405991</c:v>
                </c:pt>
                <c:pt idx="19">
                  <c:v>38.674102345450116</c:v>
                </c:pt>
                <c:pt idx="20">
                  <c:v>36.787944117144235</c:v>
                </c:pt>
                <c:pt idx="21">
                  <c:v>34.99377491111553</c:v>
                </c:pt>
                <c:pt idx="22">
                  <c:v>33.28710836980795</c:v>
                </c:pt>
                <c:pt idx="23">
                  <c:v>31.663676937905315</c:v>
                </c:pt>
                <c:pt idx="24">
                  <c:v>30.1194211912202</c:v>
                </c:pt>
                <c:pt idx="25">
                  <c:v>28.650479686019008</c:v>
                </c:pt>
                <c:pt idx="26">
                  <c:v>27.25317930340126</c:v>
                </c:pt>
                <c:pt idx="27">
                  <c:v>25.92402606458915</c:v>
                </c:pt>
                <c:pt idx="28">
                  <c:v>24.659696394160644</c:v>
                </c:pt>
                <c:pt idx="29">
                  <c:v>23.45702880937976</c:v>
                </c:pt>
              </c:numCache>
            </c:numRef>
          </c:val>
          <c:smooth val="0"/>
        </c:ser>
        <c:ser>
          <c:idx val="1"/>
          <c:order val="1"/>
          <c:tx>
            <c:strRef>
              <c:f>Sheet1!$C$1</c:f>
              <c:strCache>
                <c:ptCount val="1"/>
                <c:pt idx="0">
                  <c:v>+1 band</c:v>
                </c:pt>
              </c:strCache>
            </c:strRef>
          </c:tx>
          <c:spPr>
            <a:solidFill>
              <a:srgbClr val="8DA9C4"/>
            </a:solidFill>
            <a:ln w="25400" cap="flat">
              <a:solidFill>
                <a:srgbClr val="8DA9C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DA9C4"/>
              </a:solidFill>
              <a:ln w="9525" cap="flat">
                <a:solidFill>
                  <a:srgbClr val="8DA9C4"/>
                </a:solidFill>
                <a:prstDash val="solid"/>
                <a:round/>
              </a:ln>
              <a:effectLst/>
            </c:spPr>
          </c:marker>
          <c:cat>
            <c:multiLvlStrRef>
              <c:f>Sheet1!$A$2:$A$31</c:f>
              <c:multiLvlStrCache>
                <c:ptCount val="3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lvl>
              </c:multiLvlStrCache>
            </c:multiLvlStrRef>
          </c:cat>
          <c:val>
            <c:numRef>
              <c:f>Sheet1!$C$2:$C$31</c:f>
              <c:numCache>
                <c:formatCode>General</c:formatCode>
                <c:ptCount val="30"/>
                <c:pt idx="0">
                  <c:v>100</c:v>
                </c:pt>
                <c:pt idx="1">
                  <c:v>100</c:v>
                </c:pt>
                <c:pt idx="2">
                  <c:v>96.48374180359595</c:v>
                </c:pt>
                <c:pt idx="3">
                  <c:v>92.07079764250578</c:v>
                </c:pt>
                <c:pt idx="4">
                  <c:v>87.87307530779819</c:v>
                </c:pt>
                <c:pt idx="5">
                  <c:v>83.8800783071405</c:v>
                </c:pt>
                <c:pt idx="6">
                  <c:v>80.08182206817177</c:v>
                </c:pt>
                <c:pt idx="7">
                  <c:v>76.46880897187134</c:v>
                </c:pt>
                <c:pt idx="8">
                  <c:v>73.03200460356393</c:v>
                </c:pt>
                <c:pt idx="9">
                  <c:v>69.76281516217732</c:v>
                </c:pt>
                <c:pt idx="10">
                  <c:v>66.65306597126335</c:v>
                </c:pt>
                <c:pt idx="11">
                  <c:v>63.69498103804867</c:v>
                </c:pt>
                <c:pt idx="12">
                  <c:v>60.88116360940264</c:v>
                </c:pt>
                <c:pt idx="13">
                  <c:v>58.20457767610161</c:v>
                </c:pt>
                <c:pt idx="14">
                  <c:v>55.65853037914095</c:v>
                </c:pt>
                <c:pt idx="15">
                  <c:v>53.236655274101466</c:v>
                </c:pt>
                <c:pt idx="16">
                  <c:v>50.932896411722155</c:v>
                </c:pt>
                <c:pt idx="17">
                  <c:v>48.74149319487267</c:v>
                </c:pt>
                <c:pt idx="18">
                  <c:v>46.65696597405991</c:v>
                </c:pt>
                <c:pt idx="19">
                  <c:v>44.674102345450116</c:v>
                </c:pt>
                <c:pt idx="20">
                  <c:v>42.787944117144235</c:v>
                </c:pt>
                <c:pt idx="21">
                  <c:v>40.99377491111553</c:v>
                </c:pt>
                <c:pt idx="22">
                  <c:v>39.28710836980795</c:v>
                </c:pt>
                <c:pt idx="23">
                  <c:v>37.663676937905315</c:v>
                </c:pt>
                <c:pt idx="24">
                  <c:v>36.1194211912202</c:v>
                </c:pt>
                <c:pt idx="25">
                  <c:v>34.65047968601901</c:v>
                </c:pt>
                <c:pt idx="26">
                  <c:v>33.25317930340126</c:v>
                </c:pt>
                <c:pt idx="27">
                  <c:v>31.92402606458915</c:v>
                </c:pt>
                <c:pt idx="28">
                  <c:v>30.659696394160644</c:v>
                </c:pt>
                <c:pt idx="29">
                  <c:v>29.45702880937976</c:v>
                </c:pt>
              </c:numCache>
            </c:numRef>
          </c:val>
          <c:smooth val="0"/>
        </c:ser>
        <c:ser>
          <c:idx val="2"/>
          <c:order val="2"/>
          <c:tx>
            <c:strRef>
              <c:f>Sheet1!$D$1</c:f>
              <c:strCache>
                <c:ptCount val="1"/>
                <c:pt idx="0">
                  <c:v>-1 band</c:v>
                </c:pt>
              </c:strCache>
            </c:strRef>
          </c:tx>
          <c:spPr>
            <a:solidFill>
              <a:srgbClr val="8DA9C4"/>
            </a:solidFill>
            <a:ln w="25400" cap="flat">
              <a:solidFill>
                <a:srgbClr val="8DA9C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DA9C4"/>
              </a:solidFill>
              <a:ln w="9525" cap="flat">
                <a:solidFill>
                  <a:srgbClr val="8DA9C4"/>
                </a:solidFill>
                <a:prstDash val="solid"/>
                <a:round/>
              </a:ln>
              <a:effectLst/>
            </c:spPr>
          </c:marker>
          <c:cat>
            <c:multiLvlStrRef>
              <c:f>Sheet1!$A$2:$A$31</c:f>
              <c:multiLvlStrCache>
                <c:ptCount val="3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lvl>
              </c:multiLvlStrCache>
            </c:multiLvlStrRef>
          </c:cat>
          <c:val>
            <c:numRef>
              <c:f>Sheet1!$D$2:$D$31</c:f>
              <c:numCache>
                <c:formatCode>General</c:formatCode>
                <c:ptCount val="30"/>
                <c:pt idx="0">
                  <c:v>94</c:v>
                </c:pt>
                <c:pt idx="1">
                  <c:v>89.1229424500714</c:v>
                </c:pt>
                <c:pt idx="2">
                  <c:v>84.48374180359595</c:v>
                </c:pt>
                <c:pt idx="3">
                  <c:v>80.07079764250578</c:v>
                </c:pt>
                <c:pt idx="4">
                  <c:v>75.87307530779819</c:v>
                </c:pt>
                <c:pt idx="5">
                  <c:v>71.8800783071405</c:v>
                </c:pt>
                <c:pt idx="6">
                  <c:v>68.08182206817177</c:v>
                </c:pt>
                <c:pt idx="7">
                  <c:v>64.46880897187134</c:v>
                </c:pt>
                <c:pt idx="8">
                  <c:v>61.032004603563934</c:v>
                </c:pt>
                <c:pt idx="9">
                  <c:v>57.76281516217732</c:v>
                </c:pt>
                <c:pt idx="10">
                  <c:v>54.653065971263345</c:v>
                </c:pt>
                <c:pt idx="11">
                  <c:v>51.69498103804867</c:v>
                </c:pt>
                <c:pt idx="12">
                  <c:v>48.88116360940264</c:v>
                </c:pt>
                <c:pt idx="13">
                  <c:v>46.20457767610161</c:v>
                </c:pt>
                <c:pt idx="14">
                  <c:v>43.65853037914095</c:v>
                </c:pt>
                <c:pt idx="15">
                  <c:v>41.236655274101466</c:v>
                </c:pt>
                <c:pt idx="16">
                  <c:v>38.932896411722155</c:v>
                </c:pt>
                <c:pt idx="17">
                  <c:v>36.74149319487267</c:v>
                </c:pt>
                <c:pt idx="18">
                  <c:v>34.65696597405991</c:v>
                </c:pt>
                <c:pt idx="19">
                  <c:v>32.674102345450116</c:v>
                </c:pt>
                <c:pt idx="20">
                  <c:v>30.787944117144235</c:v>
                </c:pt>
                <c:pt idx="21">
                  <c:v>28.99377491111553</c:v>
                </c:pt>
                <c:pt idx="22">
                  <c:v>27.287108369807953</c:v>
                </c:pt>
                <c:pt idx="23">
                  <c:v>25.663676937905315</c:v>
                </c:pt>
                <c:pt idx="24">
                  <c:v>24.1194211912202</c:v>
                </c:pt>
                <c:pt idx="25">
                  <c:v>22.650479686019008</c:v>
                </c:pt>
                <c:pt idx="26">
                  <c:v>21.25317930340126</c:v>
                </c:pt>
                <c:pt idx="27">
                  <c:v>19.92402606458915</c:v>
                </c:pt>
                <c:pt idx="28">
                  <c:v>18.659696394160644</c:v>
                </c:pt>
                <c:pt idx="29">
                  <c:v>17.45702880937976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Cycle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9F2"/>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Health (0–100)</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90% CI Coverage</a:t>
            </a:r>
          </a:p>
        </c:rich>
      </c:tx>
      <c:layout/>
      <c:overlay val="0"/>
    </c:title>
    <c:autoTitleDeleted val="0"/>
    <c:plotArea>
      <c:layout/>
      <c:lineChart>
        <c:varyColors val="0"/>
        <c:ser>
          <c:idx val="0"/>
          <c:order val="0"/>
          <c:tx>
            <c:strRef>
              <c:f>Sheet1!$B$1</c:f>
              <c:strCache>
                <c:ptCount val="1"/>
                <c:pt idx="0">
                  <c:v>FD001 coverage</c:v>
                </c:pt>
              </c:strCache>
            </c:strRef>
          </c:tx>
          <c:spPr>
            <a:solidFill>
              <a:srgbClr val="E8871E"/>
            </a:solidFill>
            <a:ln w="38100" cap="flat">
              <a:solidFill>
                <a:srgbClr val="E887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8871E"/>
              </a:solidFill>
              <a:ln w="9525" cap="flat">
                <a:solidFill>
                  <a:srgbClr val="E8871E"/>
                </a:solidFill>
                <a:prstDash val="solid"/>
                <a:round/>
              </a:ln>
              <a:effectLst/>
            </c:spPr>
          </c:marker>
          <c:cat>
            <c:multiLvlStrRef>
              <c:f>Sheet1!$A$2:$A$4</c:f>
              <c:multiLvlStrCache>
                <c:ptCount val="3"/>
                <c:lvl>
                  <c:pt idx="0">
                    <c:v>Fixed</c:v>
                  </c:pt>
                  <c:pt idx="1">
                    <c:v>PMMH</c:v>
                  </c:pt>
                  <c:pt idx="2">
                    <c:v>Library</c:v>
                  </c:pt>
                </c:lvl>
              </c:multiLvlStrCache>
            </c:multiLvlStrRef>
          </c:cat>
          <c:val>
            <c:numRef>
              <c:f>Sheet1!$B$2:$B$4</c:f>
              <c:numCache>
                <c:formatCode>General</c:formatCode>
                <c:ptCount val="3"/>
                <c:pt idx="0">
                  <c:v>0.49</c:v>
                </c:pt>
                <c:pt idx="1">
                  <c:v>0.68</c:v>
                </c:pt>
                <c:pt idx="2">
                  <c:v>0.75</c:v>
                </c:pt>
              </c:numCache>
            </c:numRef>
          </c:val>
          <c:smooth val="0"/>
        </c:ser>
        <c:ser>
          <c:idx val="1"/>
          <c:order val="1"/>
          <c:tx>
            <c:strRef>
              <c:f>Sheet1!$C$1</c:f>
              <c:strCache>
                <c:ptCount val="1"/>
                <c:pt idx="0">
                  <c:v>FD003 coverage</c:v>
                </c:pt>
              </c:strCache>
            </c:strRef>
          </c:tx>
          <c:spPr>
            <a:solidFill>
              <a:srgbClr val="1C7293"/>
            </a:solidFill>
            <a:ln w="38100" cap="flat">
              <a:solidFill>
                <a:srgbClr val="1C729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C7293"/>
              </a:solidFill>
              <a:ln w="9525" cap="flat">
                <a:solidFill>
                  <a:srgbClr val="1C7293"/>
                </a:solidFill>
                <a:prstDash val="solid"/>
                <a:round/>
              </a:ln>
              <a:effectLst/>
            </c:spPr>
          </c:marker>
          <c:cat>
            <c:multiLvlStrRef>
              <c:f>Sheet1!$A$2:$A$4</c:f>
              <c:multiLvlStrCache>
                <c:ptCount val="3"/>
                <c:lvl>
                  <c:pt idx="0">
                    <c:v>Fixed</c:v>
                  </c:pt>
                  <c:pt idx="1">
                    <c:v>PMMH</c:v>
                  </c:pt>
                  <c:pt idx="2">
                    <c:v>Library</c:v>
                  </c:pt>
                </c:lvl>
              </c:multiLvlStrCache>
            </c:multiLvlStrRef>
          </c:cat>
          <c:val>
            <c:numRef>
              <c:f>Sheet1!$C$2:$C$4</c:f>
              <c:numCache>
                <c:formatCode>General</c:formatCode>
                <c:ptCount val="3"/>
                <c:pt idx="0">
                  <c:v>1</c:v>
                </c:pt>
                <c:pt idx="1">
                  <c:v>1</c:v>
                </c:pt>
                <c:pt idx="2">
                  <c:v>0.99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9525" cap="flat">
              <a:solidFill>
                <a:srgbClr val="E2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Point accuracy (lower is better)</a:t>
            </a:r>
          </a:p>
        </c:rich>
      </c:tx>
      <c:layout/>
      <c:overlay val="0"/>
    </c:title>
    <c:autoTitleDeleted val="0"/>
    <c:plotArea>
      <c:layout/>
      <c:barChart>
        <c:barDir val="col"/>
        <c:grouping val="clustered"/>
        <c:varyColors val="0"/>
        <c:ser>
          <c:idx val="0"/>
          <c:order val="0"/>
          <c:tx>
            <c:strRef>
              <c:f>Sheet1!$B$1</c:f>
              <c:strCache>
                <c:ptCount val="1"/>
                <c:pt idx="0">
                  <c:v>RMSE (cycles)</c:v>
                </c:pt>
              </c:strCache>
            </c:strRef>
          </c:tx>
          <c:spPr>
            <a:solidFill>
              <a:srgbClr val="8DA9C4">
                <a:alpha val="90000"/>
              </a:srgbClr>
            </a:solidFill>
            <a:effectLst/>
          </c:spPr>
          <c:invertIfNegative val="0"/>
          <c:dLbls>
            <c:numFmt formatCode="#,##0" sourceLinked="0"/>
            <c:txPr>
              <a:bodyPr/>
              <a:lstStyle/>
              <a:p>
                <a:pPr>
                  <a:defRPr b="0" i="0" strike="noStrike" sz="1100" u="none">
                    <a:solidFill>
                      <a:srgbClr val="0B2545"/>
                    </a:solidFill>
                    <a:latin typeface="Arial"/>
                  </a:defRPr>
                </a:pPr>
              </a:p>
            </c:txPr>
            <c:showLegendKey val="0"/>
            <c:showVal val="1"/>
            <c:showCatName val="0"/>
            <c:showSerName val="0"/>
            <c:showPercent val="0"/>
            <c:showBubbleSize val="0"/>
            <c:showLeaderLines val="0"/>
          </c:dLbls>
          <c:cat>
            <c:multiLvlStrRef>
              <c:f>Sheet1!$A$2:$A$5</c:f>
              <c:multiLvlStrCache>
                <c:ptCount val="4"/>
                <c:lvl>
                  <c:pt idx="0">
                    <c:v>FD001
Baseline</c:v>
                  </c:pt>
                  <c:pt idx="1">
                    <c:v>FD001
Filter</c:v>
                  </c:pt>
                  <c:pt idx="2">
                    <c:v>FD003
Baseline</c:v>
                  </c:pt>
                  <c:pt idx="3">
                    <c:v>FD003
Filter</c:v>
                  </c:pt>
                </c:lvl>
              </c:multiLvlStrCache>
            </c:multiLvlStrRef>
          </c:cat>
          <c:val>
            <c:numRef>
              <c:f>Sheet1!$B$2:$B$5</c:f>
              <c:numCache>
                <c:formatCode>General</c:formatCode>
                <c:ptCount val="4"/>
                <c:pt idx="0">
                  <c:v>32</c:v>
                </c:pt>
                <c:pt idx="1">
                  <c:v>44.3</c:v>
                </c:pt>
                <c:pt idx="2">
                  <c:v>58.2</c:v>
                </c:pt>
                <c:pt idx="3">
                  <c:v>100.1</c:v>
                </c:pt>
              </c:numCache>
            </c:numRef>
          </c:val>
        </c:ser>
        <c:dLbls>
          <c:numFmt formatCode="#,##0" sourceLinked="0"/>
          <c:txPr>
            <a:bodyPr/>
            <a:lstStyle/>
            <a:p>
              <a:pPr>
                <a:defRPr b="0" i="0" strike="noStrike" sz="1100" u="none">
                  <a:solidFill>
                    <a:srgbClr val="0B254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6233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My name is Sajjad Ayashm, and today I will present my master's thesis: a Bayesian approach to digital twins, applying Sequential Monte Carlo -- a particle filter -- to estimate the remaining useful life of turbofan engines. My promotor was Prof. De Turck, co-promotor Prof. Fiems.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Predictive maintenance means: use sensor data to decide when to service a machine, instead of a fixed schedule or waiting for it to break. The number everyone wants is the Remaining Useful Life -- how many cycles are left. But almost all published methods, from simple regression to deep neural networks, give you just one number. Here is why that is a problem: if I tell a maintenance engineer 'fifty cycles left, plus or minus three', that is a very different, and much safer, situation than 'fifty cycles, plus or minus forty' -- even though the predicted number is exactly the same. A point estimate cannot tell these two situations apart, because it was never built to describe uncertainty in the first place. That is the gap this thesis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objective of this thesis is precise: build, implement, and validate a particle filter that does two things -- track the posterior of an engine's health from noisy sensors, and turn that posterior into a full RUL distribution, a median plus a 90 percent credible interval. And then -- this is the important part -- actually test whether that interval is calibrated: does the 90 percent interval really contain the true remaining life about 90 percent of the time? Not assume it, test it. Everything is evaluated on the NASA C-MAPSS benchmark, on the full one-hundred-engine test fleets of two sub-datasets, FD001 and FD003, not a cherry-picked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just use a Kalman filter, which is simpler? A Kalman filter is the exact, closed-form answer when three things hold: the model is linear, the noise is Gaussian, and the state is unconstrained. Three things push us away from that here. First, health is bounded between 0 and 100 and should mostly go one way -- a Gaussian doesn't respect boundaries. Second, our measurement noise fits a little better as a skew-normal than a Gaussian, and a particle filter does not force us to choose Gaussian. Third, and most important: what we actually want, the Remaining Useful Life, is a first-passage time -- the cycle where health first crosses a threshold. That is non-Gaussian even if the health posterior itself were Gaussian, so we need Monte Carlo simulation at that stage regardless. A particle filter gives us that machinery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does the digital twin actually track? We start from twenty-one raw sensor channels, drop the ones that are constant or redundant, and keep ten. These ten are combined into one single number, the Health Index, between 0 and 1, where 1 is healthy and 0 is failed. Over time, this Health Index is modelled as decaying exponentially. That is not an arbitrary choice: NASA's own C-MAPSS simulator, which generated this data, documents that its underlying damage process is exponential. Importantly, this whole construction -- which sensors, which weights, which shape -- is fit only on the FD001 dataset, and then reused without any changes on FD003, so FD003 becomes a genuine robustness test rather than a re-tuned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Mechanically, the particle filter is a simple three-step loop, repeated every cycle for every engine independently. Predict: each of five hundred particles steps forward through the degradation model, each with its own random noise. Weight: each particle gets a score for how well it matches the newest sensor reading. Resample: when a diagnostic called the Effective Sample Size falls below half of N, we drop the low-weight particles and duplicate the good ones, so we don't waste computation on particles nobody believes in anymore. Across the entire hundred-engine fleet, this effective sample size averages seventy-nine percent of N -- meaning the particle cloud stays healthy and diverse, it never collapses onto one or two particles.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single most important fix in the thesis. Once the filter has a posterior over health, we simulate every particle forward until it crosses a failure threshold -- that crossing cycle is one sample of RUL, and collecting one sample per particle gives a full RUL distribution, not just one number. But early on, this distribution was badly wrong: the ninety percent credible interval covered zero out of the test engines. Zero. The reason: real engines fail around a health value of about 0.26 in the raw sensor data, but the filter's own internal posterior sits higher than that at the same moment in time, around 0.34, because of how particles are initialised and how measurement noise behaves. Comparing against the wrong number added, on average, about a hundred spurious cycles to every prediction. The fix was to calibrate the failure threshold inside the filter's own posterior space, not the raw observation space, and to treat that threshold itself as uncertain, drawn separately for each particle. That one change took the credible interval from covering nothing to covering seventy-five to ninety-nine percent of engines, depending on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big source of error was the degradation rate itself. It was originally fit once, pooling all one hundred training engines together, and that pooled rate understates the fleet's true average rate by about twenty-six percent, because it averages fast-dying and slow-dying engines into one number. Two fixes address this. First, PMMH: a Bayesian method that estimates the rate and the noise scale per engine, then aggregates those into one fleet-wide pair -- it converged properly on thirty-one of the hundred FD001 engines and eight of a hundred on FD003, with a regression fallback elsewhere. Second, and this is the one I adopted as the final method: a similarity-based reference library. Instead of one rate for everyone, I keep a library of one rate per training engine, and at test time I match the engine currently being filtered to its closest analogues and borrow their rate. This is the method that ends up best on every accuracy and calibration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uses NASA's C-MAPSS turbofan benchmark. FD001 has a single fault mode and is the primary dataset; FD003 shares the same single operating condition but adds a second, independent fault mode, fan degradation on top of compressor degradation, and is used purely as a robustness check -- the pipeline is fit only on FD001 and reused unchanged on FD003. Both are evaluated on the full one-hundred-engine test fleet. Three kinds of metric are reported: RMSE and MAPE for point accuracy; the PHM08 competition score, which penalizes a late, over-confident prediction harder than an early, conservative one; and, most central to this thesis, ninety percent credible interval coverage -- whether the reported interval actually contains the truth. That last one is the metric a plain point-estimate model cannot report at all, because it has no interval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4.8 directly from the thesis, so it is exactly what is in the version already sent to the committee. On the left is the best-tracked FD001 engine, on the right the worst-tracked -- engine 1, which is only observed for thirty-one cycles. Look at the top row first: even on the worst engine, the blue posterior median tracks the grey observed Health Index closely. Health tracking is not the problem. The problem only appears in the bottom row, the RUL projection: the orange predicted median and its interval sit well above the true countdown, the dashed line, because thirty-one cycles is simply not enough evidence for any method to lock onto that engine's true rate. Across the whole fleet, Health-Index RMSE is about eight to nine hundredths on a zero-to-one scale, and the effective sample size stays at seventy-nine percent of N on average -- so the filtering machinery itself is healthy across the board, not just on this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heart of the results chapter. Reading FD001 left to right: RMSE drops from 98.3 cycles under fixed hand-set parameters, to 52.9 under PMMH, to 44.3 under the final library method. At the same time -- and this is the important point -- coverage of the ninety percent interval rises from 0.49, to 0.68, to 0.75. Every single fix improves both dimensions together; none of them trades accuracy for calibration or the other way round. FD003 tells a related but different story: RMSE also falls, from 160 to 100 cycles, but coverage is already at 1.00 and stays there -- meaning the interval on FD003 is wide enough to always contain the truth, so it is over-conservative rather than overconfident. I'll come back to why FD001 and FD003 fail in opposite directions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would be dishonest to stop at the last slide without the direct comparison. A plain linear regression, given the exact same ten sensors, is actually the sharper point predictor: 32 cycles RMSE versus 44 for the filter on FD001, 58 versus 100 on FD003. So the argument for the particle filter does not rest on point accuracy, and it doesn't need to. What the baseline categorically cannot do is report a credible interval -- there is no distribution to check for coverage, the question doesn't even apply to it. The filter concedes some point accuracy and, in exchange, delivers a calibrated interval that covers seventy-five to ninety-nine percent of engines. For a maintenance decision, where acting too late risks an in-service failure, that calibrated uncertainty is the quantity that actually matters, not the sharpest possible point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interest of an honest defense, four things are not yet perfect. On FD001 the interval is mildly overconfident, 0.75 against a nominal 0.90, because a single matched rate per engine still cannot capture every fast-degrading engine exactly. On FD003 it's the opposite: 0.99, over-conservative, because run-to-failure horizons are longer and the similarity matching itself gets noisier once two fault modes are present. Third, PMMH's convergence was partial -- it properly converged on only thirty-one of a hundred FD001 engines and eight of a hundred FD003 engines, with a simpler regression fit used as a fallback for the rest; this is reported openly, not hidden. Fourth, the whole pipeline currently only handles a single operating condition -- extending it to FD002 and FD004, which vary operating conditions, would need an operating-condition-aware normalisation step that does not exist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architecture works: the particle filter tracks engine health reliably across the whole fleet. Point accuracy improved substantially once the degradation rate was estimated from data instead of hand-set or pooled -- final-cycle RMSE on FD001 roughly halved. And calibration -- the dimension I frame as the actual reason to choose a probabilistic digital twin in the first place -- is achieved in practice, not merely available in principle: coverage moved from zero to seventy-five and ninety-nine percent, checkable on a stated hundred-engine test fleet, something a point-estimate deep-learning model cannot even offer. The contribution is combining a continuous-state particle filter with calibrated RUL and applying it to turbofan engines specifically, which the existing literature -- particle filters mostly on batteries, deep learning mostly reporting only point accuracy on C-MAPSS -- leaves as an open gap. For future work: better PMMH convergence and per-engine noise estimates are the most direct route to tightening the remaining calibration gap; beyond that, jointly estimating rate and noise, a life-fraction-normalised alternative to pooling, closing the similarity-matching simplifications, extending to more operating conditions, and a proper particle-count sensitivity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822960" y="1965960"/>
            <a:ext cx="10545775" cy="1005840"/>
          </a:xfrm>
          <a:prstGeom prst="rect">
            <a:avLst/>
          </a:prstGeom>
          <a:noFill/>
          <a:ln/>
        </p:spPr>
        <p:txBody>
          <a:bodyPr wrap="square" rtlCol="0" anchor="ctr"/>
          <a:lstStyle/>
          <a:p>
            <a:pPr algn="l" indent="0" marL="0">
              <a:buNone/>
            </a:pPr>
            <a:r>
              <a:rPr lang="en-US" sz="3400" b="1" spc="50" kern="0" dirty="0">
                <a:solidFill>
                  <a:srgbClr val="FFFFFF"/>
                </a:solidFill>
                <a:latin typeface="Cambria" pitchFamily="34" charset="0"/>
                <a:ea typeface="Cambria" pitchFamily="34" charset="-122"/>
                <a:cs typeface="Cambria" pitchFamily="34" charset="-120"/>
              </a:rPr>
              <a:t>A BAYESIAN APPROACH TO DIGITAL TWINS</a:t>
            </a:r>
            <a:endParaRPr lang="en-US" sz="3400" dirty="0"/>
          </a:p>
        </p:txBody>
      </p:sp>
      <p:sp>
        <p:nvSpPr>
          <p:cNvPr id="3" name="Text 1"/>
          <p:cNvSpPr/>
          <p:nvPr/>
        </p:nvSpPr>
        <p:spPr>
          <a:xfrm>
            <a:off x="822960" y="2788920"/>
            <a:ext cx="10545775" cy="548640"/>
          </a:xfrm>
          <a:prstGeom prst="rect">
            <a:avLst/>
          </a:prstGeom>
          <a:noFill/>
          <a:ln/>
        </p:spPr>
        <p:txBody>
          <a:bodyPr wrap="square" rtlCol="0" anchor="ctr"/>
          <a:lstStyle/>
          <a:p>
            <a:pPr algn="l" indent="0" marL="0">
              <a:buNone/>
            </a:pPr>
            <a:r>
              <a:rPr lang="en-US" sz="1700" i="1" dirty="0">
                <a:solidFill>
                  <a:srgbClr val="CFE0F0"/>
                </a:solidFill>
                <a:latin typeface="Calibri" pitchFamily="34" charset="0"/>
                <a:ea typeface="Calibri" pitchFamily="34" charset="-122"/>
                <a:cs typeface="Calibri" pitchFamily="34" charset="-120"/>
              </a:rPr>
              <a:t>Sequential Monte Carlo for Turbofan Engine Remaining Useful Life Estimation</a:t>
            </a:r>
            <a:endParaRPr lang="en-US" sz="1700" dirty="0"/>
          </a:p>
        </p:txBody>
      </p:sp>
      <p:sp>
        <p:nvSpPr>
          <p:cNvPr id="4" name="Shape 2"/>
          <p:cNvSpPr/>
          <p:nvPr/>
        </p:nvSpPr>
        <p:spPr>
          <a:xfrm>
            <a:off x="822960" y="3520440"/>
            <a:ext cx="1280160" cy="0"/>
          </a:xfrm>
          <a:prstGeom prst="line">
            <a:avLst/>
          </a:prstGeom>
          <a:noFill/>
          <a:ln w="31750">
            <a:solidFill>
              <a:srgbClr val="E8871E"/>
            </a:solidFill>
            <a:prstDash val="solid"/>
          </a:ln>
        </p:spPr>
      </p:sp>
      <p:sp>
        <p:nvSpPr>
          <p:cNvPr id="5" name="Text 3"/>
          <p:cNvSpPr/>
          <p:nvPr/>
        </p:nvSpPr>
        <p:spPr>
          <a:xfrm>
            <a:off x="822960" y="3794760"/>
            <a:ext cx="73152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Sajjad Ayashm</a:t>
            </a:r>
            <a:endParaRPr lang="en-US" sz="1800" dirty="0"/>
          </a:p>
        </p:txBody>
      </p:sp>
      <p:sp>
        <p:nvSpPr>
          <p:cNvPr id="6" name="Text 4"/>
          <p:cNvSpPr/>
          <p:nvPr/>
        </p:nvSpPr>
        <p:spPr>
          <a:xfrm>
            <a:off x="822960" y="4206240"/>
            <a:ext cx="8229600" cy="320040"/>
          </a:xfrm>
          <a:prstGeom prst="rect">
            <a:avLst/>
          </a:prstGeom>
          <a:noFill/>
          <a:ln/>
        </p:spPr>
        <p:txBody>
          <a:bodyPr wrap="square" rtlCol="0" anchor="ctr"/>
          <a:lstStyle/>
          <a:p>
            <a:pPr indent="0" marL="0">
              <a:buNone/>
            </a:pPr>
            <a:r>
              <a:rPr lang="en-US" sz="1300" dirty="0">
                <a:solidFill>
                  <a:srgbClr val="8DA9C4"/>
                </a:solidFill>
                <a:latin typeface="Calibri" pitchFamily="34" charset="0"/>
                <a:ea typeface="Calibri" pitchFamily="34" charset="-122"/>
                <a:cs typeface="Calibri" pitchFamily="34" charset="-120"/>
              </a:rPr>
              <a:t>Master of Science in Statistical Data Analysis  ·  Ghent University</a:t>
            </a:r>
            <a:endParaRPr lang="en-US" sz="1300" dirty="0"/>
          </a:p>
        </p:txBody>
      </p:sp>
      <p:sp>
        <p:nvSpPr>
          <p:cNvPr id="7" name="Text 5"/>
          <p:cNvSpPr/>
          <p:nvPr/>
        </p:nvSpPr>
        <p:spPr>
          <a:xfrm>
            <a:off x="822960" y="4553712"/>
            <a:ext cx="9144000" cy="320040"/>
          </a:xfrm>
          <a:prstGeom prst="rect">
            <a:avLst/>
          </a:prstGeom>
          <a:noFill/>
          <a:ln/>
        </p:spPr>
        <p:txBody>
          <a:bodyPr wrap="square" rtlCol="0" anchor="ctr"/>
          <a:lstStyle/>
          <a:p>
            <a:pPr indent="0" marL="0">
              <a:buNone/>
            </a:pPr>
            <a:r>
              <a:rPr lang="en-US" sz="1200" dirty="0">
                <a:solidFill>
                  <a:srgbClr val="8DA9C4"/>
                </a:solidFill>
                <a:latin typeface="Calibri" pitchFamily="34" charset="0"/>
                <a:ea typeface="Calibri" pitchFamily="34" charset="-122"/>
                <a:cs typeface="Calibri" pitchFamily="34" charset="-120"/>
              </a:rPr>
              <a:t>Promotor: Prof. Dr. Koen De Turck    ·    Co-promotor: Prof. Dr. Dieter Fiems</a:t>
            </a:r>
            <a:endParaRPr lang="en-US" sz="1200" dirty="0"/>
          </a:p>
        </p:txBody>
      </p:sp>
      <p:sp>
        <p:nvSpPr>
          <p:cNvPr id="8" name="Text 6"/>
          <p:cNvSpPr/>
          <p:nvPr/>
        </p:nvSpPr>
        <p:spPr>
          <a:xfrm>
            <a:off x="822960" y="6172200"/>
            <a:ext cx="5486400" cy="274320"/>
          </a:xfrm>
          <a:prstGeom prst="rect">
            <a:avLst/>
          </a:prstGeom>
          <a:noFill/>
          <a:ln/>
        </p:spPr>
        <p:txBody>
          <a:bodyPr wrap="square" rtlCol="0" anchor="ctr"/>
          <a:lstStyle/>
          <a:p>
            <a:pPr indent="0" marL="0">
              <a:buNone/>
            </a:pPr>
            <a:r>
              <a:rPr lang="en-US" sz="1100" dirty="0">
                <a:solidFill>
                  <a:srgbClr val="5B6B85"/>
                </a:solidFill>
                <a:latin typeface="Calibri" pitchFamily="34" charset="0"/>
                <a:ea typeface="Calibri" pitchFamily="34" charset="-122"/>
                <a:cs typeface="Calibri" pitchFamily="34" charset="-120"/>
              </a:rPr>
              <a:t>Academic Year 2025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A Single Number Is Not Enough</a:t>
            </a:r>
            <a:endParaRPr lang="en-US" sz="3000" dirty="0"/>
          </a:p>
        </p:txBody>
      </p:sp>
      <p:sp>
        <p:nvSpPr>
          <p:cNvPr id="4" name="Text 2"/>
          <p:cNvSpPr/>
          <p:nvPr/>
        </p:nvSpPr>
        <p:spPr>
          <a:xfrm>
            <a:off x="594360" y="1417320"/>
            <a:ext cx="5120640" cy="3108960"/>
          </a:xfrm>
          <a:prstGeom prst="rect">
            <a:avLst/>
          </a:prstGeom>
          <a:noFill/>
          <a:ln/>
        </p:spPr>
        <p:txBody>
          <a:bodyPr wrap="square" rtlCol="0" anchor="t"/>
          <a:lstStyle/>
          <a:p>
            <a:pPr indent="0" marL="0">
              <a:lnSpc>
                <a:spcPct val="125000"/>
              </a:lnSpc>
              <a:buNone/>
            </a:pPr>
            <a:r>
              <a:rPr lang="en-US" sz="1500" b="1" dirty="0">
                <a:solidFill>
                  <a:srgbClr val="0B2545"/>
                </a:solidFill>
                <a:latin typeface="Calibri" pitchFamily="34" charset="0"/>
                <a:ea typeface="Calibri" pitchFamily="34" charset="-122"/>
                <a:cs typeface="Calibri" pitchFamily="34" charset="-120"/>
              </a:rPr>
              <a:t>Predictive maintenance </a:t>
            </a:r>
            <a:pPr indent="0" marL="0">
              <a:lnSpc>
                <a:spcPct val="125000"/>
              </a:lnSpc>
              <a:buNone/>
            </a:pPr>
            <a:r>
              <a:rPr lang="en-US" sz="1500" dirty="0">
                <a:solidFill>
                  <a:srgbClr val="16233B"/>
                </a:solidFill>
                <a:latin typeface="Calibri" pitchFamily="34" charset="0"/>
                <a:ea typeface="Calibri" pitchFamily="34" charset="-122"/>
                <a:cs typeface="Calibri" pitchFamily="34" charset="-120"/>
              </a:rPr>
              <a:t>schedules repairs from an asset's actual condition, not a fixed calendar.
</a:t>
            </a:r>
            <a:pPr indent="0" marL="0">
              <a:lnSpc>
                <a:spcPct val="125000"/>
              </a:lnSpc>
              <a:buNone/>
            </a:pPr>
            <a:r>
              <a:rPr lang="en-US" sz="1500" dirty="0">
                <a:solidFill>
                  <a:srgbClr val="16233B"/>
                </a:solidFill>
                <a:latin typeface="Calibri" pitchFamily="34" charset="0"/>
                <a:ea typeface="Calibri" pitchFamily="34" charset="-122"/>
                <a:cs typeface="Calibri" pitchFamily="34" charset="-120"/>
              </a:rPr>
              <a:t>The key quantity: </a:t>
            </a:r>
            <a:pPr indent="0" marL="0">
              <a:lnSpc>
                <a:spcPct val="125000"/>
              </a:lnSpc>
              <a:buNone/>
            </a:pPr>
            <a:r>
              <a:rPr lang="en-US" sz="1500" b="1" dirty="0">
                <a:solidFill>
                  <a:srgbClr val="0B2545"/>
                </a:solidFill>
                <a:latin typeface="Calibri" pitchFamily="34" charset="0"/>
                <a:ea typeface="Calibri" pitchFamily="34" charset="-122"/>
                <a:cs typeface="Calibri" pitchFamily="34" charset="-120"/>
              </a:rPr>
              <a:t>Remaining Useful Life (RUL)</a:t>
            </a:r>
            <a:pPr indent="0" marL="0">
              <a:lnSpc>
                <a:spcPct val="125000"/>
              </a:lnSpc>
              <a:buNone/>
            </a:pPr>
            <a:r>
              <a:rPr lang="en-US" sz="1500" dirty="0">
                <a:solidFill>
                  <a:srgbClr val="16233B"/>
                </a:solidFill>
                <a:latin typeface="Calibri" pitchFamily="34" charset="0"/>
                <a:ea typeface="Calibri" pitchFamily="34" charset="-122"/>
                <a:cs typeface="Calibri" pitchFamily="34" charset="-120"/>
              </a:rPr>
              <a:t> — cycles left before failure.
</a:t>
            </a:r>
            <a:pPr indent="0" marL="0">
              <a:lnSpc>
                <a:spcPct val="125000"/>
              </a:lnSpc>
              <a:buNone/>
            </a:pPr>
            <a:r>
              <a:rPr lang="en-US" sz="1500" dirty="0">
                <a:solidFill>
                  <a:srgbClr val="16233B"/>
                </a:solidFill>
                <a:latin typeface="Calibri" pitchFamily="34" charset="0"/>
                <a:ea typeface="Calibri" pitchFamily="34" charset="-122"/>
                <a:cs typeface="Calibri" pitchFamily="34" charset="-120"/>
              </a:rPr>
              <a:t>Most methods — regression, CNN, LSTM — output </a:t>
            </a:r>
            <a:pPr indent="0" marL="0">
              <a:lnSpc>
                <a:spcPct val="125000"/>
              </a:lnSpc>
              <a:buNone/>
            </a:pPr>
            <a:r>
              <a:rPr lang="en-US" sz="1500" b="1" i="1" dirty="0">
                <a:solidFill>
                  <a:srgbClr val="E8871E"/>
                </a:solidFill>
                <a:latin typeface="Calibri" pitchFamily="34" charset="0"/>
                <a:ea typeface="Calibri" pitchFamily="34" charset="-122"/>
                <a:cs typeface="Calibri" pitchFamily="34" charset="-120"/>
              </a:rPr>
              <a:t>one number</a:t>
            </a:r>
            <a:pPr indent="0" marL="0">
              <a:lnSpc>
                <a:spcPct val="125000"/>
              </a:lnSpc>
              <a:buNone/>
            </a:pPr>
            <a:r>
              <a:rPr lang="en-US" sz="1500" dirty="0">
                <a:solidFill>
                  <a:srgbClr val="16233B"/>
                </a:solidFill>
                <a:latin typeface="Calibri" pitchFamily="34" charset="0"/>
                <a:ea typeface="Calibri" pitchFamily="34" charset="-122"/>
                <a:cs typeface="Calibri" pitchFamily="34" charset="-120"/>
              </a:rPr>
              <a:t> and nothing else.</a:t>
            </a:r>
            <a:endParaRPr lang="en-US" sz="1500" dirty="0"/>
          </a:p>
        </p:txBody>
      </p:sp>
      <p:sp>
        <p:nvSpPr>
          <p:cNvPr id="5" name="Shape 3"/>
          <p:cNvSpPr/>
          <p:nvPr/>
        </p:nvSpPr>
        <p:spPr>
          <a:xfrm>
            <a:off x="6126480" y="1463040"/>
            <a:ext cx="2651760" cy="2331720"/>
          </a:xfrm>
          <a:prstGeom prst="roundRect">
            <a:avLst>
              <a:gd name="adj" fmla="val 3922"/>
            </a:avLst>
          </a:prstGeom>
          <a:solidFill>
            <a:srgbClr val="FFFFFF"/>
          </a:solidFill>
          <a:ln w="12700">
            <a:solidFill>
              <a:srgbClr val="CFE0F0"/>
            </a:solidFill>
            <a:prstDash val="solid"/>
          </a:ln>
          <a:effectLst>
            <a:outerShdw sx="100000" sy="100000" kx="0" ky="0" algn="bl" rotWithShape="0" blurRad="76200" dist="25400" dir="5400000">
              <a:srgbClr val="9AAFC7">
                <a:alpha val="35000"/>
              </a:srgbClr>
            </a:outerShdw>
          </a:effectLst>
        </p:spPr>
      </p:sp>
      <p:sp>
        <p:nvSpPr>
          <p:cNvPr id="6" name="Text 4"/>
          <p:cNvSpPr/>
          <p:nvPr/>
        </p:nvSpPr>
        <p:spPr>
          <a:xfrm>
            <a:off x="6126480" y="1783080"/>
            <a:ext cx="2651760" cy="822960"/>
          </a:xfrm>
          <a:prstGeom prst="rect">
            <a:avLst/>
          </a:prstGeom>
          <a:noFill/>
          <a:ln/>
        </p:spPr>
        <p:txBody>
          <a:bodyPr wrap="square" rtlCol="0" anchor="ctr"/>
          <a:lstStyle/>
          <a:p>
            <a:pPr algn="ctr" indent="0" marL="0">
              <a:buNone/>
            </a:pPr>
            <a:r>
              <a:rPr lang="en-US" sz="3000" b="1" dirty="0">
                <a:solidFill>
                  <a:srgbClr val="1C7293"/>
                </a:solidFill>
                <a:latin typeface="Cambria" pitchFamily="34" charset="0"/>
                <a:ea typeface="Cambria" pitchFamily="34" charset="-122"/>
                <a:cs typeface="Cambria" pitchFamily="34" charset="-120"/>
              </a:rPr>
              <a:t>50 ± 3</a:t>
            </a:r>
            <a:endParaRPr lang="en-US" sz="3000" dirty="0"/>
          </a:p>
        </p:txBody>
      </p:sp>
      <p:sp>
        <p:nvSpPr>
          <p:cNvPr id="7" name="Text 5"/>
          <p:cNvSpPr/>
          <p:nvPr/>
        </p:nvSpPr>
        <p:spPr>
          <a:xfrm>
            <a:off x="6126480" y="2514600"/>
            <a:ext cx="2651760" cy="274320"/>
          </a:xfrm>
          <a:prstGeom prst="rect">
            <a:avLst/>
          </a:prstGeom>
          <a:noFill/>
          <a:ln/>
        </p:spPr>
        <p:txBody>
          <a:bodyPr wrap="square" rtlCol="0" anchor="ctr"/>
          <a:lstStyle/>
          <a:p>
            <a:pPr algn="ctr" indent="0" marL="0">
              <a:buNone/>
            </a:pPr>
            <a:r>
              <a:rPr lang="en-US" sz="1100" dirty="0">
                <a:solidFill>
                  <a:srgbClr val="5B6B85"/>
                </a:solidFill>
                <a:latin typeface="Calibri" pitchFamily="34" charset="0"/>
                <a:ea typeface="Calibri" pitchFamily="34" charset="-122"/>
                <a:cs typeface="Calibri" pitchFamily="34" charset="-120"/>
              </a:rPr>
              <a:t>cycles predicted</a:t>
            </a:r>
            <a:endParaRPr lang="en-US" sz="1100" dirty="0"/>
          </a:p>
        </p:txBody>
      </p:sp>
      <p:sp>
        <p:nvSpPr>
          <p:cNvPr id="8" name="Text 6"/>
          <p:cNvSpPr/>
          <p:nvPr/>
        </p:nvSpPr>
        <p:spPr>
          <a:xfrm>
            <a:off x="6309360" y="2926080"/>
            <a:ext cx="2286000" cy="777240"/>
          </a:xfrm>
          <a:prstGeom prst="rect">
            <a:avLst/>
          </a:prstGeom>
          <a:noFill/>
          <a:ln/>
        </p:spPr>
        <p:txBody>
          <a:bodyPr wrap="square" rtlCol="0" anchor="t"/>
          <a:lstStyle/>
          <a:p>
            <a:pPr algn="ctr" indent="0" marL="0">
              <a:buNone/>
            </a:pPr>
            <a:r>
              <a:rPr lang="en-US" sz="1250" dirty="0">
                <a:solidFill>
                  <a:srgbClr val="16233B"/>
                </a:solidFill>
                <a:latin typeface="Calibri" pitchFamily="34" charset="0"/>
                <a:ea typeface="Calibri" pitchFamily="34" charset="-122"/>
                <a:cs typeface="Calibri" pitchFamily="34" charset="-120"/>
              </a:rPr>
              <a:t>Confident.</a:t>
            </a:r>
            <a:endParaRPr lang="en-US" sz="1250" dirty="0"/>
          </a:p>
          <a:p>
            <a:pPr algn="ctr" indent="0" marL="0">
              <a:buNone/>
            </a:pPr>
            <a:r>
              <a:rPr lang="en-US" sz="1250" dirty="0">
                <a:solidFill>
                  <a:srgbClr val="16233B"/>
                </a:solidFill>
                <a:latin typeface="Calibri" pitchFamily="34" charset="0"/>
                <a:ea typeface="Calibri" pitchFamily="34" charset="-122"/>
                <a:cs typeface="Calibri" pitchFamily="34" charset="-120"/>
              </a:rPr>
              <a:t>Schedule service at cycle 45 — safely.</a:t>
            </a:r>
            <a:endParaRPr lang="en-US" sz="1250" dirty="0"/>
          </a:p>
        </p:txBody>
      </p:sp>
      <p:sp>
        <p:nvSpPr>
          <p:cNvPr id="9" name="Shape 7"/>
          <p:cNvSpPr/>
          <p:nvPr/>
        </p:nvSpPr>
        <p:spPr>
          <a:xfrm>
            <a:off x="9098280" y="1463040"/>
            <a:ext cx="2651760" cy="2331720"/>
          </a:xfrm>
          <a:prstGeom prst="roundRect">
            <a:avLst>
              <a:gd name="adj" fmla="val 3922"/>
            </a:avLst>
          </a:prstGeom>
          <a:solidFill>
            <a:srgbClr val="FFFFFF"/>
          </a:solidFill>
          <a:ln w="12700">
            <a:solidFill>
              <a:srgbClr val="CFE0F0"/>
            </a:solidFill>
            <a:prstDash val="solid"/>
          </a:ln>
          <a:effectLst>
            <a:outerShdw sx="100000" sy="100000" kx="0" ky="0" algn="bl" rotWithShape="0" blurRad="76200" dist="25400" dir="5400000">
              <a:srgbClr val="9AAFC7">
                <a:alpha val="35000"/>
              </a:srgbClr>
            </a:outerShdw>
          </a:effectLst>
        </p:spPr>
      </p:sp>
      <p:sp>
        <p:nvSpPr>
          <p:cNvPr id="10" name="Text 8"/>
          <p:cNvSpPr/>
          <p:nvPr/>
        </p:nvSpPr>
        <p:spPr>
          <a:xfrm>
            <a:off x="9098280" y="1783080"/>
            <a:ext cx="2651760" cy="822960"/>
          </a:xfrm>
          <a:prstGeom prst="rect">
            <a:avLst/>
          </a:prstGeom>
          <a:noFill/>
          <a:ln/>
        </p:spPr>
        <p:txBody>
          <a:bodyPr wrap="square" rtlCol="0" anchor="ctr"/>
          <a:lstStyle/>
          <a:p>
            <a:pPr algn="ctr" indent="0" marL="0">
              <a:buNone/>
            </a:pPr>
            <a:r>
              <a:rPr lang="en-US" sz="3000" b="1" dirty="0">
                <a:solidFill>
                  <a:srgbClr val="E8871E"/>
                </a:solidFill>
                <a:latin typeface="Cambria" pitchFamily="34" charset="0"/>
                <a:ea typeface="Cambria" pitchFamily="34" charset="-122"/>
                <a:cs typeface="Cambria" pitchFamily="34" charset="-120"/>
              </a:rPr>
              <a:t>50 ± 40</a:t>
            </a:r>
            <a:endParaRPr lang="en-US" sz="3000" dirty="0"/>
          </a:p>
        </p:txBody>
      </p:sp>
      <p:sp>
        <p:nvSpPr>
          <p:cNvPr id="11" name="Text 9"/>
          <p:cNvSpPr/>
          <p:nvPr/>
        </p:nvSpPr>
        <p:spPr>
          <a:xfrm>
            <a:off x="9098280" y="2514600"/>
            <a:ext cx="2651760" cy="274320"/>
          </a:xfrm>
          <a:prstGeom prst="rect">
            <a:avLst/>
          </a:prstGeom>
          <a:noFill/>
          <a:ln/>
        </p:spPr>
        <p:txBody>
          <a:bodyPr wrap="square" rtlCol="0" anchor="ctr"/>
          <a:lstStyle/>
          <a:p>
            <a:pPr algn="ctr" indent="0" marL="0">
              <a:buNone/>
            </a:pPr>
            <a:r>
              <a:rPr lang="en-US" sz="1100" dirty="0">
                <a:solidFill>
                  <a:srgbClr val="5B6B85"/>
                </a:solidFill>
                <a:latin typeface="Calibri" pitchFamily="34" charset="0"/>
                <a:ea typeface="Calibri" pitchFamily="34" charset="-122"/>
                <a:cs typeface="Calibri" pitchFamily="34" charset="-120"/>
              </a:rPr>
              <a:t>cycles predicted</a:t>
            </a:r>
            <a:endParaRPr lang="en-US" sz="1100" dirty="0"/>
          </a:p>
        </p:txBody>
      </p:sp>
      <p:sp>
        <p:nvSpPr>
          <p:cNvPr id="12" name="Text 10"/>
          <p:cNvSpPr/>
          <p:nvPr/>
        </p:nvSpPr>
        <p:spPr>
          <a:xfrm>
            <a:off x="9281160" y="2926080"/>
            <a:ext cx="2286000" cy="777240"/>
          </a:xfrm>
          <a:prstGeom prst="rect">
            <a:avLst/>
          </a:prstGeom>
          <a:noFill/>
          <a:ln/>
        </p:spPr>
        <p:txBody>
          <a:bodyPr wrap="square" rtlCol="0" anchor="t"/>
          <a:lstStyle/>
          <a:p>
            <a:pPr algn="ctr" indent="0" marL="0">
              <a:buNone/>
            </a:pPr>
            <a:r>
              <a:rPr lang="en-US" sz="1250" dirty="0">
                <a:solidFill>
                  <a:srgbClr val="16233B"/>
                </a:solidFill>
                <a:latin typeface="Calibri" pitchFamily="34" charset="0"/>
                <a:ea typeface="Calibri" pitchFamily="34" charset="-122"/>
                <a:cs typeface="Calibri" pitchFamily="34" charset="-120"/>
              </a:rPr>
              <a:t>Uncertain.</a:t>
            </a:r>
            <a:endParaRPr lang="en-US" sz="1250" dirty="0"/>
          </a:p>
          <a:p>
            <a:pPr algn="ctr" indent="0" marL="0">
              <a:buNone/>
            </a:pPr>
            <a:r>
              <a:rPr lang="en-US" sz="1250" dirty="0">
                <a:solidFill>
                  <a:srgbClr val="16233B"/>
                </a:solidFill>
                <a:latin typeface="Calibri" pitchFamily="34" charset="0"/>
                <a:ea typeface="Calibri" pitchFamily="34" charset="-122"/>
                <a:cs typeface="Calibri" pitchFamily="34" charset="-120"/>
              </a:rPr>
              <a:t>Could fail anywhere from cycle 10 to 90.</a:t>
            </a:r>
            <a:endParaRPr lang="en-US" sz="1250" dirty="0"/>
          </a:p>
        </p:txBody>
      </p:sp>
      <p:sp>
        <p:nvSpPr>
          <p:cNvPr id="13" name="Text 11"/>
          <p:cNvSpPr/>
          <p:nvPr/>
        </p:nvSpPr>
        <p:spPr>
          <a:xfrm>
            <a:off x="6126480" y="3931920"/>
            <a:ext cx="5623560" cy="365760"/>
          </a:xfrm>
          <a:prstGeom prst="rect">
            <a:avLst/>
          </a:prstGeom>
          <a:noFill/>
          <a:ln/>
        </p:spPr>
        <p:txBody>
          <a:bodyPr wrap="square" rtlCol="0" anchor="ctr"/>
          <a:lstStyle/>
          <a:p>
            <a:pPr algn="ctr" indent="0" marL="0">
              <a:buNone/>
            </a:pPr>
            <a:r>
              <a:rPr lang="en-US" sz="1250" i="1" dirty="0">
                <a:solidFill>
                  <a:srgbClr val="0B2545"/>
                </a:solidFill>
                <a:latin typeface="Calibri" pitchFamily="34" charset="0"/>
                <a:ea typeface="Calibri" pitchFamily="34" charset="-122"/>
                <a:cs typeface="Calibri" pitchFamily="34" charset="-120"/>
              </a:rPr>
              <a:t>Same predicted number. Two completely different decisions.</a:t>
            </a:r>
            <a:endParaRPr lang="en-US" sz="1250" dirty="0"/>
          </a:p>
        </p:txBody>
      </p:sp>
      <p:sp>
        <p:nvSpPr>
          <p:cNvPr id="14" name="Text 12"/>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RESEARCH OBJECTIVE</a:t>
            </a:r>
            <a:endParaRPr lang="en-US" sz="1100" dirty="0"/>
          </a:p>
        </p:txBody>
      </p:sp>
      <p:sp>
        <p:nvSpPr>
          <p:cNvPr id="3"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A Probabilistic Digital Twin</a:t>
            </a:r>
            <a:endParaRPr lang="en-US" sz="3000" dirty="0"/>
          </a:p>
        </p:txBody>
      </p:sp>
      <p:sp>
        <p:nvSpPr>
          <p:cNvPr id="4" name="Text 2"/>
          <p:cNvSpPr/>
          <p:nvPr/>
        </p:nvSpPr>
        <p:spPr>
          <a:xfrm>
            <a:off x="594360" y="1371600"/>
            <a:ext cx="11002975" cy="365760"/>
          </a:xfrm>
          <a:prstGeom prst="rect">
            <a:avLst/>
          </a:prstGeom>
          <a:noFill/>
          <a:ln/>
        </p:spPr>
        <p:txBody>
          <a:bodyPr wrap="square"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Build a per-engine particle filter that:
</a:t>
            </a:r>
            <a:endParaRPr lang="en-US" sz="1500" dirty="0"/>
          </a:p>
        </p:txBody>
      </p:sp>
      <p:sp>
        <p:nvSpPr>
          <p:cNvPr id="5" name="Shape 3"/>
          <p:cNvSpPr/>
          <p:nvPr/>
        </p:nvSpPr>
        <p:spPr>
          <a:xfrm>
            <a:off x="594360" y="1810512"/>
            <a:ext cx="310896" cy="310896"/>
          </a:xfrm>
          <a:prstGeom prst="ellipse">
            <a:avLst/>
          </a:prstGeom>
          <a:solidFill>
            <a:srgbClr val="0B2545"/>
          </a:solidFill>
          <a:ln/>
        </p:spPr>
      </p:sp>
      <p:sp>
        <p:nvSpPr>
          <p:cNvPr id="6" name="Text 4"/>
          <p:cNvSpPr/>
          <p:nvPr/>
        </p:nvSpPr>
        <p:spPr>
          <a:xfrm>
            <a:off x="594360" y="181051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51560" y="1737360"/>
            <a:ext cx="4663440" cy="502920"/>
          </a:xfrm>
          <a:prstGeom prst="rect">
            <a:avLst/>
          </a:prstGeom>
          <a:noFill/>
          <a:ln/>
        </p:spPr>
        <p:txBody>
          <a:bodyPr wrap="square" rtlCol="0" anchor="ctr"/>
          <a:lstStyle/>
          <a:p>
            <a:pPr indent="0" marL="0">
              <a:buNone/>
            </a:pPr>
            <a:r>
              <a:rPr lang="en-US" sz="1350" dirty="0">
                <a:solidFill>
                  <a:srgbClr val="16233B"/>
                </a:solidFill>
                <a:latin typeface="Calibri" pitchFamily="34" charset="0"/>
                <a:ea typeface="Calibri" pitchFamily="34" charset="-122"/>
                <a:cs typeface="Calibri" pitchFamily="34" charset="-120"/>
              </a:rPr>
              <a:t>Tracks the posterior distribution of engine health from noisy sensors</a:t>
            </a:r>
            <a:endParaRPr lang="en-US" sz="1350" dirty="0"/>
          </a:p>
        </p:txBody>
      </p:sp>
      <p:sp>
        <p:nvSpPr>
          <p:cNvPr id="8" name="Shape 6"/>
          <p:cNvSpPr/>
          <p:nvPr/>
        </p:nvSpPr>
        <p:spPr>
          <a:xfrm>
            <a:off x="594360" y="2468880"/>
            <a:ext cx="310896" cy="310896"/>
          </a:xfrm>
          <a:prstGeom prst="ellipse">
            <a:avLst/>
          </a:prstGeom>
          <a:solidFill>
            <a:srgbClr val="0B2545"/>
          </a:solidFill>
          <a:ln/>
        </p:spPr>
      </p:sp>
      <p:sp>
        <p:nvSpPr>
          <p:cNvPr id="9" name="Text 7"/>
          <p:cNvSpPr/>
          <p:nvPr/>
        </p:nvSpPr>
        <p:spPr>
          <a:xfrm>
            <a:off x="594360" y="2468880"/>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051560" y="2395728"/>
            <a:ext cx="4663440" cy="502920"/>
          </a:xfrm>
          <a:prstGeom prst="rect">
            <a:avLst/>
          </a:prstGeom>
          <a:noFill/>
          <a:ln/>
        </p:spPr>
        <p:txBody>
          <a:bodyPr wrap="square" rtlCol="0" anchor="ctr"/>
          <a:lstStyle/>
          <a:p>
            <a:pPr indent="0" marL="0">
              <a:buNone/>
            </a:pPr>
            <a:r>
              <a:rPr lang="en-US" sz="1350" dirty="0">
                <a:solidFill>
                  <a:srgbClr val="16233B"/>
                </a:solidFill>
                <a:latin typeface="Calibri" pitchFamily="34" charset="0"/>
                <a:ea typeface="Calibri" pitchFamily="34" charset="-122"/>
                <a:cs typeface="Calibri" pitchFamily="34" charset="-120"/>
              </a:rPr>
              <a:t>Extracts a full RUL distribution — a median with a 90% credible interval</a:t>
            </a:r>
            <a:endParaRPr lang="en-US" sz="1350" dirty="0"/>
          </a:p>
        </p:txBody>
      </p:sp>
      <p:sp>
        <p:nvSpPr>
          <p:cNvPr id="11" name="Shape 9"/>
          <p:cNvSpPr/>
          <p:nvPr/>
        </p:nvSpPr>
        <p:spPr>
          <a:xfrm>
            <a:off x="594360" y="3127248"/>
            <a:ext cx="310896" cy="310896"/>
          </a:xfrm>
          <a:prstGeom prst="ellipse">
            <a:avLst/>
          </a:prstGeom>
          <a:solidFill>
            <a:srgbClr val="0B2545"/>
          </a:solidFill>
          <a:ln/>
        </p:spPr>
      </p:sp>
      <p:sp>
        <p:nvSpPr>
          <p:cNvPr id="12" name="Text 10"/>
          <p:cNvSpPr/>
          <p:nvPr/>
        </p:nvSpPr>
        <p:spPr>
          <a:xfrm>
            <a:off x="594360" y="3127248"/>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051560" y="3054096"/>
            <a:ext cx="4663440" cy="502920"/>
          </a:xfrm>
          <a:prstGeom prst="rect">
            <a:avLst/>
          </a:prstGeom>
          <a:noFill/>
          <a:ln/>
        </p:spPr>
        <p:txBody>
          <a:bodyPr wrap="square" rtlCol="0" anchor="ctr"/>
          <a:lstStyle/>
          <a:p>
            <a:pPr indent="0" marL="0">
              <a:buNone/>
            </a:pPr>
            <a:r>
              <a:rPr lang="en-US" sz="1350" dirty="0">
                <a:solidFill>
                  <a:srgbClr val="16233B"/>
                </a:solidFill>
                <a:latin typeface="Calibri" pitchFamily="34" charset="0"/>
                <a:ea typeface="Calibri" pitchFamily="34" charset="-122"/>
                <a:cs typeface="Calibri" pitchFamily="34" charset="-120"/>
              </a:rPr>
              <a:t>Is evaluated on whether that interval is calibrated — not just accurate</a:t>
            </a:r>
            <a:endParaRPr lang="en-US" sz="1350" dirty="0"/>
          </a:p>
        </p:txBody>
      </p:sp>
      <p:sp>
        <p:nvSpPr>
          <p:cNvPr id="14" name="Text 12"/>
          <p:cNvSpPr/>
          <p:nvPr/>
        </p:nvSpPr>
        <p:spPr>
          <a:xfrm>
            <a:off x="594360" y="3895344"/>
            <a:ext cx="5394960" cy="731520"/>
          </a:xfrm>
          <a:prstGeom prst="rect">
            <a:avLst/>
          </a:prstGeom>
          <a:noFill/>
          <a:ln/>
        </p:spPr>
        <p:txBody>
          <a:bodyPr wrap="square" rtlCol="0" anchor="t"/>
          <a:lstStyle/>
          <a:p>
            <a:pPr indent="0" marL="0">
              <a:buNone/>
            </a:pPr>
            <a:r>
              <a:rPr lang="en-US" sz="1250" i="1" dirty="0">
                <a:solidFill>
                  <a:srgbClr val="5B6B85"/>
                </a:solidFill>
                <a:latin typeface="Calibri" pitchFamily="34" charset="0"/>
                <a:ea typeface="Calibri" pitchFamily="34" charset="-122"/>
                <a:cs typeface="Calibri" pitchFamily="34" charset="-120"/>
              </a:rPr>
              <a:t>Evaluated on NASA C-MAPSS (FD001, FD003) — full 100-engine test fleets, not a sample.</a:t>
            </a:r>
            <a:endParaRPr lang="en-US" sz="1250" dirty="0"/>
          </a:p>
        </p:txBody>
      </p:sp>
      <p:sp>
        <p:nvSpPr>
          <p:cNvPr id="15" name="Shape 13"/>
          <p:cNvSpPr/>
          <p:nvPr/>
        </p:nvSpPr>
        <p:spPr>
          <a:xfrm>
            <a:off x="6172200" y="1828800"/>
            <a:ext cx="1143000" cy="914400"/>
          </a:xfrm>
          <a:prstGeom prst="roundRect">
            <a:avLst>
              <a:gd name="adj" fmla="val 8000"/>
            </a:avLst>
          </a:prstGeom>
          <a:solidFill>
            <a:srgbClr val="13315C"/>
          </a:solidFill>
          <a:ln/>
        </p:spPr>
      </p:sp>
      <p:sp>
        <p:nvSpPr>
          <p:cNvPr id="16" name="Text 14"/>
          <p:cNvSpPr/>
          <p:nvPr/>
        </p:nvSpPr>
        <p:spPr>
          <a:xfrm>
            <a:off x="6172200" y="1828800"/>
            <a:ext cx="1143000" cy="9144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Sensors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(21 channels)</a:t>
            </a:r>
            <a:endParaRPr lang="en-US" sz="1050" dirty="0"/>
          </a:p>
        </p:txBody>
      </p:sp>
      <p:sp>
        <p:nvSpPr>
          <p:cNvPr id="17" name="Shape 15"/>
          <p:cNvSpPr/>
          <p:nvPr/>
        </p:nvSpPr>
        <p:spPr>
          <a:xfrm>
            <a:off x="7342632" y="2203704"/>
            <a:ext cx="265176" cy="164592"/>
          </a:xfrm>
          <a:prstGeom prst="rightArrow">
            <a:avLst/>
          </a:prstGeom>
          <a:solidFill>
            <a:srgbClr val="8DA9C4"/>
          </a:solidFill>
          <a:ln/>
        </p:spPr>
      </p:sp>
      <p:sp>
        <p:nvSpPr>
          <p:cNvPr id="18" name="Shape 16"/>
          <p:cNvSpPr/>
          <p:nvPr/>
        </p:nvSpPr>
        <p:spPr>
          <a:xfrm>
            <a:off x="7635240" y="1828800"/>
            <a:ext cx="1143000" cy="914400"/>
          </a:xfrm>
          <a:prstGeom prst="roundRect">
            <a:avLst>
              <a:gd name="adj" fmla="val 8000"/>
            </a:avLst>
          </a:prstGeom>
          <a:solidFill>
            <a:srgbClr val="13315C"/>
          </a:solidFill>
          <a:ln/>
        </p:spPr>
      </p:sp>
      <p:sp>
        <p:nvSpPr>
          <p:cNvPr id="19" name="Text 17"/>
          <p:cNvSpPr/>
          <p:nvPr/>
        </p:nvSpPr>
        <p:spPr>
          <a:xfrm>
            <a:off x="7635240" y="1828800"/>
            <a:ext cx="1143000" cy="9144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Health Index</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(1 scalar)</a:t>
            </a:r>
            <a:endParaRPr lang="en-US" sz="1050" dirty="0"/>
          </a:p>
        </p:txBody>
      </p:sp>
      <p:sp>
        <p:nvSpPr>
          <p:cNvPr id="20" name="Shape 18"/>
          <p:cNvSpPr/>
          <p:nvPr/>
        </p:nvSpPr>
        <p:spPr>
          <a:xfrm>
            <a:off x="8805672" y="2203704"/>
            <a:ext cx="265176" cy="164592"/>
          </a:xfrm>
          <a:prstGeom prst="rightArrow">
            <a:avLst/>
          </a:prstGeom>
          <a:solidFill>
            <a:srgbClr val="8DA9C4"/>
          </a:solidFill>
          <a:ln/>
        </p:spPr>
      </p:sp>
      <p:sp>
        <p:nvSpPr>
          <p:cNvPr id="21" name="Shape 19"/>
          <p:cNvSpPr/>
          <p:nvPr/>
        </p:nvSpPr>
        <p:spPr>
          <a:xfrm>
            <a:off x="9098280" y="1828800"/>
            <a:ext cx="1143000" cy="914400"/>
          </a:xfrm>
          <a:prstGeom prst="roundRect">
            <a:avLst>
              <a:gd name="adj" fmla="val 8000"/>
            </a:avLst>
          </a:prstGeom>
          <a:solidFill>
            <a:srgbClr val="13315C"/>
          </a:solidFill>
          <a:ln/>
        </p:spPr>
      </p:sp>
      <p:sp>
        <p:nvSpPr>
          <p:cNvPr id="22" name="Text 20"/>
          <p:cNvSpPr/>
          <p:nvPr/>
        </p:nvSpPr>
        <p:spPr>
          <a:xfrm>
            <a:off x="9098280" y="1828800"/>
            <a:ext cx="1143000" cy="9144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Particle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Filter</a:t>
            </a:r>
            <a:endParaRPr lang="en-US" sz="1050" dirty="0"/>
          </a:p>
        </p:txBody>
      </p:sp>
      <p:sp>
        <p:nvSpPr>
          <p:cNvPr id="23" name="Shape 21"/>
          <p:cNvSpPr/>
          <p:nvPr/>
        </p:nvSpPr>
        <p:spPr>
          <a:xfrm>
            <a:off x="10268712" y="2203704"/>
            <a:ext cx="265176" cy="164592"/>
          </a:xfrm>
          <a:prstGeom prst="rightArrow">
            <a:avLst/>
          </a:prstGeom>
          <a:solidFill>
            <a:srgbClr val="8DA9C4"/>
          </a:solidFill>
          <a:ln/>
        </p:spPr>
      </p:sp>
      <p:sp>
        <p:nvSpPr>
          <p:cNvPr id="24" name="Shape 22"/>
          <p:cNvSpPr/>
          <p:nvPr/>
        </p:nvSpPr>
        <p:spPr>
          <a:xfrm>
            <a:off x="10561320" y="1828800"/>
            <a:ext cx="1143000" cy="914400"/>
          </a:xfrm>
          <a:prstGeom prst="roundRect">
            <a:avLst>
              <a:gd name="adj" fmla="val 8000"/>
            </a:avLst>
          </a:prstGeom>
          <a:solidFill>
            <a:srgbClr val="E8871E"/>
          </a:solidFill>
          <a:ln/>
        </p:spPr>
      </p:sp>
      <p:sp>
        <p:nvSpPr>
          <p:cNvPr id="25" name="Text 23"/>
          <p:cNvSpPr/>
          <p:nvPr/>
        </p:nvSpPr>
        <p:spPr>
          <a:xfrm>
            <a:off x="10561320" y="1828800"/>
            <a:ext cx="1143000" cy="9144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RUL</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Distribution</a:t>
            </a:r>
            <a:endParaRPr lang="en-US" sz="1050" dirty="0"/>
          </a:p>
        </p:txBody>
      </p:sp>
      <p:sp>
        <p:nvSpPr>
          <p:cNvPr id="26" name="Text 24"/>
          <p:cNvSpPr/>
          <p:nvPr/>
        </p:nvSpPr>
        <p:spPr>
          <a:xfrm>
            <a:off x="6400800" y="2971800"/>
            <a:ext cx="5623560" cy="365760"/>
          </a:xfrm>
          <a:prstGeom prst="rect">
            <a:avLst/>
          </a:prstGeom>
          <a:noFill/>
          <a:ln/>
        </p:spPr>
        <p:txBody>
          <a:bodyPr wrap="square" rtlCol="0" anchor="ctr"/>
          <a:lstStyle/>
          <a:p>
            <a:pPr algn="ctr" indent="0" marL="0">
              <a:buNone/>
            </a:pPr>
            <a:r>
              <a:rPr lang="en-US" sz="1150" i="1" dirty="0">
                <a:solidFill>
                  <a:srgbClr val="5B6B85"/>
                </a:solidFill>
                <a:latin typeface="Calibri" pitchFamily="34" charset="0"/>
                <a:ea typeface="Calibri" pitchFamily="34" charset="-122"/>
                <a:cs typeface="Calibri" pitchFamily="34" charset="-120"/>
              </a:rPr>
              <a:t>Updated every cycle, as new sensor data arrives</a:t>
            </a:r>
            <a:endParaRPr lang="en-US" sz="1150" dirty="0"/>
          </a:p>
        </p:txBody>
      </p:sp>
      <p:sp>
        <p:nvSpPr>
          <p:cNvPr id="27" name="Text 25"/>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METHOD CHOICE</a:t>
            </a:r>
            <a:endParaRPr lang="en-US" sz="1100" dirty="0"/>
          </a:p>
        </p:txBody>
      </p:sp>
      <p:sp>
        <p:nvSpPr>
          <p:cNvPr id="3"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Why Not a Simpler Filter (Kalman)?</a:t>
            </a:r>
            <a:endParaRPr lang="en-US" sz="3000" dirty="0"/>
          </a:p>
        </p:txBody>
      </p:sp>
      <p:sp>
        <p:nvSpPr>
          <p:cNvPr id="4" name="Text 2"/>
          <p:cNvSpPr/>
          <p:nvPr/>
        </p:nvSpPr>
        <p:spPr>
          <a:xfrm>
            <a:off x="594360" y="1234440"/>
            <a:ext cx="11002975" cy="457200"/>
          </a:xfrm>
          <a:prstGeom prst="rect">
            <a:avLst/>
          </a:prstGeom>
          <a:noFill/>
          <a:ln/>
        </p:spPr>
        <p:txBody>
          <a:bodyPr wrap="square" rtlCol="0" anchor="ctr"/>
          <a:lstStyle/>
          <a:p>
            <a:pPr indent="0" marL="0">
              <a:buNone/>
            </a:pPr>
            <a:r>
              <a:rPr lang="en-US" sz="1400" dirty="0">
                <a:solidFill>
                  <a:srgbClr val="16233B"/>
                </a:solidFill>
                <a:latin typeface="Calibri" pitchFamily="34" charset="0"/>
                <a:ea typeface="Calibri" pitchFamily="34" charset="-122"/>
                <a:cs typeface="Calibri" pitchFamily="34" charset="-120"/>
              </a:rPr>
              <a:t>A Kalman filter is exact when the model is linear-Gaussian and unconstrained. None of that fully holds here:</a:t>
            </a:r>
            <a:endParaRPr lang="en-US" sz="1400" dirty="0"/>
          </a:p>
        </p:txBody>
      </p:sp>
      <p:sp>
        <p:nvSpPr>
          <p:cNvPr id="5" name="Shape 3"/>
          <p:cNvSpPr/>
          <p:nvPr/>
        </p:nvSpPr>
        <p:spPr>
          <a:xfrm>
            <a:off x="594360" y="1874520"/>
            <a:ext cx="3520440" cy="3017520"/>
          </a:xfrm>
          <a:prstGeom prst="roundRect">
            <a:avLst>
              <a:gd name="adj" fmla="val 2424"/>
            </a:avLst>
          </a:prstGeom>
          <a:solidFill>
            <a:srgbClr val="FFFFFF"/>
          </a:solidFill>
          <a:ln w="12700">
            <a:solidFill>
              <a:srgbClr val="CFE0F0"/>
            </a:solidFill>
            <a:prstDash val="solid"/>
          </a:ln>
          <a:effectLst>
            <a:outerShdw sx="100000" sy="100000" kx="0" ky="0" algn="bl" rotWithShape="0" blurRad="63500" dist="25400" dir="5400000">
              <a:srgbClr val="9AAFC7">
                <a:alpha val="30000"/>
              </a:srgbClr>
            </a:outerShdw>
          </a:effectLst>
        </p:spPr>
      </p:sp>
      <p:sp>
        <p:nvSpPr>
          <p:cNvPr id="6" name="Shape 4"/>
          <p:cNvSpPr/>
          <p:nvPr/>
        </p:nvSpPr>
        <p:spPr>
          <a:xfrm>
            <a:off x="822960" y="2103120"/>
            <a:ext cx="457200" cy="457200"/>
          </a:xfrm>
          <a:prstGeom prst="ellipse">
            <a:avLst/>
          </a:prstGeom>
          <a:solidFill>
            <a:srgbClr val="0B2545"/>
          </a:solidFill>
          <a:ln/>
        </p:spPr>
      </p:sp>
      <p:sp>
        <p:nvSpPr>
          <p:cNvPr id="7" name="Text 5"/>
          <p:cNvSpPr/>
          <p:nvPr/>
        </p:nvSpPr>
        <p:spPr>
          <a:xfrm>
            <a:off x="822960" y="210312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822960" y="2743200"/>
            <a:ext cx="3063240" cy="640080"/>
          </a:xfrm>
          <a:prstGeom prst="rect">
            <a:avLst/>
          </a:prstGeom>
          <a:noFill/>
          <a:ln/>
        </p:spPr>
        <p:txBody>
          <a:bodyPr wrap="square" rtlCol="0" anchor="t"/>
          <a:lstStyle/>
          <a:p>
            <a:pPr indent="0" marL="0">
              <a:buNone/>
            </a:pPr>
            <a:r>
              <a:rPr lang="en-US" sz="1400" b="1" dirty="0">
                <a:solidFill>
                  <a:srgbClr val="0B2545"/>
                </a:solidFill>
                <a:latin typeface="Calibri" pitchFamily="34" charset="0"/>
                <a:ea typeface="Calibri" pitchFamily="34" charset="-122"/>
                <a:cs typeface="Calibri" pitchFamily="34" charset="-120"/>
              </a:rPr>
              <a:t>Bounded, one-sided state</a:t>
            </a:r>
            <a:endParaRPr lang="en-US" sz="1400" dirty="0"/>
          </a:p>
        </p:txBody>
      </p:sp>
      <p:sp>
        <p:nvSpPr>
          <p:cNvPr id="9" name="Text 7"/>
          <p:cNvSpPr/>
          <p:nvPr/>
        </p:nvSpPr>
        <p:spPr>
          <a:xfrm>
            <a:off x="822960" y="3383280"/>
            <a:ext cx="3063240" cy="1325880"/>
          </a:xfrm>
          <a:prstGeom prst="rect">
            <a:avLst/>
          </a:prstGeom>
          <a:noFill/>
          <a:ln/>
        </p:spPr>
        <p:txBody>
          <a:bodyPr wrap="square" rtlCol="0" anchor="t"/>
          <a:lstStyle/>
          <a:p>
            <a:pPr indent="0" marL="0">
              <a:lnSpc>
                <a:spcPct val="115000"/>
              </a:lnSpc>
              <a:buNone/>
            </a:pPr>
            <a:r>
              <a:rPr lang="en-US" sz="1200" dirty="0">
                <a:solidFill>
                  <a:srgbClr val="16233B"/>
                </a:solidFill>
                <a:latin typeface="Calibri" pitchFamily="34" charset="0"/>
                <a:ea typeface="Calibri" pitchFamily="34" charset="-122"/>
                <a:cs typeface="Calibri" pitchFamily="34" charset="-120"/>
              </a:rPr>
              <a:t>Health lives in [0,100] and only degrades. A Gaussian posterior spreads over the whole real line — it can't respect that.</a:t>
            </a:r>
            <a:endParaRPr lang="en-US" sz="1200" dirty="0"/>
          </a:p>
        </p:txBody>
      </p:sp>
      <p:sp>
        <p:nvSpPr>
          <p:cNvPr id="10" name="Shape 8"/>
          <p:cNvSpPr/>
          <p:nvPr/>
        </p:nvSpPr>
        <p:spPr>
          <a:xfrm>
            <a:off x="4389120" y="1874520"/>
            <a:ext cx="3520440" cy="3017520"/>
          </a:xfrm>
          <a:prstGeom prst="roundRect">
            <a:avLst>
              <a:gd name="adj" fmla="val 2424"/>
            </a:avLst>
          </a:prstGeom>
          <a:solidFill>
            <a:srgbClr val="FFFFFF"/>
          </a:solidFill>
          <a:ln w="12700">
            <a:solidFill>
              <a:srgbClr val="CFE0F0"/>
            </a:solidFill>
            <a:prstDash val="solid"/>
          </a:ln>
          <a:effectLst>
            <a:outerShdw sx="100000" sy="100000" kx="0" ky="0" algn="bl" rotWithShape="0" blurRad="63500" dist="25400" dir="5400000">
              <a:srgbClr val="9AAFC7">
                <a:alpha val="30000"/>
              </a:srgbClr>
            </a:outerShdw>
          </a:effectLst>
        </p:spPr>
      </p:sp>
      <p:sp>
        <p:nvSpPr>
          <p:cNvPr id="11" name="Shape 9"/>
          <p:cNvSpPr/>
          <p:nvPr/>
        </p:nvSpPr>
        <p:spPr>
          <a:xfrm>
            <a:off x="4617720" y="2103120"/>
            <a:ext cx="457200" cy="457200"/>
          </a:xfrm>
          <a:prstGeom prst="ellipse">
            <a:avLst/>
          </a:prstGeom>
          <a:solidFill>
            <a:srgbClr val="0B2545"/>
          </a:solidFill>
          <a:ln/>
        </p:spPr>
      </p:sp>
      <p:sp>
        <p:nvSpPr>
          <p:cNvPr id="12" name="Text 10"/>
          <p:cNvSpPr/>
          <p:nvPr/>
        </p:nvSpPr>
        <p:spPr>
          <a:xfrm>
            <a:off x="4617720" y="210312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4617720" y="2743200"/>
            <a:ext cx="3063240" cy="640080"/>
          </a:xfrm>
          <a:prstGeom prst="rect">
            <a:avLst/>
          </a:prstGeom>
          <a:noFill/>
          <a:ln/>
        </p:spPr>
        <p:txBody>
          <a:bodyPr wrap="square" rtlCol="0" anchor="t"/>
          <a:lstStyle/>
          <a:p>
            <a:pPr indent="0" marL="0">
              <a:buNone/>
            </a:pPr>
            <a:r>
              <a:rPr lang="en-US" sz="1400" b="1" dirty="0">
                <a:solidFill>
                  <a:srgbClr val="0B2545"/>
                </a:solidFill>
                <a:latin typeface="Calibri" pitchFamily="34" charset="0"/>
                <a:ea typeface="Calibri" pitchFamily="34" charset="-122"/>
                <a:cs typeface="Calibri" pitchFamily="34" charset="-120"/>
              </a:rPr>
              <a:t>Flexible noise</a:t>
            </a:r>
            <a:endParaRPr lang="en-US" sz="1400" dirty="0"/>
          </a:p>
        </p:txBody>
      </p:sp>
      <p:sp>
        <p:nvSpPr>
          <p:cNvPr id="14" name="Text 12"/>
          <p:cNvSpPr/>
          <p:nvPr/>
        </p:nvSpPr>
        <p:spPr>
          <a:xfrm>
            <a:off x="4617720" y="3383280"/>
            <a:ext cx="3063240" cy="1325880"/>
          </a:xfrm>
          <a:prstGeom prst="rect">
            <a:avLst/>
          </a:prstGeom>
          <a:noFill/>
          <a:ln/>
        </p:spPr>
        <p:txBody>
          <a:bodyPr wrap="square" rtlCol="0" anchor="t"/>
          <a:lstStyle/>
          <a:p>
            <a:pPr indent="0" marL="0">
              <a:lnSpc>
                <a:spcPct val="115000"/>
              </a:lnSpc>
              <a:buNone/>
            </a:pPr>
            <a:r>
              <a:rPr lang="en-US" sz="1200" dirty="0">
                <a:solidFill>
                  <a:srgbClr val="16233B"/>
                </a:solidFill>
                <a:latin typeface="Calibri" pitchFamily="34" charset="0"/>
                <a:ea typeface="Calibri" pitchFamily="34" charset="-122"/>
                <a:cs typeface="Calibri" pitchFamily="34" charset="-120"/>
              </a:rPr>
              <a:t>Measurement noise fits a skew-normal slightly better than Gaussian. A particle filter doesn't require Gaussianity at all.</a:t>
            </a:r>
            <a:endParaRPr lang="en-US" sz="1200" dirty="0"/>
          </a:p>
        </p:txBody>
      </p:sp>
      <p:sp>
        <p:nvSpPr>
          <p:cNvPr id="15" name="Shape 13"/>
          <p:cNvSpPr/>
          <p:nvPr/>
        </p:nvSpPr>
        <p:spPr>
          <a:xfrm>
            <a:off x="8183880" y="1874520"/>
            <a:ext cx="3520440" cy="3017520"/>
          </a:xfrm>
          <a:prstGeom prst="roundRect">
            <a:avLst>
              <a:gd name="adj" fmla="val 2424"/>
            </a:avLst>
          </a:prstGeom>
          <a:solidFill>
            <a:srgbClr val="FFFFFF"/>
          </a:solidFill>
          <a:ln w="12700">
            <a:solidFill>
              <a:srgbClr val="CFE0F0"/>
            </a:solidFill>
            <a:prstDash val="solid"/>
          </a:ln>
          <a:effectLst>
            <a:outerShdw sx="100000" sy="100000" kx="0" ky="0" algn="bl" rotWithShape="0" blurRad="63500" dist="25400" dir="5400000">
              <a:srgbClr val="9AAFC7">
                <a:alpha val="30000"/>
              </a:srgbClr>
            </a:outerShdw>
          </a:effectLst>
        </p:spPr>
      </p:sp>
      <p:sp>
        <p:nvSpPr>
          <p:cNvPr id="16" name="Shape 14"/>
          <p:cNvSpPr/>
          <p:nvPr/>
        </p:nvSpPr>
        <p:spPr>
          <a:xfrm>
            <a:off x="8412480" y="2103120"/>
            <a:ext cx="457200" cy="457200"/>
          </a:xfrm>
          <a:prstGeom prst="ellipse">
            <a:avLst/>
          </a:prstGeom>
          <a:solidFill>
            <a:srgbClr val="0B2545"/>
          </a:solidFill>
          <a:ln/>
        </p:spPr>
      </p:sp>
      <p:sp>
        <p:nvSpPr>
          <p:cNvPr id="17" name="Text 15"/>
          <p:cNvSpPr/>
          <p:nvPr/>
        </p:nvSpPr>
        <p:spPr>
          <a:xfrm>
            <a:off x="8412480" y="210312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8412480" y="2743200"/>
            <a:ext cx="3063240" cy="640080"/>
          </a:xfrm>
          <a:prstGeom prst="rect">
            <a:avLst/>
          </a:prstGeom>
          <a:noFill/>
          <a:ln/>
        </p:spPr>
        <p:txBody>
          <a:bodyPr wrap="square" rtlCol="0" anchor="t"/>
          <a:lstStyle/>
          <a:p>
            <a:pPr indent="0" marL="0">
              <a:buNone/>
            </a:pPr>
            <a:r>
              <a:rPr lang="en-US" sz="1400" b="1" dirty="0">
                <a:solidFill>
                  <a:srgbClr val="0B2545"/>
                </a:solidFill>
                <a:latin typeface="Calibri" pitchFamily="34" charset="0"/>
                <a:ea typeface="Calibri" pitchFamily="34" charset="-122"/>
                <a:cs typeface="Calibri" pitchFamily="34" charset="-120"/>
              </a:rPr>
              <a:t>RUL is a first-passage time</a:t>
            </a:r>
            <a:endParaRPr lang="en-US" sz="1400" dirty="0"/>
          </a:p>
        </p:txBody>
      </p:sp>
      <p:sp>
        <p:nvSpPr>
          <p:cNvPr id="19" name="Text 17"/>
          <p:cNvSpPr/>
          <p:nvPr/>
        </p:nvSpPr>
        <p:spPr>
          <a:xfrm>
            <a:off x="8412480" y="3383280"/>
            <a:ext cx="3063240" cy="1325880"/>
          </a:xfrm>
          <a:prstGeom prst="rect">
            <a:avLst/>
          </a:prstGeom>
          <a:noFill/>
          <a:ln/>
        </p:spPr>
        <p:txBody>
          <a:bodyPr wrap="square" rtlCol="0" anchor="t"/>
          <a:lstStyle/>
          <a:p>
            <a:pPr indent="0" marL="0">
              <a:lnSpc>
                <a:spcPct val="115000"/>
              </a:lnSpc>
              <a:buNone/>
            </a:pPr>
            <a:r>
              <a:rPr lang="en-US" sz="1200" dirty="0">
                <a:solidFill>
                  <a:srgbClr val="16233B"/>
                </a:solidFill>
                <a:latin typeface="Calibri" pitchFamily="34" charset="0"/>
                <a:ea typeface="Calibri" pitchFamily="34" charset="-122"/>
                <a:cs typeface="Calibri" pitchFamily="34" charset="-120"/>
              </a:rPr>
              <a:t>The time to cross a failure threshold is non-Gaussian by nature — it needs Monte-Carlo simulation anyway, which particles already provide.</a:t>
            </a:r>
            <a:endParaRPr lang="en-US" sz="1200" dirty="0"/>
          </a:p>
        </p:txBody>
      </p:sp>
      <p:sp>
        <p:nvSpPr>
          <p:cNvPr id="20" name="Text 18"/>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THE MODEL — PART 1</a:t>
            </a:r>
            <a:endParaRPr lang="en-US" sz="1100" dirty="0"/>
          </a:p>
        </p:txBody>
      </p:sp>
      <p:sp>
        <p:nvSpPr>
          <p:cNvPr id="3"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One Number to Summarize Engine Health</a:t>
            </a:r>
            <a:endParaRPr lang="en-US" sz="3000" dirty="0"/>
          </a:p>
        </p:txBody>
      </p:sp>
      <p:sp>
        <p:nvSpPr>
          <p:cNvPr id="4" name="Text 2"/>
          <p:cNvSpPr/>
          <p:nvPr/>
        </p:nvSpPr>
        <p:spPr>
          <a:xfrm>
            <a:off x="594360" y="1371600"/>
            <a:ext cx="5029200" cy="4023360"/>
          </a:xfrm>
          <a:prstGeom prst="rect">
            <a:avLst/>
          </a:prstGeom>
          <a:noFill/>
          <a:ln/>
        </p:spPr>
        <p:txBody>
          <a:bodyPr wrap="square" rtlCol="0" anchor="t"/>
          <a:lstStyle/>
          <a:p>
            <a:pPr indent="0" marL="0">
              <a:lnSpc>
                <a:spcPct val="125000"/>
              </a:lnSpc>
              <a:buNone/>
            </a:pPr>
            <a:r>
              <a:rPr lang="en-US" sz="1400" b="1" dirty="0">
                <a:solidFill>
                  <a:srgbClr val="0B2545"/>
                </a:solidFill>
                <a:latin typeface="Calibri" pitchFamily="34" charset="0"/>
                <a:ea typeface="Calibri" pitchFamily="34" charset="-122"/>
                <a:cs typeface="Calibri" pitchFamily="34" charset="-120"/>
              </a:rPr>
              <a:t>21 raw sensors </a:t>
            </a:r>
            <a:pPr indent="0" marL="0">
              <a:lnSpc>
                <a:spcPct val="125000"/>
              </a:lnSpc>
              <a:buNone/>
            </a:pPr>
            <a:r>
              <a:rPr lang="en-US" sz="1400" dirty="0">
                <a:solidFill>
                  <a:srgbClr val="16233B"/>
                </a:solidFill>
                <a:latin typeface="Calibri" pitchFamily="34" charset="0"/>
                <a:ea typeface="Calibri" pitchFamily="34" charset="-122"/>
                <a:cs typeface="Calibri" pitchFamily="34" charset="-120"/>
              </a:rPr>
              <a:t>→ 10 selected (drop constant / redundant channels)
</a:t>
            </a:r>
            <a:pPr indent="0" marL="0">
              <a:lnSpc>
                <a:spcPct val="125000"/>
              </a:lnSpc>
              <a:buNone/>
            </a:pPr>
            <a:r>
              <a:rPr lang="en-US" sz="1400" dirty="0">
                <a:solidFill>
                  <a:srgbClr val="16233B"/>
                </a:solidFill>
                <a:latin typeface="Calibri" pitchFamily="34" charset="0"/>
                <a:ea typeface="Calibri" pitchFamily="34" charset="-122"/>
                <a:cs typeface="Calibri" pitchFamily="34" charset="-120"/>
              </a:rPr>
              <a:t>→ combined into a single </a:t>
            </a:r>
            <a:pPr indent="0" marL="0">
              <a:lnSpc>
                <a:spcPct val="125000"/>
              </a:lnSpc>
              <a:buNone/>
            </a:pPr>
            <a:r>
              <a:rPr lang="en-US" sz="1400" b="1" dirty="0">
                <a:solidFill>
                  <a:srgbClr val="0B2545"/>
                </a:solidFill>
                <a:latin typeface="Calibri" pitchFamily="34" charset="0"/>
                <a:ea typeface="Calibri" pitchFamily="34" charset="-122"/>
                <a:cs typeface="Calibri" pitchFamily="34" charset="-120"/>
              </a:rPr>
              <a:t>Health Index</a:t>
            </a:r>
            <a:pPr indent="0" marL="0">
              <a:lnSpc>
                <a:spcPct val="125000"/>
              </a:lnSpc>
              <a:buNone/>
            </a:pPr>
            <a:r>
              <a:rPr lang="en-US" sz="1400" dirty="0">
                <a:solidFill>
                  <a:srgbClr val="16233B"/>
                </a:solidFill>
                <a:latin typeface="Calibri" pitchFamily="34" charset="0"/>
                <a:ea typeface="Calibri" pitchFamily="34" charset="-122"/>
                <a:cs typeface="Calibri" pitchFamily="34" charset="-120"/>
              </a:rPr>
              <a:t> h ∈ [0,1]
(weighted average, min–max normalised, oriented to decrease with wear)
</a:t>
            </a:r>
            <a:pPr indent="0" marL="0">
              <a:lnSpc>
                <a:spcPct val="125000"/>
              </a:lnSpc>
              <a:buNone/>
            </a:pPr>
            <a:r>
              <a:rPr lang="en-US" sz="1400" b="1" dirty="0">
                <a:solidFill>
                  <a:srgbClr val="0B2545"/>
                </a:solidFill>
                <a:latin typeface="Calibri" pitchFamily="34" charset="0"/>
                <a:ea typeface="Calibri" pitchFamily="34" charset="-122"/>
                <a:cs typeface="Calibri" pitchFamily="34" charset="-120"/>
              </a:rPr>
              <a:t>Degradation dynamics: </a:t>
            </a:r>
            <a:pPr indent="0" marL="0">
              <a:lnSpc>
                <a:spcPct val="125000"/>
              </a:lnSpc>
              <a:buNone/>
            </a:pPr>
            <a:r>
              <a:rPr lang="en-US" sz="1400" dirty="0">
                <a:solidFill>
                  <a:srgbClr val="16233B"/>
                </a:solidFill>
                <a:latin typeface="Calibri" pitchFamily="34" charset="0"/>
                <a:ea typeface="Calibri" pitchFamily="34" charset="-122"/>
                <a:cs typeface="Calibri" pitchFamily="34" charset="-120"/>
              </a:rPr>
              <a:t>exponential decay —</a:t>
            </a:r>
            <a:endParaRPr lang="en-US" sz="1400" dirty="0"/>
          </a:p>
          <a:p>
            <a:pPr indent="0" marL="0">
              <a:lnSpc>
                <a:spcPct val="125000"/>
              </a:lnSpc>
              <a:buNone/>
            </a:pPr>
            <a:r>
              <a:rPr lang="en-US" sz="1400" dirty="0">
                <a:solidFill>
                  <a:srgbClr val="16233B"/>
                </a:solidFill>
                <a:latin typeface="Calibri" pitchFamily="34" charset="0"/>
                <a:ea typeface="Calibri" pitchFamily="34" charset="-122"/>
                <a:cs typeface="Calibri" pitchFamily="34" charset="-120"/>
              </a:rPr>
              <a:t>matches the shape the C-MAPSS simulator itself uses.</a:t>
            </a:r>
            <a:endParaRPr lang="en-US" sz="1400" dirty="0"/>
          </a:p>
        </p:txBody>
      </p:sp>
      <p:graphicFrame>
        <p:nvGraphicFramePr>
          <p:cNvPr id="5" name="Chart 0" descr=""/>
          <p:cNvGraphicFramePr/>
          <p:nvPr/>
        </p:nvGraphicFramePr>
        <p:xfrm>
          <a:off x="5989320" y="1371600"/>
          <a:ext cx="557784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989320" y="4754880"/>
            <a:ext cx="5577840" cy="548640"/>
          </a:xfrm>
          <a:prstGeom prst="rect">
            <a:avLst/>
          </a:prstGeom>
          <a:noFill/>
          <a:ln/>
        </p:spPr>
        <p:txBody>
          <a:bodyPr wrap="square" rtlCol="0" anchor="t"/>
          <a:lstStyle/>
          <a:p>
            <a:pPr indent="0" marL="0">
              <a:buNone/>
            </a:pPr>
            <a:r>
              <a:rPr lang="en-US" sz="1150" i="1" dirty="0">
                <a:solidFill>
                  <a:srgbClr val="5B6B85"/>
                </a:solidFill>
                <a:latin typeface="Calibri" pitchFamily="34" charset="0"/>
                <a:ea typeface="Calibri" pitchFamily="34" charset="-122"/>
                <a:cs typeface="Calibri" pitchFamily="34" charset="-120"/>
              </a:rPr>
              <a:t>Same construction is fit on FD001 only, then reused unchanged on FD003 as a robustness check.</a:t>
            </a:r>
            <a:endParaRPr lang="en-US" sz="1150" dirty="0"/>
          </a:p>
        </p:txBody>
      </p:sp>
      <p:sp>
        <p:nvSpPr>
          <p:cNvPr id="7" name="Text 4"/>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THE MODEL — PART 2</a:t>
            </a:r>
            <a:endParaRPr lang="en-US" sz="1100" dirty="0"/>
          </a:p>
        </p:txBody>
      </p:sp>
      <p:sp>
        <p:nvSpPr>
          <p:cNvPr id="3"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The Bootstrap Particle Filter Loop</a:t>
            </a:r>
            <a:endParaRPr lang="en-US" sz="3000" dirty="0"/>
          </a:p>
        </p:txBody>
      </p:sp>
      <p:sp>
        <p:nvSpPr>
          <p:cNvPr id="4" name="Shape 2"/>
          <p:cNvSpPr/>
          <p:nvPr/>
        </p:nvSpPr>
        <p:spPr>
          <a:xfrm>
            <a:off x="777240" y="1737360"/>
            <a:ext cx="3383280" cy="1874520"/>
          </a:xfrm>
          <a:prstGeom prst="roundRect">
            <a:avLst>
              <a:gd name="adj" fmla="val 4878"/>
            </a:avLst>
          </a:prstGeom>
          <a:solidFill>
            <a:srgbClr val="13315C"/>
          </a:solidFill>
          <a:ln/>
        </p:spPr>
      </p:sp>
      <p:sp>
        <p:nvSpPr>
          <p:cNvPr id="5" name="Text 3"/>
          <p:cNvSpPr/>
          <p:nvPr/>
        </p:nvSpPr>
        <p:spPr>
          <a:xfrm>
            <a:off x="1005840" y="1920240"/>
            <a:ext cx="2926080" cy="411480"/>
          </a:xfrm>
          <a:prstGeom prst="rect">
            <a:avLst/>
          </a:prstGeom>
          <a:noFill/>
          <a:ln/>
        </p:spPr>
        <p:txBody>
          <a:bodyPr wrap="square" rtlCol="0" anchor="ctr"/>
          <a:lstStyle/>
          <a:p>
            <a:pPr indent="0" marL="0">
              <a:buNone/>
            </a:pPr>
            <a:r>
              <a:rPr lang="en-US" sz="1500" b="1" dirty="0">
                <a:solidFill>
                  <a:srgbClr val="E8871E"/>
                </a:solidFill>
                <a:latin typeface="Calibri" pitchFamily="34" charset="0"/>
                <a:ea typeface="Calibri" pitchFamily="34" charset="-122"/>
                <a:cs typeface="Calibri" pitchFamily="34" charset="-120"/>
              </a:rPr>
              <a:t>1. Predict</a:t>
            </a:r>
            <a:endParaRPr lang="en-US" sz="1500" dirty="0"/>
          </a:p>
        </p:txBody>
      </p:sp>
      <p:sp>
        <p:nvSpPr>
          <p:cNvPr id="6" name="Text 4"/>
          <p:cNvSpPr/>
          <p:nvPr/>
        </p:nvSpPr>
        <p:spPr>
          <a:xfrm>
            <a:off x="1005840" y="2331720"/>
            <a:ext cx="2926080" cy="1097280"/>
          </a:xfrm>
          <a:prstGeom prst="rect">
            <a:avLst/>
          </a:prstGeom>
          <a:noFill/>
          <a:ln/>
        </p:spPr>
        <p:txBody>
          <a:bodyPr wrap="square" rtlCol="0" anchor="t"/>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Every particle moves forward one cycle through the degradation model, each drawing its own noise.</a:t>
            </a:r>
            <a:endParaRPr lang="en-US" sz="1200" dirty="0"/>
          </a:p>
        </p:txBody>
      </p:sp>
      <p:sp>
        <p:nvSpPr>
          <p:cNvPr id="7" name="Shape 5"/>
          <p:cNvSpPr/>
          <p:nvPr/>
        </p:nvSpPr>
        <p:spPr>
          <a:xfrm>
            <a:off x="4233672" y="2564892"/>
            <a:ext cx="356616" cy="219456"/>
          </a:xfrm>
          <a:prstGeom prst="rightArrow">
            <a:avLst/>
          </a:prstGeom>
          <a:solidFill>
            <a:srgbClr val="8DA9C4"/>
          </a:solidFill>
          <a:ln/>
        </p:spPr>
      </p:sp>
      <p:sp>
        <p:nvSpPr>
          <p:cNvPr id="8" name="Shape 6"/>
          <p:cNvSpPr/>
          <p:nvPr/>
        </p:nvSpPr>
        <p:spPr>
          <a:xfrm>
            <a:off x="4663440" y="1737360"/>
            <a:ext cx="3383280" cy="1874520"/>
          </a:xfrm>
          <a:prstGeom prst="roundRect">
            <a:avLst>
              <a:gd name="adj" fmla="val 4878"/>
            </a:avLst>
          </a:prstGeom>
          <a:solidFill>
            <a:srgbClr val="13315C"/>
          </a:solidFill>
          <a:ln/>
        </p:spPr>
      </p:sp>
      <p:sp>
        <p:nvSpPr>
          <p:cNvPr id="9" name="Text 7"/>
          <p:cNvSpPr/>
          <p:nvPr/>
        </p:nvSpPr>
        <p:spPr>
          <a:xfrm>
            <a:off x="4892040" y="1920240"/>
            <a:ext cx="2926080" cy="411480"/>
          </a:xfrm>
          <a:prstGeom prst="rect">
            <a:avLst/>
          </a:prstGeom>
          <a:noFill/>
          <a:ln/>
        </p:spPr>
        <p:txBody>
          <a:bodyPr wrap="square" rtlCol="0" anchor="ctr"/>
          <a:lstStyle/>
          <a:p>
            <a:pPr indent="0" marL="0">
              <a:buNone/>
            </a:pPr>
            <a:r>
              <a:rPr lang="en-US" sz="1500" b="1" dirty="0">
                <a:solidFill>
                  <a:srgbClr val="E8871E"/>
                </a:solidFill>
                <a:latin typeface="Calibri" pitchFamily="34" charset="0"/>
                <a:ea typeface="Calibri" pitchFamily="34" charset="-122"/>
                <a:cs typeface="Calibri" pitchFamily="34" charset="-120"/>
              </a:rPr>
              <a:t>2. Weight</a:t>
            </a:r>
            <a:endParaRPr lang="en-US" sz="1500" dirty="0"/>
          </a:p>
        </p:txBody>
      </p:sp>
      <p:sp>
        <p:nvSpPr>
          <p:cNvPr id="10" name="Text 8"/>
          <p:cNvSpPr/>
          <p:nvPr/>
        </p:nvSpPr>
        <p:spPr>
          <a:xfrm>
            <a:off x="4892040" y="2331720"/>
            <a:ext cx="2926080" cy="1097280"/>
          </a:xfrm>
          <a:prstGeom prst="rect">
            <a:avLst/>
          </a:prstGeom>
          <a:noFill/>
          <a:ln/>
        </p:spPr>
        <p:txBody>
          <a:bodyPr wrap="square" rtlCol="0" anchor="t"/>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Each particle is scored by how well it matches the new sensor reading — Health Index likelihood.</a:t>
            </a:r>
            <a:endParaRPr lang="en-US" sz="1200" dirty="0"/>
          </a:p>
        </p:txBody>
      </p:sp>
      <p:sp>
        <p:nvSpPr>
          <p:cNvPr id="11" name="Shape 9"/>
          <p:cNvSpPr/>
          <p:nvPr/>
        </p:nvSpPr>
        <p:spPr>
          <a:xfrm>
            <a:off x="8119872" y="2564892"/>
            <a:ext cx="356616" cy="219456"/>
          </a:xfrm>
          <a:prstGeom prst="rightArrow">
            <a:avLst/>
          </a:prstGeom>
          <a:solidFill>
            <a:srgbClr val="8DA9C4"/>
          </a:solidFill>
          <a:ln/>
        </p:spPr>
      </p:sp>
      <p:sp>
        <p:nvSpPr>
          <p:cNvPr id="12" name="Shape 10"/>
          <p:cNvSpPr/>
          <p:nvPr/>
        </p:nvSpPr>
        <p:spPr>
          <a:xfrm>
            <a:off x="8549640" y="1737360"/>
            <a:ext cx="3383280" cy="1874520"/>
          </a:xfrm>
          <a:prstGeom prst="roundRect">
            <a:avLst>
              <a:gd name="adj" fmla="val 4878"/>
            </a:avLst>
          </a:prstGeom>
          <a:solidFill>
            <a:srgbClr val="13315C"/>
          </a:solidFill>
          <a:ln/>
        </p:spPr>
      </p:sp>
      <p:sp>
        <p:nvSpPr>
          <p:cNvPr id="13" name="Text 11"/>
          <p:cNvSpPr/>
          <p:nvPr/>
        </p:nvSpPr>
        <p:spPr>
          <a:xfrm>
            <a:off x="8778240" y="1920240"/>
            <a:ext cx="2926080" cy="411480"/>
          </a:xfrm>
          <a:prstGeom prst="rect">
            <a:avLst/>
          </a:prstGeom>
          <a:noFill/>
          <a:ln/>
        </p:spPr>
        <p:txBody>
          <a:bodyPr wrap="square" rtlCol="0" anchor="ctr"/>
          <a:lstStyle/>
          <a:p>
            <a:pPr indent="0" marL="0">
              <a:buNone/>
            </a:pPr>
            <a:r>
              <a:rPr lang="en-US" sz="1500" b="1" dirty="0">
                <a:solidFill>
                  <a:srgbClr val="E8871E"/>
                </a:solidFill>
                <a:latin typeface="Calibri" pitchFamily="34" charset="0"/>
                <a:ea typeface="Calibri" pitchFamily="34" charset="-122"/>
                <a:cs typeface="Calibri" pitchFamily="34" charset="-120"/>
              </a:rPr>
              <a:t>3. Resample</a:t>
            </a:r>
            <a:endParaRPr lang="en-US" sz="1500" dirty="0"/>
          </a:p>
        </p:txBody>
      </p:sp>
      <p:sp>
        <p:nvSpPr>
          <p:cNvPr id="14" name="Text 12"/>
          <p:cNvSpPr/>
          <p:nvPr/>
        </p:nvSpPr>
        <p:spPr>
          <a:xfrm>
            <a:off x="8778240" y="2331720"/>
            <a:ext cx="2926080" cy="1097280"/>
          </a:xfrm>
          <a:prstGeom prst="rect">
            <a:avLst/>
          </a:prstGeom>
          <a:noFill/>
          <a:ln/>
        </p:spPr>
        <p:txBody>
          <a:bodyPr wrap="square" rtlCol="0" anchor="t"/>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When the Effective Sample Size drops below 50% of N, low-weight particles are dropped and duplicated.</a:t>
            </a:r>
            <a:endParaRPr lang="en-US" sz="1200" dirty="0"/>
          </a:p>
        </p:txBody>
      </p:sp>
      <p:sp>
        <p:nvSpPr>
          <p:cNvPr id="15" name="Text 13"/>
          <p:cNvSpPr/>
          <p:nvPr/>
        </p:nvSpPr>
        <p:spPr>
          <a:xfrm>
            <a:off x="777240" y="3886200"/>
            <a:ext cx="11155680" cy="365760"/>
          </a:xfrm>
          <a:prstGeom prst="rect">
            <a:avLst/>
          </a:prstGeom>
          <a:noFill/>
          <a:ln/>
        </p:spPr>
        <p:txBody>
          <a:bodyPr wrap="square" rtlCol="0" anchor="ctr"/>
          <a:lstStyle/>
          <a:p>
            <a:pPr algn="ctr" indent="0" marL="0">
              <a:buNone/>
            </a:pPr>
            <a:r>
              <a:rPr lang="en-US" sz="1300" i="1" dirty="0">
                <a:solidFill>
                  <a:srgbClr val="0B2545"/>
                </a:solidFill>
                <a:latin typeface="Calibri" pitchFamily="34" charset="0"/>
                <a:ea typeface="Calibri" pitchFamily="34" charset="-122"/>
                <a:cs typeface="Calibri" pitchFamily="34" charset="-120"/>
              </a:rPr>
              <a:t>→ repeated every cycle, independently, for each of the 100 engines</a:t>
            </a:r>
            <a:endParaRPr lang="en-US" sz="1300" dirty="0"/>
          </a:p>
        </p:txBody>
      </p:sp>
      <p:sp>
        <p:nvSpPr>
          <p:cNvPr id="16" name="Text 14"/>
          <p:cNvSpPr/>
          <p:nvPr/>
        </p:nvSpPr>
        <p:spPr>
          <a:xfrm>
            <a:off x="777240" y="4434840"/>
            <a:ext cx="11155680" cy="914400"/>
          </a:xfrm>
          <a:prstGeom prst="rect">
            <a:avLst/>
          </a:prstGeom>
          <a:noFill/>
          <a:ln/>
        </p:spPr>
        <p:txBody>
          <a:bodyPr wrap="square" rtlCol="0" anchor="t"/>
          <a:lstStyle/>
          <a:p>
            <a:pPr algn="ctr" indent="0" marL="0">
              <a:buNone/>
            </a:pPr>
            <a:r>
              <a:rPr lang="en-US" sz="1350" b="1" dirty="0">
                <a:solidFill>
                  <a:srgbClr val="16233B"/>
                </a:solidFill>
                <a:latin typeface="Calibri" pitchFamily="34" charset="0"/>
                <a:ea typeface="Calibri" pitchFamily="34" charset="-122"/>
                <a:cs typeface="Calibri" pitchFamily="34" charset="-120"/>
              </a:rPr>
              <a:t>N = 500 particles per engine.  </a:t>
            </a:r>
            <a:pPr algn="ctr" indent="0" marL="0">
              <a:buNone/>
            </a:pPr>
            <a:r>
              <a:rPr lang="en-US" sz="1350" dirty="0">
                <a:solidFill>
                  <a:srgbClr val="16233B"/>
                </a:solidFill>
                <a:latin typeface="Calibri" pitchFamily="34" charset="0"/>
                <a:ea typeface="Calibri" pitchFamily="34" charset="-122"/>
                <a:cs typeface="Calibri" pitchFamily="34" charset="-120"/>
              </a:rPr>
              <a:t>Systematic resampling (low variance). Fleet-wide effective sample size stays at </a:t>
            </a:r>
            <a:pPr algn="ctr" indent="0" marL="0">
              <a:buNone/>
            </a:pPr>
            <a:r>
              <a:rPr lang="en-US" sz="1350" b="1" dirty="0">
                <a:solidFill>
                  <a:srgbClr val="E8871E"/>
                </a:solidFill>
                <a:latin typeface="Calibri" pitchFamily="34" charset="0"/>
                <a:ea typeface="Calibri" pitchFamily="34" charset="-122"/>
                <a:cs typeface="Calibri" pitchFamily="34" charset="-120"/>
              </a:rPr>
              <a:t>79% of N</a:t>
            </a:r>
            <a:pPr algn="ctr" indent="0" marL="0">
              <a:buNone/>
            </a:pPr>
            <a:r>
              <a:rPr lang="en-US" sz="1350" dirty="0">
                <a:solidFill>
                  <a:srgbClr val="16233B"/>
                </a:solidFill>
                <a:latin typeface="Calibri" pitchFamily="34" charset="0"/>
                <a:ea typeface="Calibri" pitchFamily="34" charset="-122"/>
                <a:cs typeface="Calibri" pitchFamily="34" charset="-120"/>
              </a:rPr>
              <a:t> on average — the particle cloud never collapses.</a:t>
            </a:r>
            <a:endParaRPr lang="en-US" sz="1350" dirty="0"/>
          </a:p>
        </p:txBody>
      </p:sp>
      <p:sp>
        <p:nvSpPr>
          <p:cNvPr id="17" name="Text 15"/>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THE MODEL — PART 3</a:t>
            </a:r>
            <a:endParaRPr lang="en-US" sz="1100" dirty="0"/>
          </a:p>
        </p:txBody>
      </p:sp>
      <p:sp>
        <p:nvSpPr>
          <p:cNvPr id="3"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From Posterior to a RUL Distribution</a:t>
            </a:r>
            <a:endParaRPr lang="en-US" sz="3000" dirty="0"/>
          </a:p>
        </p:txBody>
      </p:sp>
      <p:sp>
        <p:nvSpPr>
          <p:cNvPr id="4" name="Text 2"/>
          <p:cNvSpPr/>
          <p:nvPr/>
        </p:nvSpPr>
        <p:spPr>
          <a:xfrm>
            <a:off x="594360" y="1325880"/>
            <a:ext cx="6035040" cy="4206240"/>
          </a:xfrm>
          <a:prstGeom prst="rect">
            <a:avLst/>
          </a:prstGeom>
          <a:noFill/>
          <a:ln/>
        </p:spPr>
        <p:txBody>
          <a:bodyPr wrap="square" rtlCol="0" anchor="t"/>
          <a:lstStyle/>
          <a:p>
            <a:pPr indent="0" marL="0">
              <a:lnSpc>
                <a:spcPct val="122000"/>
              </a:lnSpc>
              <a:buNone/>
            </a:pPr>
            <a:r>
              <a:rPr lang="en-US" sz="1400" dirty="0">
                <a:solidFill>
                  <a:srgbClr val="16233B"/>
                </a:solidFill>
                <a:latin typeface="Calibri" pitchFamily="34" charset="0"/>
                <a:ea typeface="Calibri" pitchFamily="34" charset="-122"/>
                <a:cs typeface="Calibri" pitchFamily="34" charset="-120"/>
              </a:rPr>
              <a:t>Forward-simulate the whole particle cloud until each particle crosses a failure threshold → one RUL sample per particle → a full distribution, not one value.
</a:t>
            </a:r>
            <a:pPr indent="0" marL="0">
              <a:lnSpc>
                <a:spcPct val="122000"/>
              </a:lnSpc>
              <a:buNone/>
            </a:pPr>
            <a:r>
              <a:rPr lang="en-US" sz="1400" b="1" dirty="0">
                <a:solidFill>
                  <a:srgbClr val="0B2545"/>
                </a:solidFill>
                <a:latin typeface="Calibri" pitchFamily="34" charset="0"/>
                <a:ea typeface="Calibri" pitchFamily="34" charset="-122"/>
                <a:cs typeface="Calibri" pitchFamily="34" charset="-120"/>
              </a:rPr>
              <a:t>Problem found: </a:t>
            </a:r>
            <a:pPr indent="0" marL="0">
              <a:lnSpc>
                <a:spcPct val="122000"/>
              </a:lnSpc>
              <a:buNone/>
            </a:pPr>
            <a:r>
              <a:rPr lang="en-US" sz="1400" dirty="0">
                <a:solidFill>
                  <a:srgbClr val="16233B"/>
                </a:solidFill>
                <a:latin typeface="Calibri" pitchFamily="34" charset="0"/>
                <a:ea typeface="Calibri" pitchFamily="34" charset="-122"/>
                <a:cs typeface="Calibri" pitchFamily="34" charset="-120"/>
              </a:rPr>
              <a:t>real engines fail around health ≈ 0.26 (observed) — but the filter's own posterior runs higher, ≈ 0.34, at that same moment.
</a:t>
            </a:r>
            <a:pPr indent="0" marL="0">
              <a:lnSpc>
                <a:spcPct val="122000"/>
              </a:lnSpc>
              <a:buNone/>
            </a:pPr>
            <a:r>
              <a:rPr lang="en-US" sz="1400" b="1" dirty="0">
                <a:solidFill>
                  <a:srgbClr val="0B2545"/>
                </a:solidFill>
                <a:latin typeface="Calibri" pitchFamily="34" charset="0"/>
                <a:ea typeface="Calibri" pitchFamily="34" charset="-122"/>
                <a:cs typeface="Calibri" pitchFamily="34" charset="-120"/>
              </a:rPr>
              <a:t>Fix: </a:t>
            </a:r>
            <a:pPr indent="0" marL="0">
              <a:lnSpc>
                <a:spcPct val="122000"/>
              </a:lnSpc>
              <a:buNone/>
            </a:pPr>
            <a:r>
              <a:rPr lang="en-US" sz="1400" dirty="0">
                <a:solidFill>
                  <a:srgbClr val="16233B"/>
                </a:solidFill>
                <a:latin typeface="Calibri" pitchFamily="34" charset="0"/>
                <a:ea typeface="Calibri" pitchFamily="34" charset="-122"/>
                <a:cs typeface="Calibri" pitchFamily="34" charset="-120"/>
              </a:rPr>
              <a:t>calibrate the failure threshold in the filter's own posterior space, and draw it per-particle from a distribution — not one fixed number.</a:t>
            </a:r>
            <a:endParaRPr lang="en-US" sz="1400" dirty="0"/>
          </a:p>
        </p:txBody>
      </p:sp>
      <p:sp>
        <p:nvSpPr>
          <p:cNvPr id="5" name="Shape 3"/>
          <p:cNvSpPr/>
          <p:nvPr/>
        </p:nvSpPr>
        <p:spPr>
          <a:xfrm>
            <a:off x="7040880" y="1828800"/>
            <a:ext cx="4572000" cy="2926080"/>
          </a:xfrm>
          <a:prstGeom prst="roundRect">
            <a:avLst>
              <a:gd name="adj" fmla="val 3750"/>
            </a:avLst>
          </a:prstGeom>
          <a:solidFill>
            <a:srgbClr val="0B2545"/>
          </a:solidFill>
          <a:ln/>
        </p:spPr>
      </p:sp>
      <p:sp>
        <p:nvSpPr>
          <p:cNvPr id="6" name="Text 4"/>
          <p:cNvSpPr/>
          <p:nvPr/>
        </p:nvSpPr>
        <p:spPr>
          <a:xfrm>
            <a:off x="7040880" y="2103120"/>
            <a:ext cx="4572000" cy="365760"/>
          </a:xfrm>
          <a:prstGeom prst="rect">
            <a:avLst/>
          </a:prstGeom>
          <a:noFill/>
          <a:ln/>
        </p:spPr>
        <p:txBody>
          <a:bodyPr wrap="square" rtlCol="0" anchor="ctr"/>
          <a:lstStyle/>
          <a:p>
            <a:pPr algn="ctr" indent="0" marL="0">
              <a:buNone/>
            </a:pPr>
            <a:r>
              <a:rPr lang="en-US" sz="1300" dirty="0">
                <a:solidFill>
                  <a:srgbClr val="8DA9C4"/>
                </a:solidFill>
                <a:latin typeface="Calibri" pitchFamily="34" charset="0"/>
                <a:ea typeface="Calibri" pitchFamily="34" charset="-122"/>
                <a:cs typeface="Calibri" pitchFamily="34" charset="-120"/>
              </a:rPr>
              <a:t>90% credible-interval coverage</a:t>
            </a:r>
            <a:endParaRPr lang="en-US" sz="1300" dirty="0"/>
          </a:p>
        </p:txBody>
      </p:sp>
      <p:sp>
        <p:nvSpPr>
          <p:cNvPr id="7" name="Text 5"/>
          <p:cNvSpPr/>
          <p:nvPr/>
        </p:nvSpPr>
        <p:spPr>
          <a:xfrm>
            <a:off x="7040880" y="2514600"/>
            <a:ext cx="4572000" cy="914400"/>
          </a:xfrm>
          <a:prstGeom prst="rect">
            <a:avLst/>
          </a:prstGeom>
          <a:noFill/>
          <a:ln/>
        </p:spPr>
        <p:txBody>
          <a:bodyPr wrap="square" rtlCol="0" anchor="ctr"/>
          <a:lstStyle/>
          <a:p>
            <a:pPr algn="ctr" indent="0" marL="0">
              <a:buNone/>
            </a:pPr>
            <a:r>
              <a:rPr lang="en-US" sz="3400" b="1" strike="sngStrike" dirty="0">
                <a:solidFill>
                  <a:srgbClr val="F2A65A"/>
                </a:solidFill>
                <a:latin typeface="Cambria" pitchFamily="34" charset="0"/>
                <a:ea typeface="Cambria" pitchFamily="34" charset="-122"/>
                <a:cs typeface="Cambria" pitchFamily="34" charset="-120"/>
              </a:rPr>
              <a:t>0.000</a:t>
            </a:r>
            <a:pPr algn="ctr" indent="0" marL="0">
              <a:buNone/>
            </a:pPr>
            <a:r>
              <a:rPr lang="en-US" sz="3400" b="1" dirty="0">
                <a:solidFill>
                  <a:srgbClr val="FFFFFF"/>
                </a:solidFill>
                <a:latin typeface="Cambria" pitchFamily="34" charset="0"/>
                <a:ea typeface="Cambria" pitchFamily="34" charset="-122"/>
                <a:cs typeface="Cambria" pitchFamily="34" charset="-120"/>
              </a:rPr>
              <a:t>  →  </a:t>
            </a:r>
            <a:pPr algn="ctr" indent="0" marL="0">
              <a:buNone/>
            </a:pPr>
            <a:r>
              <a:rPr lang="en-US" sz="3400" b="1" dirty="0">
                <a:solidFill>
                  <a:srgbClr val="E8871E"/>
                </a:solidFill>
                <a:latin typeface="Cambria" pitchFamily="34" charset="0"/>
                <a:ea typeface="Cambria" pitchFamily="34" charset="-122"/>
                <a:cs typeface="Cambria" pitchFamily="34" charset="-120"/>
              </a:rPr>
              <a:t>0.75 / 0.99</a:t>
            </a:r>
            <a:endParaRPr lang="en-US" sz="3400" dirty="0"/>
          </a:p>
        </p:txBody>
      </p:sp>
      <p:sp>
        <p:nvSpPr>
          <p:cNvPr id="8" name="Text 6"/>
          <p:cNvSpPr/>
          <p:nvPr/>
        </p:nvSpPr>
        <p:spPr>
          <a:xfrm>
            <a:off x="7406640" y="3611880"/>
            <a:ext cx="3840480" cy="1005840"/>
          </a:xfrm>
          <a:prstGeom prst="rect">
            <a:avLst/>
          </a:prstGeom>
          <a:noFill/>
          <a:ln/>
        </p:spPr>
        <p:txBody>
          <a:bodyPr wrap="square" rtlCol="0" anchor="t"/>
          <a:lstStyle/>
          <a:p>
            <a:pPr algn="ctr" indent="0" marL="0">
              <a:buNone/>
            </a:pPr>
            <a:r>
              <a:rPr lang="en-US" sz="1250" i="1" dirty="0">
                <a:solidFill>
                  <a:srgbClr val="CFE0F0"/>
                </a:solidFill>
                <a:latin typeface="Calibri" pitchFamily="34" charset="0"/>
                <a:ea typeface="Calibri" pitchFamily="34" charset="-122"/>
                <a:cs typeface="Calibri" pitchFamily="34" charset="-120"/>
              </a:rPr>
              <a:t>This single fix was the largest jump in the whole thesis — from a categorical failure to a usable interval.</a:t>
            </a:r>
            <a:endParaRPr lang="en-US" sz="1250" dirty="0"/>
          </a:p>
        </p:txBody>
      </p:sp>
      <p:sp>
        <p:nvSpPr>
          <p:cNvPr id="9" name="Text 7"/>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THE MODEL — PART 4</a:t>
            </a:r>
            <a:endParaRPr lang="en-US" sz="1100" dirty="0"/>
          </a:p>
        </p:txBody>
      </p:sp>
      <p:sp>
        <p:nvSpPr>
          <p:cNvPr id="3"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One Rate Doesn't Fit Every Engine</a:t>
            </a:r>
            <a:endParaRPr lang="en-US" sz="3000" dirty="0"/>
          </a:p>
        </p:txBody>
      </p:sp>
      <p:sp>
        <p:nvSpPr>
          <p:cNvPr id="4" name="Text 2"/>
          <p:cNvSpPr/>
          <p:nvPr/>
        </p:nvSpPr>
        <p:spPr>
          <a:xfrm>
            <a:off x="594360" y="1280160"/>
            <a:ext cx="11002975" cy="868680"/>
          </a:xfrm>
          <a:prstGeom prst="rect">
            <a:avLst/>
          </a:prstGeom>
          <a:noFill/>
          <a:ln/>
        </p:spPr>
        <p:txBody>
          <a:bodyPr wrap="square" rtlCol="0" anchor="t"/>
          <a:lstStyle/>
          <a:p>
            <a:pPr indent="0" marL="0">
              <a:lnSpc>
                <a:spcPct val="120000"/>
              </a:lnSpc>
              <a:buNone/>
            </a:pPr>
            <a:r>
              <a:rPr lang="en-US" sz="1400" dirty="0">
                <a:solidFill>
                  <a:srgbClr val="16233B"/>
                </a:solidFill>
                <a:latin typeface="Calibri" pitchFamily="34" charset="0"/>
                <a:ea typeface="Calibri" pitchFamily="34" charset="-122"/>
                <a:cs typeface="Calibri" pitchFamily="34" charset="-120"/>
              </a:rPr>
              <a:t>The degradation rate was first fit once, pooled across all 100 training engines — this </a:t>
            </a:r>
            <a:pPr indent="0" marL="0">
              <a:lnSpc>
                <a:spcPct val="120000"/>
              </a:lnSpc>
              <a:buNone/>
            </a:pPr>
            <a:r>
              <a:rPr lang="en-US" sz="1400" b="1" dirty="0">
                <a:solidFill>
                  <a:srgbClr val="E8871E"/>
                </a:solidFill>
                <a:latin typeface="Calibri" pitchFamily="34" charset="0"/>
                <a:ea typeface="Calibri" pitchFamily="34" charset="-122"/>
                <a:cs typeface="Calibri" pitchFamily="34" charset="-120"/>
              </a:rPr>
              <a:t>understates the fleet's true average rate by ~26%</a:t>
            </a:r>
            <a:pPr indent="0" marL="0">
              <a:lnSpc>
                <a:spcPct val="120000"/>
              </a:lnSpc>
              <a:buNone/>
            </a:pPr>
            <a:r>
              <a:rPr lang="en-US" sz="1400" dirty="0">
                <a:solidFill>
                  <a:srgbClr val="16233B"/>
                </a:solidFill>
                <a:latin typeface="Calibri" pitchFamily="34" charset="0"/>
                <a:ea typeface="Calibri" pitchFamily="34" charset="-122"/>
                <a:cs typeface="Calibri" pitchFamily="34" charset="-120"/>
              </a:rPr>
              <a:t>, because it averages fast- and slow-failing engines together.</a:t>
            </a:r>
            <a:endParaRPr lang="en-US" sz="1400" dirty="0"/>
          </a:p>
        </p:txBody>
      </p:sp>
      <p:sp>
        <p:nvSpPr>
          <p:cNvPr id="5" name="Shape 3"/>
          <p:cNvSpPr/>
          <p:nvPr/>
        </p:nvSpPr>
        <p:spPr>
          <a:xfrm>
            <a:off x="594360" y="2331720"/>
            <a:ext cx="5257800" cy="3063240"/>
          </a:xfrm>
          <a:prstGeom prst="roundRect">
            <a:avLst>
              <a:gd name="adj" fmla="val 2985"/>
            </a:avLst>
          </a:prstGeom>
          <a:solidFill>
            <a:srgbClr val="FFFFFF"/>
          </a:solidFill>
          <a:ln w="19050">
            <a:solidFill>
              <a:srgbClr val="13315C"/>
            </a:solidFill>
            <a:prstDash val="solid"/>
          </a:ln>
          <a:effectLst>
            <a:outerShdw sx="100000" sy="100000" kx="0" ky="0" algn="bl" rotWithShape="0" blurRad="63500" dist="25400" dir="5400000">
              <a:srgbClr val="9AAFC7">
                <a:alpha val="30000"/>
              </a:srgbClr>
            </a:outerShdw>
          </a:effectLst>
        </p:spPr>
      </p:sp>
      <p:sp>
        <p:nvSpPr>
          <p:cNvPr id="6" name="Text 4"/>
          <p:cNvSpPr/>
          <p:nvPr/>
        </p:nvSpPr>
        <p:spPr>
          <a:xfrm>
            <a:off x="868680" y="2532888"/>
            <a:ext cx="4709160" cy="457200"/>
          </a:xfrm>
          <a:prstGeom prst="rect">
            <a:avLst/>
          </a:prstGeom>
          <a:noFill/>
          <a:ln/>
        </p:spPr>
        <p:txBody>
          <a:bodyPr wrap="square" rtlCol="0" anchor="ctr"/>
          <a:lstStyle/>
          <a:p>
            <a:pPr indent="0" marL="0">
              <a:buNone/>
            </a:pPr>
            <a:r>
              <a:rPr lang="en-US" sz="1550" b="1" dirty="0">
                <a:solidFill>
                  <a:srgbClr val="13315C"/>
                </a:solidFill>
                <a:latin typeface="Calibri" pitchFamily="34" charset="0"/>
                <a:ea typeface="Calibri" pitchFamily="34" charset="-122"/>
                <a:cs typeface="Calibri" pitchFamily="34" charset="-120"/>
              </a:rPr>
              <a:t>Fix 1 — PMMH</a:t>
            </a:r>
            <a:endParaRPr lang="en-US" sz="1550" dirty="0"/>
          </a:p>
        </p:txBody>
      </p:sp>
      <p:sp>
        <p:nvSpPr>
          <p:cNvPr id="7" name="Text 5"/>
          <p:cNvSpPr/>
          <p:nvPr/>
        </p:nvSpPr>
        <p:spPr>
          <a:xfrm>
            <a:off x="868680" y="3063240"/>
            <a:ext cx="4709160" cy="1371600"/>
          </a:xfrm>
          <a:prstGeom prst="rect">
            <a:avLst/>
          </a:prstGeom>
          <a:noFill/>
          <a:ln/>
        </p:spPr>
        <p:txBody>
          <a:bodyPr wrap="square" rtlCol="0" anchor="t"/>
          <a:lstStyle/>
          <a:p>
            <a:pPr indent="0" marL="0">
              <a:lnSpc>
                <a:spcPct val="120000"/>
              </a:lnSpc>
              <a:buNone/>
            </a:pPr>
            <a:r>
              <a:rPr lang="en-US" sz="1250" dirty="0">
                <a:solidFill>
                  <a:srgbClr val="16233B"/>
                </a:solidFill>
                <a:latin typeface="Calibri" pitchFamily="34" charset="0"/>
                <a:ea typeface="Calibri" pitchFamily="34" charset="-122"/>
                <a:cs typeface="Calibri" pitchFamily="34" charset="-120"/>
              </a:rPr>
              <a:t>Estimate the growth rate and noise scale per engine as a Bayesian posterior (Particle Marginal Metropolis–Hastings), then aggregate into one fleet-wide pair.</a:t>
            </a:r>
            <a:endParaRPr lang="en-US" sz="1250" dirty="0"/>
          </a:p>
        </p:txBody>
      </p:sp>
      <p:sp>
        <p:nvSpPr>
          <p:cNvPr id="8" name="Text 6"/>
          <p:cNvSpPr/>
          <p:nvPr/>
        </p:nvSpPr>
        <p:spPr>
          <a:xfrm>
            <a:off x="868680" y="4617720"/>
            <a:ext cx="4709160" cy="640080"/>
          </a:xfrm>
          <a:prstGeom prst="rect">
            <a:avLst/>
          </a:prstGeom>
          <a:noFill/>
          <a:ln/>
        </p:spPr>
        <p:txBody>
          <a:bodyPr wrap="square" rtlCol="0" anchor="t"/>
          <a:lstStyle/>
          <a:p>
            <a:pPr indent="0" marL="0">
              <a:buNone/>
            </a:pPr>
            <a:r>
              <a:rPr lang="en-US" sz="1150" i="1" dirty="0">
                <a:solidFill>
                  <a:srgbClr val="5B6B85"/>
                </a:solidFill>
                <a:latin typeface="Calibri" pitchFamily="34" charset="0"/>
                <a:ea typeface="Calibri" pitchFamily="34" charset="-122"/>
                <a:cs typeface="Calibri" pitchFamily="34" charset="-120"/>
              </a:rPr>
              <a:t>Converged on 31/100 (FD001), 8/100 (FD003) engines — fallback used elsewhere.</a:t>
            </a:r>
            <a:endParaRPr lang="en-US" sz="1150" dirty="0"/>
          </a:p>
        </p:txBody>
      </p:sp>
      <p:sp>
        <p:nvSpPr>
          <p:cNvPr id="9" name="Shape 7"/>
          <p:cNvSpPr/>
          <p:nvPr/>
        </p:nvSpPr>
        <p:spPr>
          <a:xfrm>
            <a:off x="6263640" y="2331720"/>
            <a:ext cx="5257800" cy="3063240"/>
          </a:xfrm>
          <a:prstGeom prst="roundRect">
            <a:avLst>
              <a:gd name="adj" fmla="val 2985"/>
            </a:avLst>
          </a:prstGeom>
          <a:solidFill>
            <a:srgbClr val="FFFFFF"/>
          </a:solidFill>
          <a:ln w="19050">
            <a:solidFill>
              <a:srgbClr val="E8871E"/>
            </a:solidFill>
            <a:prstDash val="solid"/>
          </a:ln>
          <a:effectLst>
            <a:outerShdw sx="100000" sy="100000" kx="0" ky="0" algn="bl" rotWithShape="0" blurRad="63500" dist="25400" dir="5400000">
              <a:srgbClr val="9AAFC7">
                <a:alpha val="30000"/>
              </a:srgbClr>
            </a:outerShdw>
          </a:effectLst>
        </p:spPr>
      </p:sp>
      <p:sp>
        <p:nvSpPr>
          <p:cNvPr id="10" name="Text 8"/>
          <p:cNvSpPr/>
          <p:nvPr/>
        </p:nvSpPr>
        <p:spPr>
          <a:xfrm>
            <a:off x="6537960" y="2532888"/>
            <a:ext cx="4709160" cy="457200"/>
          </a:xfrm>
          <a:prstGeom prst="rect">
            <a:avLst/>
          </a:prstGeom>
          <a:noFill/>
          <a:ln/>
        </p:spPr>
        <p:txBody>
          <a:bodyPr wrap="square" rtlCol="0" anchor="ctr"/>
          <a:lstStyle/>
          <a:p>
            <a:pPr indent="0" marL="0">
              <a:buNone/>
            </a:pPr>
            <a:r>
              <a:rPr lang="en-US" sz="1550" b="1" dirty="0">
                <a:solidFill>
                  <a:srgbClr val="E8871E"/>
                </a:solidFill>
                <a:latin typeface="Calibri" pitchFamily="34" charset="0"/>
                <a:ea typeface="Calibri" pitchFamily="34" charset="-122"/>
                <a:cs typeface="Calibri" pitchFamily="34" charset="-120"/>
              </a:rPr>
              <a:t>Fix 2 — Similarity Library  (adopted)</a:t>
            </a:r>
            <a:endParaRPr lang="en-US" sz="1550" dirty="0"/>
          </a:p>
        </p:txBody>
      </p:sp>
      <p:sp>
        <p:nvSpPr>
          <p:cNvPr id="11" name="Text 9"/>
          <p:cNvSpPr/>
          <p:nvPr/>
        </p:nvSpPr>
        <p:spPr>
          <a:xfrm>
            <a:off x="6537960" y="3063240"/>
            <a:ext cx="4709160" cy="1371600"/>
          </a:xfrm>
          <a:prstGeom prst="rect">
            <a:avLst/>
          </a:prstGeom>
          <a:noFill/>
          <a:ln/>
        </p:spPr>
        <p:txBody>
          <a:bodyPr wrap="square" rtlCol="0" anchor="t"/>
          <a:lstStyle/>
          <a:p>
            <a:pPr indent="0" marL="0">
              <a:lnSpc>
                <a:spcPct val="120000"/>
              </a:lnSpc>
              <a:buNone/>
            </a:pPr>
            <a:r>
              <a:rPr lang="en-US" sz="1250" dirty="0">
                <a:solidFill>
                  <a:srgbClr val="16233B"/>
                </a:solidFill>
                <a:latin typeface="Calibri" pitchFamily="34" charset="0"/>
                <a:ea typeface="Calibri" pitchFamily="34" charset="-122"/>
                <a:cs typeface="Calibri" pitchFamily="34" charset="-120"/>
              </a:rPr>
              <a:t>Keep one fitted rate per training engine. At test time, match the current engine to its closest analogues (MMD kernel) and borrow their rate.</a:t>
            </a:r>
            <a:endParaRPr lang="en-US" sz="1250" dirty="0"/>
          </a:p>
        </p:txBody>
      </p:sp>
      <p:sp>
        <p:nvSpPr>
          <p:cNvPr id="12" name="Text 10"/>
          <p:cNvSpPr/>
          <p:nvPr/>
        </p:nvSpPr>
        <p:spPr>
          <a:xfrm>
            <a:off x="6537960" y="4617720"/>
            <a:ext cx="4709160" cy="640080"/>
          </a:xfrm>
          <a:prstGeom prst="rect">
            <a:avLst/>
          </a:prstGeom>
          <a:noFill/>
          <a:ln/>
        </p:spPr>
        <p:txBody>
          <a:bodyPr wrap="square" rtlCol="0" anchor="t"/>
          <a:lstStyle/>
          <a:p>
            <a:pPr indent="0" marL="0">
              <a:buNone/>
            </a:pPr>
            <a:r>
              <a:rPr lang="en-US" sz="1150" i="1" dirty="0">
                <a:solidFill>
                  <a:srgbClr val="5B6B85"/>
                </a:solidFill>
                <a:latin typeface="Calibri" pitchFamily="34" charset="0"/>
                <a:ea typeface="Calibri" pitchFamily="34" charset="-122"/>
                <a:cs typeface="Calibri" pitchFamily="34" charset="-120"/>
              </a:rPr>
              <a:t>Best point accuracy AND best-calibrated intervals on both datasets.</a:t>
            </a:r>
            <a:endParaRPr lang="en-US" sz="1150" dirty="0"/>
          </a:p>
        </p:txBody>
      </p:sp>
      <p:sp>
        <p:nvSpPr>
          <p:cNvPr id="13" name="Text 11"/>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EXPERIMENTS</a:t>
            </a:r>
            <a:endParaRPr lang="en-US" sz="1100" dirty="0"/>
          </a:p>
        </p:txBody>
      </p:sp>
      <p:sp>
        <p:nvSpPr>
          <p:cNvPr id="3"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NASA C-MAPSS Turbofan Benchmark</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6492240" cy="2651760"/>
        </p:xfrm>
        <a:graphic>
          <a:graphicData uri="http://schemas.openxmlformats.org/drawingml/2006/table">
            <a:tbl>
              <a:tblPr/>
              <a:tblGrid>
                <a:gridCol w="2743200"/>
                <a:gridCol w="1874520"/>
                <a:gridCol w="1874520"/>
              </a:tblGrid>
              <a:tr h="420624">
                <a:tc>
                  <a:txBody>
                    <a:bodyPr/>
                    <a:lstStyle/>
                    <a:p>
                      <a:pPr indent="0" marL="0">
                        <a:buNone/>
                      </a:pP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FD001</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FD003</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0B2545"/>
                    </a:solidFill>
                  </a:tcPr>
                </a:tc>
              </a:tr>
              <a:tr h="420624">
                <a:tc>
                  <a:txBody>
                    <a:bodyPr/>
                    <a:lstStyle/>
                    <a:p>
                      <a:pPr algn="l" indent="0" marL="0">
                        <a:buNone/>
                      </a:pPr>
                      <a:r>
                        <a:rPr lang="en-US" sz="1200" dirty="0">
                          <a:solidFill>
                            <a:srgbClr val="16233B"/>
                          </a:solidFill>
                          <a:latin typeface="Calibri" pitchFamily="34" charset="0"/>
                          <a:ea typeface="Calibri" pitchFamily="34" charset="-122"/>
                          <a:cs typeface="Calibri" pitchFamily="34" charset="-120"/>
                        </a:rPr>
                        <a:t>Operating conditions</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6233B"/>
                          </a:solidFill>
                          <a:latin typeface="Calibri" pitchFamily="34" charset="0"/>
                          <a:ea typeface="Calibri" pitchFamily="34" charset="-122"/>
                          <a:cs typeface="Calibri" pitchFamily="34" charset="-120"/>
                        </a:rPr>
                        <a:t>Fault mode(s)</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Calibri" pitchFamily="34" charset="0"/>
                          <a:ea typeface="Calibri" pitchFamily="34" charset="-122"/>
                          <a:cs typeface="Calibri" pitchFamily="34" charset="-120"/>
                        </a:rPr>
                        <a:t>HPC degradation</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Calibri" pitchFamily="34" charset="0"/>
                          <a:ea typeface="Calibri" pitchFamily="34" charset="-122"/>
                          <a:cs typeface="Calibri" pitchFamily="34" charset="-120"/>
                        </a:rPr>
                        <a:t>HPC + Fan degradation</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6233B"/>
                          </a:solidFill>
                          <a:latin typeface="Calibri" pitchFamily="34" charset="0"/>
                          <a:ea typeface="Calibri" pitchFamily="34" charset="-122"/>
                          <a:cs typeface="Calibri" pitchFamily="34" charset="-120"/>
                        </a:rPr>
                        <a:t>Train / test engines</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Calibri" pitchFamily="34" charset="0"/>
                          <a:ea typeface="Calibri" pitchFamily="34" charset="-122"/>
                          <a:cs typeface="Calibri" pitchFamily="34" charset="-120"/>
                        </a:rPr>
                        <a:t>100 / 100</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Calibri" pitchFamily="34" charset="0"/>
                          <a:ea typeface="Calibri" pitchFamily="34" charset="-122"/>
                          <a:cs typeface="Calibri" pitchFamily="34" charset="-120"/>
                        </a:rPr>
                        <a:t>100 / 100</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6233B"/>
                          </a:solidFill>
                          <a:latin typeface="Calibri" pitchFamily="34" charset="0"/>
                          <a:ea typeface="Calibri" pitchFamily="34" charset="-122"/>
                          <a:cs typeface="Calibri" pitchFamily="34" charset="-120"/>
                        </a:rPr>
                        <a:t>Train cycle length (min/med/max)</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Calibri" pitchFamily="34" charset="0"/>
                          <a:ea typeface="Calibri" pitchFamily="34" charset="-122"/>
                          <a:cs typeface="Calibri" pitchFamily="34" charset="-120"/>
                        </a:rPr>
                        <a:t>128 / 199 / 362</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Calibri" pitchFamily="34" charset="0"/>
                          <a:ea typeface="Calibri" pitchFamily="34" charset="-122"/>
                          <a:cs typeface="Calibri" pitchFamily="34" charset="-120"/>
                        </a:rPr>
                        <a:t>145 / 220 / 525</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6233B"/>
                          </a:solidFill>
                          <a:latin typeface="Calibri" pitchFamily="34" charset="0"/>
                          <a:ea typeface="Calibri" pitchFamily="34" charset="-122"/>
                          <a:cs typeface="Calibri" pitchFamily="34" charset="-120"/>
                        </a:rPr>
                        <a:t>Test true RUL (min/med/max)</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Calibri" pitchFamily="34" charset="0"/>
                          <a:ea typeface="Calibri" pitchFamily="34" charset="-122"/>
                          <a:cs typeface="Calibri" pitchFamily="34" charset="-120"/>
                        </a:rPr>
                        <a:t>7 / 86 / 145</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33B"/>
                          </a:solidFill>
                          <a:latin typeface="Calibri" pitchFamily="34" charset="0"/>
                          <a:ea typeface="Calibri" pitchFamily="34" charset="-122"/>
                          <a:cs typeface="Calibri" pitchFamily="34" charset="-120"/>
                        </a:rPr>
                        <a:t>6 / 77 / 145</a:t>
                      </a:r>
                      <a:endParaRPr lang="en-US" sz="120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r>
            </a:tbl>
          </a:graphicData>
        </a:graphic>
      </p:graphicFrame>
      <p:sp>
        <p:nvSpPr>
          <p:cNvPr id="5" name="Text 2"/>
          <p:cNvSpPr/>
          <p:nvPr/>
        </p:nvSpPr>
        <p:spPr>
          <a:xfrm>
            <a:off x="594360" y="4206240"/>
            <a:ext cx="6492240" cy="822960"/>
          </a:xfrm>
          <a:prstGeom prst="rect">
            <a:avLst/>
          </a:prstGeom>
          <a:noFill/>
          <a:ln/>
        </p:spPr>
        <p:txBody>
          <a:bodyPr wrap="square" rtlCol="0" anchor="t"/>
          <a:lstStyle/>
          <a:p>
            <a:pPr indent="0" marL="0">
              <a:buNone/>
            </a:pPr>
            <a:r>
              <a:rPr lang="en-US" sz="1200" i="1" dirty="0">
                <a:solidFill>
                  <a:srgbClr val="5B6B85"/>
                </a:solidFill>
                <a:latin typeface="Calibri" pitchFamily="34" charset="0"/>
                <a:ea typeface="Calibri" pitchFamily="34" charset="-122"/>
                <a:cs typeface="Calibri" pitchFamily="34" charset="-120"/>
              </a:rPr>
              <a:t>FD003 is a robustness check: same pipeline, fitted only on FD001, tested unchanged on a harder, two-fault-mode dataset.</a:t>
            </a:r>
            <a:endParaRPr lang="en-US" sz="1200" dirty="0"/>
          </a:p>
        </p:txBody>
      </p:sp>
      <p:sp>
        <p:nvSpPr>
          <p:cNvPr id="6" name="Shape 3"/>
          <p:cNvSpPr/>
          <p:nvPr/>
        </p:nvSpPr>
        <p:spPr>
          <a:xfrm>
            <a:off x="7452360" y="1371600"/>
            <a:ext cx="4160520" cy="960120"/>
          </a:xfrm>
          <a:prstGeom prst="roundRect">
            <a:avLst>
              <a:gd name="adj" fmla="val 7619"/>
            </a:avLst>
          </a:prstGeom>
          <a:solidFill>
            <a:srgbClr val="13315C"/>
          </a:solidFill>
          <a:ln/>
        </p:spPr>
      </p:sp>
      <p:sp>
        <p:nvSpPr>
          <p:cNvPr id="7" name="Text 4"/>
          <p:cNvSpPr/>
          <p:nvPr/>
        </p:nvSpPr>
        <p:spPr>
          <a:xfrm>
            <a:off x="7635240" y="1444752"/>
            <a:ext cx="379476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RMSE / MAPE</a:t>
            </a:r>
            <a:endParaRPr lang="en-US" sz="1350" dirty="0"/>
          </a:p>
        </p:txBody>
      </p:sp>
      <p:sp>
        <p:nvSpPr>
          <p:cNvPr id="8" name="Text 5"/>
          <p:cNvSpPr/>
          <p:nvPr/>
        </p:nvSpPr>
        <p:spPr>
          <a:xfrm>
            <a:off x="7635240" y="1755648"/>
            <a:ext cx="3794760" cy="530352"/>
          </a:xfrm>
          <a:prstGeom prst="rect">
            <a:avLst/>
          </a:prstGeom>
          <a:noFill/>
          <a:ln/>
        </p:spPr>
        <p:txBody>
          <a:bodyPr wrap="square" rtlCol="0" anchor="t"/>
          <a:lstStyle/>
          <a:p>
            <a:pPr indent="0" marL="0">
              <a:buNone/>
            </a:pPr>
            <a:r>
              <a:rPr lang="en-US" sz="1100" dirty="0">
                <a:solidFill>
                  <a:srgbClr val="CFE0F0"/>
                </a:solidFill>
                <a:latin typeface="Calibri" pitchFamily="34" charset="0"/>
                <a:ea typeface="Calibri" pitchFamily="34" charset="-122"/>
                <a:cs typeface="Calibri" pitchFamily="34" charset="-120"/>
              </a:rPr>
              <a:t>Point-accuracy — how close is the predicted RUL?</a:t>
            </a:r>
            <a:endParaRPr lang="en-US" sz="1100" dirty="0"/>
          </a:p>
        </p:txBody>
      </p:sp>
      <p:sp>
        <p:nvSpPr>
          <p:cNvPr id="9" name="Shape 6"/>
          <p:cNvSpPr/>
          <p:nvPr/>
        </p:nvSpPr>
        <p:spPr>
          <a:xfrm>
            <a:off x="7452360" y="2532888"/>
            <a:ext cx="4160520" cy="960120"/>
          </a:xfrm>
          <a:prstGeom prst="roundRect">
            <a:avLst>
              <a:gd name="adj" fmla="val 7619"/>
            </a:avLst>
          </a:prstGeom>
          <a:solidFill>
            <a:srgbClr val="13315C"/>
          </a:solidFill>
          <a:ln/>
        </p:spPr>
      </p:sp>
      <p:sp>
        <p:nvSpPr>
          <p:cNvPr id="10" name="Text 7"/>
          <p:cNvSpPr/>
          <p:nvPr/>
        </p:nvSpPr>
        <p:spPr>
          <a:xfrm>
            <a:off x="7635240" y="2606040"/>
            <a:ext cx="379476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PHM08 score</a:t>
            </a:r>
            <a:endParaRPr lang="en-US" sz="1350" dirty="0"/>
          </a:p>
        </p:txBody>
      </p:sp>
      <p:sp>
        <p:nvSpPr>
          <p:cNvPr id="11" name="Text 8"/>
          <p:cNvSpPr/>
          <p:nvPr/>
        </p:nvSpPr>
        <p:spPr>
          <a:xfrm>
            <a:off x="7635240" y="2916936"/>
            <a:ext cx="3794760" cy="530352"/>
          </a:xfrm>
          <a:prstGeom prst="rect">
            <a:avLst/>
          </a:prstGeom>
          <a:noFill/>
          <a:ln/>
        </p:spPr>
        <p:txBody>
          <a:bodyPr wrap="square" rtlCol="0" anchor="t"/>
          <a:lstStyle/>
          <a:p>
            <a:pPr indent="0" marL="0">
              <a:buNone/>
            </a:pPr>
            <a:r>
              <a:rPr lang="en-US" sz="1100" dirty="0">
                <a:solidFill>
                  <a:srgbClr val="CFE0F0"/>
                </a:solidFill>
                <a:latin typeface="Calibri" pitchFamily="34" charset="0"/>
                <a:ea typeface="Calibri" pitchFamily="34" charset="-122"/>
                <a:cs typeface="Calibri" pitchFamily="34" charset="-120"/>
              </a:rPr>
              <a:t>Asymmetric penalty — late (over-)prediction costs more than early.</a:t>
            </a:r>
            <a:endParaRPr lang="en-US" sz="1100" dirty="0"/>
          </a:p>
        </p:txBody>
      </p:sp>
      <p:sp>
        <p:nvSpPr>
          <p:cNvPr id="12" name="Shape 9"/>
          <p:cNvSpPr/>
          <p:nvPr/>
        </p:nvSpPr>
        <p:spPr>
          <a:xfrm>
            <a:off x="7452360" y="3694176"/>
            <a:ext cx="4160520" cy="960120"/>
          </a:xfrm>
          <a:prstGeom prst="roundRect">
            <a:avLst>
              <a:gd name="adj" fmla="val 7619"/>
            </a:avLst>
          </a:prstGeom>
          <a:solidFill>
            <a:srgbClr val="E8871E"/>
          </a:solidFill>
          <a:ln/>
        </p:spPr>
      </p:sp>
      <p:sp>
        <p:nvSpPr>
          <p:cNvPr id="13" name="Text 10"/>
          <p:cNvSpPr/>
          <p:nvPr/>
        </p:nvSpPr>
        <p:spPr>
          <a:xfrm>
            <a:off x="7635240" y="3767328"/>
            <a:ext cx="379476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90% CI Coverage</a:t>
            </a:r>
            <a:endParaRPr lang="en-US" sz="1350" dirty="0"/>
          </a:p>
        </p:txBody>
      </p:sp>
      <p:sp>
        <p:nvSpPr>
          <p:cNvPr id="14" name="Text 11"/>
          <p:cNvSpPr/>
          <p:nvPr/>
        </p:nvSpPr>
        <p:spPr>
          <a:xfrm>
            <a:off x="7635240" y="4078224"/>
            <a:ext cx="3794760" cy="530352"/>
          </a:xfrm>
          <a:prstGeom prst="rect">
            <a:avLst/>
          </a:prstGeom>
          <a:noFill/>
          <a:ln/>
        </p:spPr>
        <p:txBody>
          <a:bodyPr wrap="square" rtlCol="0" anchor="t"/>
          <a:lstStyle/>
          <a:p>
            <a:pPr indent="0" marL="0">
              <a:buNone/>
            </a:pPr>
            <a:r>
              <a:rPr lang="en-US" sz="1100" dirty="0">
                <a:solidFill>
                  <a:srgbClr val="CFE0F0"/>
                </a:solidFill>
                <a:latin typeface="Calibri" pitchFamily="34" charset="0"/>
                <a:ea typeface="Calibri" pitchFamily="34" charset="-122"/>
                <a:cs typeface="Calibri" pitchFamily="34" charset="-120"/>
              </a:rPr>
              <a:t>Calibration — does the interval actually contain the truth? A point estimate cannot even report this.</a:t>
            </a:r>
            <a:endParaRPr lang="en-US" sz="1100" dirty="0"/>
          </a:p>
        </p:txBody>
      </p:sp>
      <p:sp>
        <p:nvSpPr>
          <p:cNvPr id="15" name="Text 12"/>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The Filter Tracks Health Well — Even on the Hardest Engines</a:t>
            </a:r>
            <a:endParaRPr lang="en-US" sz="3000" dirty="0"/>
          </a:p>
        </p:txBody>
      </p:sp>
      <p:pic>
        <p:nvPicPr>
          <p:cNvPr id="4" name="Image 0" descr="/tmp/defense_prep/fig72-000.png">    </p:cNvPr>
          <p:cNvPicPr>
            <a:picLocks noChangeAspect="1"/>
          </p:cNvPicPr>
          <p:nvPr/>
        </p:nvPicPr>
        <p:blipFill>
          <a:blip r:embed="rId1"/>
          <a:stretch>
            <a:fillRect/>
          </a:stretch>
        </p:blipFill>
        <p:spPr>
          <a:xfrm>
            <a:off x="502920" y="1325880"/>
            <a:ext cx="8869680" cy="4434840"/>
          </a:xfrm>
          <a:prstGeom prst="rect">
            <a:avLst/>
          </a:prstGeom>
        </p:spPr>
      </p:pic>
      <p:sp>
        <p:nvSpPr>
          <p:cNvPr id="5" name="Shape 2"/>
          <p:cNvSpPr/>
          <p:nvPr/>
        </p:nvSpPr>
        <p:spPr>
          <a:xfrm>
            <a:off x="9601200" y="1554480"/>
            <a:ext cx="2103120" cy="1234440"/>
          </a:xfrm>
          <a:prstGeom prst="roundRect">
            <a:avLst>
              <a:gd name="adj" fmla="val 5926"/>
            </a:avLst>
          </a:prstGeom>
          <a:solidFill>
            <a:srgbClr val="0B2545"/>
          </a:solidFill>
          <a:ln/>
        </p:spPr>
      </p:sp>
      <p:sp>
        <p:nvSpPr>
          <p:cNvPr id="6" name="Text 3"/>
          <p:cNvSpPr/>
          <p:nvPr/>
        </p:nvSpPr>
        <p:spPr>
          <a:xfrm>
            <a:off x="9601200" y="1664208"/>
            <a:ext cx="2103120" cy="502920"/>
          </a:xfrm>
          <a:prstGeom prst="rect">
            <a:avLst/>
          </a:prstGeom>
          <a:noFill/>
          <a:ln/>
        </p:spPr>
        <p:txBody>
          <a:bodyPr wrap="square" rtlCol="0" anchor="ctr"/>
          <a:lstStyle/>
          <a:p>
            <a:pPr algn="ctr" indent="0" marL="0">
              <a:buNone/>
            </a:pPr>
            <a:r>
              <a:rPr lang="en-US" sz="2000" b="1" dirty="0">
                <a:solidFill>
                  <a:srgbClr val="E8871E"/>
                </a:solidFill>
                <a:latin typeface="Cambria" pitchFamily="34" charset="0"/>
                <a:ea typeface="Cambria" pitchFamily="34" charset="-122"/>
                <a:cs typeface="Cambria" pitchFamily="34" charset="-120"/>
              </a:rPr>
              <a:t>0.08–0.09</a:t>
            </a:r>
            <a:endParaRPr lang="en-US" sz="2000" dirty="0"/>
          </a:p>
        </p:txBody>
      </p:sp>
      <p:sp>
        <p:nvSpPr>
          <p:cNvPr id="7" name="Text 4"/>
          <p:cNvSpPr/>
          <p:nvPr/>
        </p:nvSpPr>
        <p:spPr>
          <a:xfrm>
            <a:off x="9692640" y="2176272"/>
            <a:ext cx="1920240" cy="548640"/>
          </a:xfrm>
          <a:prstGeom prst="rect">
            <a:avLst/>
          </a:prstGeom>
          <a:noFill/>
          <a:ln/>
        </p:spPr>
        <p:txBody>
          <a:bodyPr wrap="square" rtlCol="0" anchor="t"/>
          <a:lstStyle/>
          <a:p>
            <a:pPr algn="ctr" indent="0" marL="0">
              <a:buNone/>
            </a:pPr>
            <a:r>
              <a:rPr lang="en-US" sz="950" dirty="0">
                <a:solidFill>
                  <a:srgbClr val="CFE0F0"/>
                </a:solidFill>
                <a:latin typeface="Calibri" pitchFamily="34" charset="0"/>
                <a:ea typeface="Calibri" pitchFamily="34" charset="-122"/>
                <a:cs typeface="Calibri" pitchFamily="34" charset="-120"/>
              </a:rPr>
              <a:t>Health-Index RMSE</a:t>
            </a:r>
            <a:endParaRPr lang="en-US" sz="950" dirty="0"/>
          </a:p>
          <a:p>
            <a:pPr algn="ctr" indent="0" marL="0">
              <a:buNone/>
            </a:pPr>
            <a:r>
              <a:rPr lang="en-US" sz="950" dirty="0">
                <a:solidFill>
                  <a:srgbClr val="CFE0F0"/>
                </a:solidFill>
                <a:latin typeface="Calibri" pitchFamily="34" charset="0"/>
                <a:ea typeface="Calibri" pitchFamily="34" charset="-122"/>
                <a:cs typeface="Calibri" pitchFamily="34" charset="-120"/>
              </a:rPr>
              <a:t>(0–1 scale), fleet-wide</a:t>
            </a:r>
            <a:endParaRPr lang="en-US" sz="950" dirty="0"/>
          </a:p>
        </p:txBody>
      </p:sp>
      <p:sp>
        <p:nvSpPr>
          <p:cNvPr id="8" name="Shape 5"/>
          <p:cNvSpPr/>
          <p:nvPr/>
        </p:nvSpPr>
        <p:spPr>
          <a:xfrm>
            <a:off x="9601200" y="3017520"/>
            <a:ext cx="2103120" cy="1234440"/>
          </a:xfrm>
          <a:prstGeom prst="roundRect">
            <a:avLst>
              <a:gd name="adj" fmla="val 5926"/>
            </a:avLst>
          </a:prstGeom>
          <a:solidFill>
            <a:srgbClr val="0B2545"/>
          </a:solidFill>
          <a:ln/>
        </p:spPr>
      </p:sp>
      <p:sp>
        <p:nvSpPr>
          <p:cNvPr id="9" name="Text 6"/>
          <p:cNvSpPr/>
          <p:nvPr/>
        </p:nvSpPr>
        <p:spPr>
          <a:xfrm>
            <a:off x="9601200" y="3127248"/>
            <a:ext cx="2103120" cy="502920"/>
          </a:xfrm>
          <a:prstGeom prst="rect">
            <a:avLst/>
          </a:prstGeom>
          <a:noFill/>
          <a:ln/>
        </p:spPr>
        <p:txBody>
          <a:bodyPr wrap="square" rtlCol="0" anchor="ctr"/>
          <a:lstStyle/>
          <a:p>
            <a:pPr algn="ctr" indent="0" marL="0">
              <a:buNone/>
            </a:pPr>
            <a:r>
              <a:rPr lang="en-US" sz="2000" b="1" dirty="0">
                <a:solidFill>
                  <a:srgbClr val="E8871E"/>
                </a:solidFill>
                <a:latin typeface="Cambria" pitchFamily="34" charset="0"/>
                <a:ea typeface="Cambria" pitchFamily="34" charset="-122"/>
                <a:cs typeface="Cambria" pitchFamily="34" charset="-120"/>
              </a:rPr>
              <a:t>0.79 ± 0.02</a:t>
            </a:r>
            <a:endParaRPr lang="en-US" sz="2000" dirty="0"/>
          </a:p>
        </p:txBody>
      </p:sp>
      <p:sp>
        <p:nvSpPr>
          <p:cNvPr id="10" name="Text 7"/>
          <p:cNvSpPr/>
          <p:nvPr/>
        </p:nvSpPr>
        <p:spPr>
          <a:xfrm>
            <a:off x="9692640" y="3639312"/>
            <a:ext cx="1920240" cy="548640"/>
          </a:xfrm>
          <a:prstGeom prst="rect">
            <a:avLst/>
          </a:prstGeom>
          <a:noFill/>
          <a:ln/>
        </p:spPr>
        <p:txBody>
          <a:bodyPr wrap="square" rtlCol="0" anchor="t"/>
          <a:lstStyle/>
          <a:p>
            <a:pPr algn="ctr" indent="0" marL="0">
              <a:buNone/>
            </a:pPr>
            <a:r>
              <a:rPr lang="en-US" sz="950" dirty="0">
                <a:solidFill>
                  <a:srgbClr val="CFE0F0"/>
                </a:solidFill>
                <a:latin typeface="Calibri" pitchFamily="34" charset="0"/>
                <a:ea typeface="Calibri" pitchFamily="34" charset="-122"/>
                <a:cs typeface="Calibri" pitchFamily="34" charset="-120"/>
              </a:rPr>
              <a:t>Mean ESS / N — particle</a:t>
            </a:r>
            <a:endParaRPr lang="en-US" sz="950" dirty="0"/>
          </a:p>
          <a:p>
            <a:pPr algn="ctr" indent="0" marL="0">
              <a:buNone/>
            </a:pPr>
            <a:r>
              <a:rPr lang="en-US" sz="950" dirty="0">
                <a:solidFill>
                  <a:srgbClr val="CFE0F0"/>
                </a:solidFill>
                <a:latin typeface="Calibri" pitchFamily="34" charset="0"/>
                <a:ea typeface="Calibri" pitchFamily="34" charset="-122"/>
                <a:cs typeface="Calibri" pitchFamily="34" charset="-120"/>
              </a:rPr>
              <a:t>cloud stays diverse</a:t>
            </a:r>
            <a:endParaRPr lang="en-US" sz="950" dirty="0"/>
          </a:p>
        </p:txBody>
      </p:sp>
      <p:sp>
        <p:nvSpPr>
          <p:cNvPr id="11" name="Text 8"/>
          <p:cNvSpPr/>
          <p:nvPr/>
        </p:nvSpPr>
        <p:spPr>
          <a:xfrm>
            <a:off x="502920" y="5806440"/>
            <a:ext cx="8869680" cy="640080"/>
          </a:xfrm>
          <a:prstGeom prst="rect">
            <a:avLst/>
          </a:prstGeom>
          <a:noFill/>
          <a:ln/>
        </p:spPr>
        <p:txBody>
          <a:bodyPr wrap="square" rtlCol="0" anchor="t"/>
          <a:lstStyle/>
          <a:p>
            <a:pPr indent="0" marL="0">
              <a:buNone/>
            </a:pPr>
            <a:r>
              <a:rPr lang="en-US" sz="1050" i="1" dirty="0">
                <a:solidFill>
                  <a:srgbClr val="5B6B85"/>
                </a:solidFill>
                <a:latin typeface="Calibri" pitchFamily="34" charset="0"/>
                <a:ea typeface="Calibri" pitchFamily="34" charset="-122"/>
                <a:cs typeface="Calibri" pitchFamily="34" charset="-120"/>
              </a:rPr>
              <a:t>Figure 4.8 (thesis) — one-shot library, FD001: best (engine 76, left) vs. worst-tracked (engine 1, right) test engine. Even the worst case tracks health closely; its error shows up only in the RUL projection below.</a:t>
            </a:r>
            <a:endParaRPr lang="en-US" sz="1050" dirty="0"/>
          </a:p>
        </p:txBody>
      </p:sp>
      <p:sp>
        <p:nvSpPr>
          <p:cNvPr id="12" name="Text 9"/>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Accuracy and Calibration Improve Together</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 y="1417320"/>
          <a:ext cx="7680960" cy="1737360"/>
        </p:xfrm>
        <a:graphic>
          <a:graphicData uri="http://schemas.openxmlformats.org/drawingml/2006/table">
            <a:tbl>
              <a:tblPr/>
              <a:tblGrid>
                <a:gridCol w="2377440"/>
                <a:gridCol w="1325880"/>
                <a:gridCol w="1325880"/>
                <a:gridCol w="1325880"/>
                <a:gridCol w="1325880"/>
              </a:tblGrid>
              <a:tr h="438912">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FD001 RMSE</a:t>
                      </a:r>
                      <a:endParaRPr lang="en-US" sz="11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FD001 Coverage</a:t>
                      </a:r>
                      <a:endParaRPr lang="en-US" sz="11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FD003 RMSE</a:t>
                      </a:r>
                      <a:endParaRPr lang="en-US" sz="11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FD003 Coverage</a:t>
                      </a:r>
                      <a:endParaRPr lang="en-US" sz="11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0B2545"/>
                    </a:solidFill>
                  </a:tcPr>
                </a:tc>
              </a:tr>
              <a:tr h="438912">
                <a:tc>
                  <a:txBody>
                    <a:bodyPr/>
                    <a:lstStyle/>
                    <a:p>
                      <a:pPr algn="l" indent="0" marL="0">
                        <a:buNone/>
                      </a:pPr>
                      <a:r>
                        <a:rPr lang="en-US" sz="1250" dirty="0">
                          <a:solidFill>
                            <a:srgbClr val="16233B"/>
                          </a:solidFill>
                          <a:latin typeface="Calibri" pitchFamily="34" charset="0"/>
                          <a:ea typeface="Calibri" pitchFamily="34" charset="-122"/>
                          <a:cs typeface="Calibri" pitchFamily="34" charset="-120"/>
                        </a:rPr>
                        <a:t>Fixed parameters</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0F5FB"/>
                    </a:solidFill>
                  </a:tcPr>
                </a:tc>
                <a:tc>
                  <a:txBody>
                    <a:bodyPr/>
                    <a:lstStyle/>
                    <a:p>
                      <a:pPr algn="ctr" indent="0" marL="0">
                        <a:buNone/>
                      </a:pPr>
                      <a:r>
                        <a:rPr lang="en-US" sz="1250" dirty="0">
                          <a:solidFill>
                            <a:srgbClr val="16233B"/>
                          </a:solidFill>
                          <a:latin typeface="Calibri" pitchFamily="34" charset="0"/>
                          <a:ea typeface="Calibri" pitchFamily="34" charset="-122"/>
                          <a:cs typeface="Calibri" pitchFamily="34" charset="-120"/>
                        </a:rPr>
                        <a:t>98.3</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0F5FB"/>
                    </a:solidFill>
                  </a:tcPr>
                </a:tc>
                <a:tc>
                  <a:txBody>
                    <a:bodyPr/>
                    <a:lstStyle/>
                    <a:p>
                      <a:pPr algn="ctr" indent="0" marL="0">
                        <a:buNone/>
                      </a:pPr>
                      <a:r>
                        <a:rPr lang="en-US" sz="1250" dirty="0">
                          <a:solidFill>
                            <a:srgbClr val="16233B"/>
                          </a:solidFill>
                          <a:latin typeface="Calibri" pitchFamily="34" charset="0"/>
                          <a:ea typeface="Calibri" pitchFamily="34" charset="-122"/>
                          <a:cs typeface="Calibri" pitchFamily="34" charset="-120"/>
                        </a:rPr>
                        <a:t>0.49</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0F5FB"/>
                    </a:solidFill>
                  </a:tcPr>
                </a:tc>
                <a:tc>
                  <a:txBody>
                    <a:bodyPr/>
                    <a:lstStyle/>
                    <a:p>
                      <a:pPr algn="ctr" indent="0" marL="0">
                        <a:buNone/>
                      </a:pPr>
                      <a:r>
                        <a:rPr lang="en-US" sz="1250" dirty="0">
                          <a:solidFill>
                            <a:srgbClr val="16233B"/>
                          </a:solidFill>
                          <a:latin typeface="Calibri" pitchFamily="34" charset="0"/>
                          <a:ea typeface="Calibri" pitchFamily="34" charset="-122"/>
                          <a:cs typeface="Calibri" pitchFamily="34" charset="-120"/>
                        </a:rPr>
                        <a:t>160.4</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0F5FB"/>
                    </a:solidFill>
                  </a:tcPr>
                </a:tc>
                <a:tc>
                  <a:txBody>
                    <a:bodyPr/>
                    <a:lstStyle/>
                    <a:p>
                      <a:pPr algn="ctr" indent="0" marL="0">
                        <a:buNone/>
                      </a:pPr>
                      <a:r>
                        <a:rPr lang="en-US" sz="1250" dirty="0">
                          <a:solidFill>
                            <a:srgbClr val="16233B"/>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0F5FB"/>
                    </a:solidFill>
                  </a:tcPr>
                </a:tc>
              </a:tr>
              <a:tr h="438912">
                <a:tc>
                  <a:txBody>
                    <a:bodyPr/>
                    <a:lstStyle/>
                    <a:p>
                      <a:pPr algn="l" indent="0" marL="0">
                        <a:buNone/>
                      </a:pPr>
                      <a:r>
                        <a:rPr lang="en-US" sz="1250" dirty="0">
                          <a:solidFill>
                            <a:srgbClr val="16233B"/>
                          </a:solidFill>
                          <a:latin typeface="Calibri" pitchFamily="34" charset="0"/>
                          <a:ea typeface="Calibri" pitchFamily="34" charset="-122"/>
                          <a:cs typeface="Calibri" pitchFamily="34" charset="-120"/>
                        </a:rPr>
                        <a:t>PMMH</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6233B"/>
                          </a:solidFill>
                          <a:latin typeface="Calibri" pitchFamily="34" charset="0"/>
                          <a:ea typeface="Calibri" pitchFamily="34" charset="-122"/>
                          <a:cs typeface="Calibri" pitchFamily="34" charset="-120"/>
                        </a:rPr>
                        <a:t>52.9</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6233B"/>
                          </a:solidFill>
                          <a:latin typeface="Calibri" pitchFamily="34" charset="0"/>
                          <a:ea typeface="Calibri" pitchFamily="34" charset="-122"/>
                          <a:cs typeface="Calibri" pitchFamily="34" charset="-120"/>
                        </a:rPr>
                        <a:t>0.68</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6233B"/>
                          </a:solidFill>
                          <a:latin typeface="Calibri" pitchFamily="34" charset="0"/>
                          <a:ea typeface="Calibri" pitchFamily="34" charset="-122"/>
                          <a:cs typeface="Calibri" pitchFamily="34" charset="-120"/>
                        </a:rPr>
                        <a:t>104.6</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6233B"/>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FFFFFF"/>
                    </a:solidFill>
                  </a:tcPr>
                </a:tc>
              </a:tr>
              <a:tr h="438912">
                <a:tc>
                  <a:txBody>
                    <a:bodyPr/>
                    <a:lstStyle/>
                    <a:p>
                      <a:pPr algn="l" indent="0" marL="0">
                        <a:buNone/>
                      </a:pPr>
                      <a:r>
                        <a:rPr lang="en-US" sz="1250" b="1" dirty="0">
                          <a:solidFill>
                            <a:srgbClr val="0B2545"/>
                          </a:solidFill>
                          <a:latin typeface="Calibri" pitchFamily="34" charset="0"/>
                          <a:ea typeface="Calibri" pitchFamily="34" charset="-122"/>
                          <a:cs typeface="Calibri" pitchFamily="34" charset="-120"/>
                        </a:rPr>
                        <a:t>Library, one-shot (final)</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CFE0F0"/>
                    </a:solidFill>
                  </a:tcPr>
                </a:tc>
                <a:tc>
                  <a:txBody>
                    <a:bodyPr/>
                    <a:lstStyle/>
                    <a:p>
                      <a:pPr algn="ctr" indent="0" marL="0">
                        <a:buNone/>
                      </a:pPr>
                      <a:r>
                        <a:rPr lang="en-US" sz="1250" b="1" dirty="0">
                          <a:solidFill>
                            <a:srgbClr val="0B2545"/>
                          </a:solidFill>
                          <a:latin typeface="Calibri" pitchFamily="34" charset="0"/>
                          <a:ea typeface="Calibri" pitchFamily="34" charset="-122"/>
                          <a:cs typeface="Calibri" pitchFamily="34" charset="-120"/>
                        </a:rPr>
                        <a:t>44.3</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CFE0F0"/>
                    </a:solidFill>
                  </a:tcPr>
                </a:tc>
                <a:tc>
                  <a:txBody>
                    <a:bodyPr/>
                    <a:lstStyle/>
                    <a:p>
                      <a:pPr algn="ctr" indent="0" marL="0">
                        <a:buNone/>
                      </a:pPr>
                      <a:r>
                        <a:rPr lang="en-US" sz="1250" b="1" dirty="0">
                          <a:solidFill>
                            <a:srgbClr val="0B2545"/>
                          </a:solidFill>
                          <a:latin typeface="Calibri" pitchFamily="34" charset="0"/>
                          <a:ea typeface="Calibri" pitchFamily="34" charset="-122"/>
                          <a:cs typeface="Calibri" pitchFamily="34" charset="-120"/>
                        </a:rPr>
                        <a:t>0.75</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CFE0F0"/>
                    </a:solidFill>
                  </a:tcPr>
                </a:tc>
                <a:tc>
                  <a:txBody>
                    <a:bodyPr/>
                    <a:lstStyle/>
                    <a:p>
                      <a:pPr algn="ctr" indent="0" marL="0">
                        <a:buNone/>
                      </a:pPr>
                      <a:r>
                        <a:rPr lang="en-US" sz="1250" b="1" dirty="0">
                          <a:solidFill>
                            <a:srgbClr val="0B2545"/>
                          </a:solidFill>
                          <a:latin typeface="Calibri" pitchFamily="34" charset="0"/>
                          <a:ea typeface="Calibri" pitchFamily="34" charset="-122"/>
                          <a:cs typeface="Calibri" pitchFamily="34" charset="-120"/>
                        </a:rPr>
                        <a:t>100.1</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CFE0F0"/>
                    </a:solidFill>
                  </a:tcPr>
                </a:tc>
                <a:tc>
                  <a:txBody>
                    <a:bodyPr/>
                    <a:lstStyle/>
                    <a:p>
                      <a:pPr algn="ctr" indent="0" marL="0">
                        <a:buNone/>
                      </a:pPr>
                      <a:r>
                        <a:rPr lang="en-US" sz="1250" b="1" dirty="0">
                          <a:solidFill>
                            <a:srgbClr val="0B2545"/>
                          </a:solidFill>
                          <a:latin typeface="Calibri" pitchFamily="34" charset="0"/>
                          <a:ea typeface="Calibri" pitchFamily="34" charset="-122"/>
                          <a:cs typeface="Calibri" pitchFamily="34" charset="-120"/>
                        </a:rPr>
                        <a:t>0.99</a:t>
                      </a:r>
                      <a:endParaRPr lang="en-US" sz="1250" dirty="0">
                        <a:latin typeface="Calibri" charset="0"/>
                        <a:ea typeface="Calibri" charset="0"/>
                        <a:cs typeface="Calibri" charset="0"/>
                      </a:endParaRPr>
                    </a:p>
                  </a:txBody>
                  <a:tcPr marL="91440" marR="91440" marT="45720" marB="45720">
                    <a:lnL w="9525" cap="flat" cmpd="sng" algn="ctr">
                      <a:solidFill>
                        <a:srgbClr val="DCE6F0"/>
                      </a:solidFill>
                      <a:prstDash val="solid"/>
                      <a:round/>
                      <a:headEnd type="none" w="med" len="med"/>
                      <a:tailEnd type="none" w="med" len="med"/>
                    </a:lnL>
                    <a:lnR w="9525" cap="flat" cmpd="sng" algn="ctr">
                      <a:solidFill>
                        <a:srgbClr val="DCE6F0"/>
                      </a:solidFill>
                      <a:prstDash val="solid"/>
                      <a:round/>
                      <a:headEnd type="none" w="med" len="med"/>
                      <a:tailEnd type="none" w="med" len="med"/>
                    </a:lnR>
                    <a:lnT w="9525" cap="flat" cmpd="sng" algn="ctr">
                      <a:solidFill>
                        <a:srgbClr val="DCE6F0"/>
                      </a:solidFill>
                      <a:prstDash val="solid"/>
                      <a:round/>
                      <a:headEnd type="none" w="med" len="med"/>
                      <a:tailEnd type="none" w="med" len="med"/>
                    </a:lnT>
                    <a:lnB w="9525" cap="flat" cmpd="sng" algn="ctr">
                      <a:solidFill>
                        <a:srgbClr val="DCE6F0"/>
                      </a:solidFill>
                      <a:prstDash val="solid"/>
                      <a:round/>
                      <a:headEnd type="none" w="med" len="med"/>
                      <a:tailEnd type="none" w="med" len="med"/>
                    </a:lnB>
                    <a:solidFill>
                      <a:srgbClr val="CFE0F0"/>
                    </a:solidFill>
                  </a:tcPr>
                </a:tc>
              </a:tr>
            </a:tbl>
          </a:graphicData>
        </a:graphic>
      </p:graphicFrame>
      <p:sp>
        <p:nvSpPr>
          <p:cNvPr id="5" name="Text 2"/>
          <p:cNvSpPr/>
          <p:nvPr/>
        </p:nvSpPr>
        <p:spPr>
          <a:xfrm>
            <a:off x="594360" y="3337560"/>
            <a:ext cx="7680960" cy="914400"/>
          </a:xfrm>
          <a:prstGeom prst="rect">
            <a:avLst/>
          </a:prstGeom>
          <a:noFill/>
          <a:ln/>
        </p:spPr>
        <p:txBody>
          <a:bodyPr wrap="square" rtlCol="0" anchor="t"/>
          <a:lstStyle/>
          <a:p>
            <a:pPr indent="0" marL="0">
              <a:lnSpc>
                <a:spcPct val="130000"/>
              </a:lnSpc>
              <a:buNone/>
            </a:pPr>
            <a:r>
              <a:rPr lang="en-US" sz="1350" b="1" dirty="0">
                <a:solidFill>
                  <a:srgbClr val="16233B"/>
                </a:solidFill>
                <a:latin typeface="Calibri" pitchFamily="34" charset="0"/>
                <a:ea typeface="Calibri" pitchFamily="34" charset="-122"/>
                <a:cs typeface="Calibri" pitchFamily="34" charset="-120"/>
              </a:rPr>
              <a:t>RMSE falls (cycles): </a:t>
            </a:r>
            <a:pPr indent="0" marL="0">
              <a:lnSpc>
                <a:spcPct val="130000"/>
              </a:lnSpc>
              <a:buNone/>
            </a:pPr>
            <a:r>
              <a:rPr lang="en-US" sz="1350" b="1" dirty="0">
                <a:solidFill>
                  <a:srgbClr val="E8871E"/>
                </a:solidFill>
                <a:latin typeface="Calibri" pitchFamily="34" charset="0"/>
                <a:ea typeface="Calibri" pitchFamily="34" charset="-122"/>
                <a:cs typeface="Calibri" pitchFamily="34" charset="-120"/>
              </a:rPr>
              <a:t>98.3 → 52.9 → 44.3</a:t>
            </a:r>
            <a:pPr indent="0" marL="0">
              <a:lnSpc>
                <a:spcPct val="130000"/>
              </a:lnSpc>
              <a:buNone/>
            </a:pPr>
            <a:r>
              <a:rPr lang="en-US" sz="1350" dirty="0">
                <a:solidFill>
                  <a:srgbClr val="16233B"/>
                </a:solidFill>
                <a:latin typeface="Calibri" pitchFamily="34" charset="0"/>
                <a:ea typeface="Calibri" pitchFamily="34" charset="-122"/>
                <a:cs typeface="Calibri" pitchFamily="34" charset="-120"/>
              </a:rPr>
              <a:t>  (FD001)
</a:t>
            </a:r>
            <a:pPr indent="0" marL="0">
              <a:lnSpc>
                <a:spcPct val="130000"/>
              </a:lnSpc>
              <a:buNone/>
            </a:pPr>
            <a:r>
              <a:rPr lang="en-US" sz="1350" b="1" dirty="0">
                <a:solidFill>
                  <a:srgbClr val="16233B"/>
                </a:solidFill>
                <a:latin typeface="Calibri" pitchFamily="34" charset="0"/>
                <a:ea typeface="Calibri" pitchFamily="34" charset="-122"/>
                <a:cs typeface="Calibri" pitchFamily="34" charset="-120"/>
              </a:rPr>
              <a:t>Coverage rises: </a:t>
            </a:r>
            <a:pPr indent="0" marL="0">
              <a:lnSpc>
                <a:spcPct val="130000"/>
              </a:lnSpc>
              <a:buNone/>
            </a:pPr>
            <a:r>
              <a:rPr lang="en-US" sz="1350" b="1" dirty="0">
                <a:solidFill>
                  <a:srgbClr val="1C7293"/>
                </a:solidFill>
                <a:latin typeface="Calibri" pitchFamily="34" charset="0"/>
                <a:ea typeface="Calibri" pitchFamily="34" charset="-122"/>
                <a:cs typeface="Calibri" pitchFamily="34" charset="-120"/>
              </a:rPr>
              <a:t>0.49 → 0.68 → 0.75</a:t>
            </a:r>
            <a:pPr indent="0" marL="0">
              <a:lnSpc>
                <a:spcPct val="130000"/>
              </a:lnSpc>
              <a:buNone/>
            </a:pPr>
            <a:r>
              <a:rPr lang="en-US" sz="1350" dirty="0">
                <a:solidFill>
                  <a:srgbClr val="16233B"/>
                </a:solidFill>
                <a:latin typeface="Calibri" pitchFamily="34" charset="0"/>
                <a:ea typeface="Calibri" pitchFamily="34" charset="-122"/>
                <a:cs typeface="Calibri" pitchFamily="34" charset="-120"/>
              </a:rPr>
              <a:t>  (FD001, nominal target 0.90)</a:t>
            </a:r>
            <a:endParaRPr lang="en-US" sz="1350" dirty="0"/>
          </a:p>
        </p:txBody>
      </p:sp>
      <p:sp>
        <p:nvSpPr>
          <p:cNvPr id="6" name="Text 3"/>
          <p:cNvSpPr/>
          <p:nvPr/>
        </p:nvSpPr>
        <p:spPr>
          <a:xfrm>
            <a:off x="594360" y="4343400"/>
            <a:ext cx="7680960" cy="457200"/>
          </a:xfrm>
          <a:prstGeom prst="rect">
            <a:avLst/>
          </a:prstGeom>
          <a:noFill/>
          <a:ln/>
        </p:spPr>
        <p:txBody>
          <a:bodyPr wrap="square" rtlCol="0" anchor="ctr"/>
          <a:lstStyle/>
          <a:p>
            <a:pPr indent="0" marL="0">
              <a:buNone/>
            </a:pPr>
            <a:r>
              <a:rPr lang="en-US" sz="1250" i="1" dirty="0">
                <a:solidFill>
                  <a:srgbClr val="5B6B85"/>
                </a:solidFill>
                <a:latin typeface="Calibri" pitchFamily="34" charset="0"/>
                <a:ea typeface="Calibri" pitchFamily="34" charset="-122"/>
                <a:cs typeface="Calibri" pitchFamily="34" charset="-120"/>
              </a:rPr>
              <a:t>Every fix improves both accuracy and calibration at once — none trades one for the other.</a:t>
            </a:r>
            <a:endParaRPr lang="en-US" sz="1250" dirty="0"/>
          </a:p>
        </p:txBody>
      </p:sp>
      <p:graphicFrame>
        <p:nvGraphicFramePr>
          <p:cNvPr id="7" name="Chart 0" descr=""/>
          <p:cNvGraphicFramePr/>
          <p:nvPr/>
        </p:nvGraphicFramePr>
        <p:xfrm>
          <a:off x="8503920" y="1371600"/>
          <a:ext cx="3108960" cy="329184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732520" y="1823575"/>
            <a:ext cx="2743200" cy="0"/>
          </a:xfrm>
          <a:prstGeom prst="line">
            <a:avLst/>
          </a:prstGeom>
          <a:noFill/>
          <a:ln w="12700">
            <a:solidFill>
              <a:srgbClr val="5B6B85"/>
            </a:solidFill>
            <a:prstDash val="dash"/>
          </a:ln>
        </p:spPr>
      </p:sp>
      <p:sp>
        <p:nvSpPr>
          <p:cNvPr id="9" name="Text 5"/>
          <p:cNvSpPr/>
          <p:nvPr/>
        </p:nvSpPr>
        <p:spPr>
          <a:xfrm>
            <a:off x="8732520" y="1585831"/>
            <a:ext cx="1828800" cy="228600"/>
          </a:xfrm>
          <a:prstGeom prst="rect">
            <a:avLst/>
          </a:prstGeom>
          <a:noFill/>
          <a:ln/>
        </p:spPr>
        <p:txBody>
          <a:bodyPr wrap="square" rtlCol="0" anchor="ctr"/>
          <a:lstStyle/>
          <a:p>
            <a:pPr indent="0" marL="0">
              <a:buNone/>
            </a:pPr>
            <a:r>
              <a:rPr lang="en-US" sz="850" dirty="0">
                <a:solidFill>
                  <a:srgbClr val="5B6B85"/>
                </a:solidFill>
                <a:latin typeface="Calibri" pitchFamily="34" charset="0"/>
                <a:ea typeface="Calibri" pitchFamily="34" charset="-122"/>
                <a:cs typeface="Calibri" pitchFamily="34" charset="-120"/>
              </a:rPr>
              <a:t>nominal 0.90</a:t>
            </a:r>
            <a:endParaRPr lang="en-US" sz="850" dirty="0"/>
          </a:p>
        </p:txBody>
      </p:sp>
      <p:sp>
        <p:nvSpPr>
          <p:cNvPr id="10" name="Text 6"/>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vs. Baseline: the Honest Trade-off</a:t>
            </a:r>
            <a:endParaRPr lang="en-US" sz="3000" dirty="0"/>
          </a:p>
        </p:txBody>
      </p:sp>
      <p:graphicFrame>
        <p:nvGraphicFramePr>
          <p:cNvPr id="4" name="Chart 0" descr=""/>
          <p:cNvGraphicFramePr/>
          <p:nvPr/>
        </p:nvGraphicFramePr>
        <p:xfrm>
          <a:off x="548640" y="1417320"/>
          <a:ext cx="594360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720840" y="1463040"/>
            <a:ext cx="4937760" cy="4480560"/>
          </a:xfrm>
          <a:prstGeom prst="rect">
            <a:avLst/>
          </a:prstGeom>
          <a:noFill/>
          <a:ln/>
        </p:spPr>
        <p:txBody>
          <a:bodyPr wrap="square" rtlCol="0" anchor="t"/>
          <a:lstStyle/>
          <a:p>
            <a:pPr indent="0" marL="0">
              <a:lnSpc>
                <a:spcPct val="125000"/>
              </a:lnSpc>
              <a:buNone/>
            </a:pPr>
            <a:r>
              <a:rPr lang="en-US" sz="1350" dirty="0">
                <a:solidFill>
                  <a:srgbClr val="16233B"/>
                </a:solidFill>
                <a:latin typeface="Calibri" pitchFamily="34" charset="0"/>
                <a:ea typeface="Calibri" pitchFamily="34" charset="-122"/>
                <a:cs typeface="Calibri" pitchFamily="34" charset="-120"/>
              </a:rPr>
              <a:t>The linear-regression baseline is the sharper point predictor on both datasets.
</a:t>
            </a:r>
            <a:pPr indent="0" marL="0">
              <a:lnSpc>
                <a:spcPct val="125000"/>
              </a:lnSpc>
              <a:buNone/>
            </a:pPr>
            <a:r>
              <a:rPr lang="en-US" sz="1350" b="1" dirty="0">
                <a:solidFill>
                  <a:srgbClr val="E8871E"/>
                </a:solidFill>
                <a:latin typeface="Calibri" pitchFamily="34" charset="0"/>
                <a:ea typeface="Calibri" pitchFamily="34" charset="-122"/>
                <a:cs typeface="Calibri" pitchFamily="34" charset="-120"/>
              </a:rPr>
              <a:t>But it reports no interval at all.</a:t>
            </a:r>
            <a:pPr indent="0" marL="0">
              <a:lnSpc>
                <a:spcPct val="125000"/>
              </a:lnSpc>
              <a:buNone/>
            </a:pPr>
            <a:r>
              <a:rPr lang="en-US" sz="1350" dirty="0">
                <a:solidFill>
                  <a:srgbClr val="16233B"/>
                </a:solidFill>
                <a:latin typeface="Calibri" pitchFamily="34" charset="0"/>
                <a:ea typeface="Calibri" pitchFamily="34" charset="-122"/>
                <a:cs typeface="Calibri" pitchFamily="34" charset="-120"/>
              </a:rPr>
              <a:t> Asking whether its 90% interval covers the truth isn't a poor result — it isn't even a question that can be posed.
</a:t>
            </a:r>
            <a:pPr indent="0" marL="0">
              <a:lnSpc>
                <a:spcPct val="125000"/>
              </a:lnSpc>
              <a:buNone/>
            </a:pPr>
            <a:r>
              <a:rPr lang="en-US" sz="1350" dirty="0">
                <a:solidFill>
                  <a:srgbClr val="16233B"/>
                </a:solidFill>
                <a:latin typeface="Calibri" pitchFamily="34" charset="0"/>
                <a:ea typeface="Calibri" pitchFamily="34" charset="-122"/>
                <a:cs typeface="Calibri" pitchFamily="34" charset="-120"/>
              </a:rPr>
              <a:t>The filter concedes point accuracy and, in exchange, delivers a checkable, calibrated interval — </a:t>
            </a:r>
            <a:pPr indent="0" marL="0">
              <a:lnSpc>
                <a:spcPct val="125000"/>
              </a:lnSpc>
              <a:buNone/>
            </a:pPr>
            <a:r>
              <a:rPr lang="en-US" sz="1350" b="1" dirty="0">
                <a:solidFill>
                  <a:srgbClr val="1C7293"/>
                </a:solidFill>
                <a:latin typeface="Calibri" pitchFamily="34" charset="0"/>
                <a:ea typeface="Calibri" pitchFamily="34" charset="-122"/>
                <a:cs typeface="Calibri" pitchFamily="34" charset="-120"/>
              </a:rPr>
              <a:t>0.75 / 0.99 coverage</a:t>
            </a:r>
            <a:pPr indent="0" marL="0">
              <a:lnSpc>
                <a:spcPct val="125000"/>
              </a:lnSpc>
              <a:buNone/>
            </a:pPr>
            <a:r>
              <a:rPr lang="en-US" sz="1350" dirty="0">
                <a:solidFill>
                  <a:srgbClr val="16233B"/>
                </a:solidFill>
                <a:latin typeface="Calibri" pitchFamily="34" charset="0"/>
                <a:ea typeface="Calibri" pitchFamily="34" charset="-122"/>
                <a:cs typeface="Calibri" pitchFamily="34" charset="-120"/>
              </a:rPr>
              <a:t> — which is exactly the quantity a maintenance decision needs.</a:t>
            </a:r>
            <a:endParaRPr lang="en-US" sz="1350" dirty="0"/>
          </a:p>
        </p:txBody>
      </p:sp>
      <p:sp>
        <p:nvSpPr>
          <p:cNvPr id="6" name="Text 3"/>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HONEST ASSESSMENT</a:t>
            </a:r>
            <a:endParaRPr lang="en-US" sz="1100" dirty="0"/>
          </a:p>
        </p:txBody>
      </p:sp>
      <p:sp>
        <p:nvSpPr>
          <p:cNvPr id="3"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What's Left Imperfect</a:t>
            </a:r>
            <a:endParaRPr lang="en-US" sz="3000" dirty="0"/>
          </a:p>
        </p:txBody>
      </p:sp>
      <p:sp>
        <p:nvSpPr>
          <p:cNvPr id="4" name="Shape 2"/>
          <p:cNvSpPr/>
          <p:nvPr/>
        </p:nvSpPr>
        <p:spPr>
          <a:xfrm>
            <a:off x="594360" y="1417320"/>
            <a:ext cx="5349240" cy="1965960"/>
          </a:xfrm>
          <a:prstGeom prst="roundRect">
            <a:avLst>
              <a:gd name="adj" fmla="val 3721"/>
            </a:avLst>
          </a:prstGeom>
          <a:solidFill>
            <a:srgbClr val="FFFFFF"/>
          </a:solidFill>
          <a:ln w="15875">
            <a:solidFill>
              <a:srgbClr val="E8871E"/>
            </a:solidFill>
            <a:prstDash val="solid"/>
          </a:ln>
          <a:effectLst>
            <a:outerShdw sx="100000" sy="100000" kx="0" ky="0" algn="bl" rotWithShape="0" blurRad="50800" dist="25400" dir="5400000">
              <a:srgbClr val="9AAFC7">
                <a:alpha val="25000"/>
              </a:srgbClr>
            </a:outerShdw>
          </a:effectLst>
        </p:spPr>
      </p:sp>
      <p:sp>
        <p:nvSpPr>
          <p:cNvPr id="5" name="Text 3"/>
          <p:cNvSpPr/>
          <p:nvPr/>
        </p:nvSpPr>
        <p:spPr>
          <a:xfrm>
            <a:off x="850392" y="1581912"/>
            <a:ext cx="4837176" cy="457200"/>
          </a:xfrm>
          <a:prstGeom prst="rect">
            <a:avLst/>
          </a:prstGeom>
          <a:noFill/>
          <a:ln/>
        </p:spPr>
        <p:txBody>
          <a:bodyPr wrap="square"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FD001: mildly overconfident</a:t>
            </a:r>
            <a:endParaRPr lang="en-US" sz="1450" dirty="0"/>
          </a:p>
        </p:txBody>
      </p:sp>
      <p:sp>
        <p:nvSpPr>
          <p:cNvPr id="6" name="Text 4"/>
          <p:cNvSpPr/>
          <p:nvPr/>
        </p:nvSpPr>
        <p:spPr>
          <a:xfrm>
            <a:off x="850392" y="2039112"/>
            <a:ext cx="4837176" cy="1143000"/>
          </a:xfrm>
          <a:prstGeom prst="rect">
            <a:avLst/>
          </a:prstGeom>
          <a:noFill/>
          <a:ln/>
        </p:spPr>
        <p:txBody>
          <a:bodyPr wrap="square" rtlCol="0" anchor="t"/>
          <a:lstStyle/>
          <a:p>
            <a:pPr indent="0" marL="0">
              <a:lnSpc>
                <a:spcPct val="120000"/>
              </a:lnSpc>
              <a:buNone/>
            </a:pPr>
            <a:r>
              <a:rPr lang="en-US" sz="1200" dirty="0">
                <a:solidFill>
                  <a:srgbClr val="16233B"/>
                </a:solidFill>
                <a:latin typeface="Calibri" pitchFamily="34" charset="0"/>
                <a:ea typeface="Calibri" pitchFamily="34" charset="-122"/>
                <a:cs typeface="Calibri" pitchFamily="34" charset="-120"/>
              </a:rPr>
              <a:t>Coverage 0.75 vs nominal 0.90 — a single matched rate still can't capture every fast-degrading engine.</a:t>
            </a:r>
            <a:endParaRPr lang="en-US" sz="1200" dirty="0"/>
          </a:p>
        </p:txBody>
      </p:sp>
      <p:sp>
        <p:nvSpPr>
          <p:cNvPr id="7" name="Shape 5"/>
          <p:cNvSpPr/>
          <p:nvPr/>
        </p:nvSpPr>
        <p:spPr>
          <a:xfrm>
            <a:off x="6263640" y="1417320"/>
            <a:ext cx="5349240" cy="1965960"/>
          </a:xfrm>
          <a:prstGeom prst="roundRect">
            <a:avLst>
              <a:gd name="adj" fmla="val 3721"/>
            </a:avLst>
          </a:prstGeom>
          <a:solidFill>
            <a:srgbClr val="FFFFFF"/>
          </a:solidFill>
          <a:ln w="15875">
            <a:solidFill>
              <a:srgbClr val="E8871E"/>
            </a:solidFill>
            <a:prstDash val="solid"/>
          </a:ln>
          <a:effectLst>
            <a:outerShdw sx="100000" sy="100000" kx="0" ky="0" algn="bl" rotWithShape="0" blurRad="50800" dist="25400" dir="5400000">
              <a:srgbClr val="9AAFC7">
                <a:alpha val="25000"/>
              </a:srgbClr>
            </a:outerShdw>
          </a:effectLst>
        </p:spPr>
      </p:sp>
      <p:sp>
        <p:nvSpPr>
          <p:cNvPr id="8" name="Text 6"/>
          <p:cNvSpPr/>
          <p:nvPr/>
        </p:nvSpPr>
        <p:spPr>
          <a:xfrm>
            <a:off x="6519672" y="1581912"/>
            <a:ext cx="4837176" cy="457200"/>
          </a:xfrm>
          <a:prstGeom prst="rect">
            <a:avLst/>
          </a:prstGeom>
          <a:noFill/>
          <a:ln/>
        </p:spPr>
        <p:txBody>
          <a:bodyPr wrap="square"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FD003: over-conservative</a:t>
            </a:r>
            <a:endParaRPr lang="en-US" sz="1450" dirty="0"/>
          </a:p>
        </p:txBody>
      </p:sp>
      <p:sp>
        <p:nvSpPr>
          <p:cNvPr id="9" name="Text 7"/>
          <p:cNvSpPr/>
          <p:nvPr/>
        </p:nvSpPr>
        <p:spPr>
          <a:xfrm>
            <a:off x="6519672" y="2039112"/>
            <a:ext cx="4837176" cy="1143000"/>
          </a:xfrm>
          <a:prstGeom prst="rect">
            <a:avLst/>
          </a:prstGeom>
          <a:noFill/>
          <a:ln/>
        </p:spPr>
        <p:txBody>
          <a:bodyPr wrap="square" rtlCol="0" anchor="t"/>
          <a:lstStyle/>
          <a:p>
            <a:pPr indent="0" marL="0">
              <a:lnSpc>
                <a:spcPct val="120000"/>
              </a:lnSpc>
              <a:buNone/>
            </a:pPr>
            <a:r>
              <a:rPr lang="en-US" sz="1200" dirty="0">
                <a:solidFill>
                  <a:srgbClr val="16233B"/>
                </a:solidFill>
                <a:latin typeface="Calibri" pitchFamily="34" charset="0"/>
                <a:ea typeface="Calibri" pitchFamily="34" charset="-122"/>
                <a:cs typeface="Calibri" pitchFamily="34" charset="-120"/>
              </a:rPr>
              <a:t>Coverage 0.99 — longer horizons + noisier library matches under two fault modes widen the interval.</a:t>
            </a:r>
            <a:endParaRPr lang="en-US" sz="1200" dirty="0"/>
          </a:p>
        </p:txBody>
      </p:sp>
      <p:sp>
        <p:nvSpPr>
          <p:cNvPr id="10" name="Shape 8"/>
          <p:cNvSpPr/>
          <p:nvPr/>
        </p:nvSpPr>
        <p:spPr>
          <a:xfrm>
            <a:off x="594360" y="3657600"/>
            <a:ext cx="5349240" cy="1965960"/>
          </a:xfrm>
          <a:prstGeom prst="roundRect">
            <a:avLst>
              <a:gd name="adj" fmla="val 3721"/>
            </a:avLst>
          </a:prstGeom>
          <a:solidFill>
            <a:srgbClr val="FFFFFF"/>
          </a:solidFill>
          <a:ln w="15875">
            <a:solidFill>
              <a:srgbClr val="E8871E"/>
            </a:solidFill>
            <a:prstDash val="solid"/>
          </a:ln>
          <a:effectLst>
            <a:outerShdw sx="100000" sy="100000" kx="0" ky="0" algn="bl" rotWithShape="0" blurRad="50800" dist="25400" dir="5400000">
              <a:srgbClr val="9AAFC7">
                <a:alpha val="25000"/>
              </a:srgbClr>
            </a:outerShdw>
          </a:effectLst>
        </p:spPr>
      </p:sp>
      <p:sp>
        <p:nvSpPr>
          <p:cNvPr id="11" name="Text 9"/>
          <p:cNvSpPr/>
          <p:nvPr/>
        </p:nvSpPr>
        <p:spPr>
          <a:xfrm>
            <a:off x="850392" y="3822192"/>
            <a:ext cx="4837176" cy="457200"/>
          </a:xfrm>
          <a:prstGeom prst="rect">
            <a:avLst/>
          </a:prstGeom>
          <a:noFill/>
          <a:ln/>
        </p:spPr>
        <p:txBody>
          <a:bodyPr wrap="square"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PMMH convergence is partial</a:t>
            </a:r>
            <a:endParaRPr lang="en-US" sz="1450" dirty="0"/>
          </a:p>
        </p:txBody>
      </p:sp>
      <p:sp>
        <p:nvSpPr>
          <p:cNvPr id="12" name="Text 10"/>
          <p:cNvSpPr/>
          <p:nvPr/>
        </p:nvSpPr>
        <p:spPr>
          <a:xfrm>
            <a:off x="850392" y="4279392"/>
            <a:ext cx="4837176" cy="1143000"/>
          </a:xfrm>
          <a:prstGeom prst="rect">
            <a:avLst/>
          </a:prstGeom>
          <a:noFill/>
          <a:ln/>
        </p:spPr>
        <p:txBody>
          <a:bodyPr wrap="square" rtlCol="0" anchor="t"/>
          <a:lstStyle/>
          <a:p>
            <a:pPr indent="0" marL="0">
              <a:lnSpc>
                <a:spcPct val="120000"/>
              </a:lnSpc>
              <a:buNone/>
            </a:pPr>
            <a:r>
              <a:rPr lang="en-US" sz="1200" dirty="0">
                <a:solidFill>
                  <a:srgbClr val="16233B"/>
                </a:solidFill>
                <a:latin typeface="Calibri" pitchFamily="34" charset="0"/>
                <a:ea typeface="Calibri" pitchFamily="34" charset="-122"/>
                <a:cs typeface="Calibri" pitchFamily="34" charset="-120"/>
              </a:rPr>
              <a:t>Chains converged on 31/100 (FD001) and 8/100 (FD003) engines; regression fallback used otherwise.</a:t>
            </a:r>
            <a:endParaRPr lang="en-US" sz="1200" dirty="0"/>
          </a:p>
        </p:txBody>
      </p:sp>
      <p:sp>
        <p:nvSpPr>
          <p:cNvPr id="13" name="Shape 11"/>
          <p:cNvSpPr/>
          <p:nvPr/>
        </p:nvSpPr>
        <p:spPr>
          <a:xfrm>
            <a:off x="6263640" y="3657600"/>
            <a:ext cx="5349240" cy="1965960"/>
          </a:xfrm>
          <a:prstGeom prst="roundRect">
            <a:avLst>
              <a:gd name="adj" fmla="val 3721"/>
            </a:avLst>
          </a:prstGeom>
          <a:solidFill>
            <a:srgbClr val="FFFFFF"/>
          </a:solidFill>
          <a:ln w="15875">
            <a:solidFill>
              <a:srgbClr val="E8871E"/>
            </a:solidFill>
            <a:prstDash val="solid"/>
          </a:ln>
          <a:effectLst>
            <a:outerShdw sx="100000" sy="100000" kx="0" ky="0" algn="bl" rotWithShape="0" blurRad="50800" dist="25400" dir="5400000">
              <a:srgbClr val="9AAFC7">
                <a:alpha val="25000"/>
              </a:srgbClr>
            </a:outerShdw>
          </a:effectLst>
        </p:spPr>
      </p:sp>
      <p:sp>
        <p:nvSpPr>
          <p:cNvPr id="14" name="Text 12"/>
          <p:cNvSpPr/>
          <p:nvPr/>
        </p:nvSpPr>
        <p:spPr>
          <a:xfrm>
            <a:off x="6519672" y="3822192"/>
            <a:ext cx="4837176" cy="457200"/>
          </a:xfrm>
          <a:prstGeom prst="rect">
            <a:avLst/>
          </a:prstGeom>
          <a:noFill/>
          <a:ln/>
        </p:spPr>
        <p:txBody>
          <a:bodyPr wrap="square"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Scope: one operating condition</a:t>
            </a:r>
            <a:endParaRPr lang="en-US" sz="1450" dirty="0"/>
          </a:p>
        </p:txBody>
      </p:sp>
      <p:sp>
        <p:nvSpPr>
          <p:cNvPr id="15" name="Text 13"/>
          <p:cNvSpPr/>
          <p:nvPr/>
        </p:nvSpPr>
        <p:spPr>
          <a:xfrm>
            <a:off x="6519672" y="4279392"/>
            <a:ext cx="4837176" cy="1143000"/>
          </a:xfrm>
          <a:prstGeom prst="rect">
            <a:avLst/>
          </a:prstGeom>
          <a:noFill/>
          <a:ln/>
        </p:spPr>
        <p:txBody>
          <a:bodyPr wrap="square" rtlCol="0" anchor="t"/>
          <a:lstStyle/>
          <a:p>
            <a:pPr indent="0" marL="0">
              <a:lnSpc>
                <a:spcPct val="120000"/>
              </a:lnSpc>
              <a:buNone/>
            </a:pPr>
            <a:r>
              <a:rPr lang="en-US" sz="1200" dirty="0">
                <a:solidFill>
                  <a:srgbClr val="16233B"/>
                </a:solidFill>
                <a:latin typeface="Calibri" pitchFamily="34" charset="0"/>
                <a:ea typeface="Calibri" pitchFamily="34" charset="-122"/>
                <a:cs typeface="Calibri" pitchFamily="34" charset="-120"/>
              </a:rPr>
              <a:t>FD001/FD003 only — no operating-condition-aware normalisation yet for FD002/FD004.</a:t>
            </a:r>
            <a:endParaRPr lang="en-US" sz="1200" dirty="0"/>
          </a:p>
        </p:txBody>
      </p:sp>
      <p:sp>
        <p:nvSpPr>
          <p:cNvPr id="16" name="Text 14"/>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66928" y="201168"/>
            <a:ext cx="7315200" cy="27432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WRAPPING UP</a:t>
            </a:r>
            <a:endParaRPr lang="en-US" sz="1100" dirty="0"/>
          </a:p>
        </p:txBody>
      </p:sp>
      <p:sp>
        <p:nvSpPr>
          <p:cNvPr id="3" name="Text 1"/>
          <p:cNvSpPr/>
          <p:nvPr/>
        </p:nvSpPr>
        <p:spPr>
          <a:xfrm>
            <a:off x="548640" y="411480"/>
            <a:ext cx="11094415" cy="777240"/>
          </a:xfrm>
          <a:prstGeom prst="rect">
            <a:avLst/>
          </a:prstGeom>
          <a:noFill/>
          <a:ln/>
        </p:spPr>
        <p:txBody>
          <a:bodyPr wrap="square"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Conclusions &amp; Future Work</a:t>
            </a:r>
            <a:endParaRPr lang="en-US" sz="3000" dirty="0"/>
          </a:p>
        </p:txBody>
      </p:sp>
      <p:sp>
        <p:nvSpPr>
          <p:cNvPr id="4" name="Shape 2"/>
          <p:cNvSpPr/>
          <p:nvPr/>
        </p:nvSpPr>
        <p:spPr>
          <a:xfrm>
            <a:off x="548640" y="1371600"/>
            <a:ext cx="5486400" cy="4114800"/>
          </a:xfrm>
          <a:prstGeom prst="roundRect">
            <a:avLst>
              <a:gd name="adj" fmla="val 2222"/>
            </a:avLst>
          </a:prstGeom>
          <a:solidFill>
            <a:srgbClr val="0B2545"/>
          </a:solidFill>
          <a:ln/>
        </p:spPr>
      </p:sp>
      <p:sp>
        <p:nvSpPr>
          <p:cNvPr id="5" name="Text 3"/>
          <p:cNvSpPr/>
          <p:nvPr/>
        </p:nvSpPr>
        <p:spPr>
          <a:xfrm>
            <a:off x="822960" y="1554480"/>
            <a:ext cx="4937760" cy="411480"/>
          </a:xfrm>
          <a:prstGeom prst="rect">
            <a:avLst/>
          </a:prstGeom>
          <a:noFill/>
          <a:ln/>
        </p:spPr>
        <p:txBody>
          <a:bodyPr wrap="square" rtlCol="0" anchor="ctr"/>
          <a:lstStyle/>
          <a:p>
            <a:pPr indent="0" marL="0">
              <a:buNone/>
            </a:pPr>
            <a:r>
              <a:rPr lang="en-US" sz="1600" b="1" dirty="0">
                <a:solidFill>
                  <a:srgbClr val="E8871E"/>
                </a:solidFill>
                <a:latin typeface="Calibri" pitchFamily="34" charset="0"/>
                <a:ea typeface="Calibri" pitchFamily="34" charset="-122"/>
                <a:cs typeface="Calibri" pitchFamily="34" charset="-120"/>
              </a:rPr>
              <a:t>Conclusions</a:t>
            </a:r>
            <a:endParaRPr lang="en-US" sz="1600" dirty="0"/>
          </a:p>
        </p:txBody>
      </p:sp>
      <p:sp>
        <p:nvSpPr>
          <p:cNvPr id="6" name="Text 4"/>
          <p:cNvSpPr/>
          <p:nvPr/>
        </p:nvSpPr>
        <p:spPr>
          <a:xfrm>
            <a:off x="822960" y="2011680"/>
            <a:ext cx="4937760" cy="3337560"/>
          </a:xfrm>
          <a:prstGeom prst="rect">
            <a:avLst/>
          </a:prstGeom>
          <a:noFill/>
          <a:ln/>
        </p:spPr>
        <p:txBody>
          <a:bodyPr wrap="square" rtlCol="0" anchor="t"/>
          <a:lstStyle/>
          <a:p>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 Architecture works: </a:t>
            </a:r>
            <a:pPr indent="0" marL="0">
              <a:lnSpc>
                <a:spcPct val="115000"/>
              </a:lnSpc>
              <a:buNone/>
            </a:pPr>
            <a:r>
              <a:rPr lang="en-US" sz="1250" dirty="0">
                <a:solidFill>
                  <a:srgbClr val="CFE0F0"/>
                </a:solidFill>
                <a:latin typeface="Calibri" pitchFamily="34" charset="0"/>
                <a:ea typeface="Calibri" pitchFamily="34" charset="-122"/>
                <a:cs typeface="Calibri" pitchFamily="34" charset="-120"/>
              </a:rPr>
              <a:t>health tracked reliably, fleet-wide.
</a:t>
            </a:r>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 Point accuracy: </a:t>
            </a:r>
            <a:pPr indent="0" marL="0">
              <a:lnSpc>
                <a:spcPct val="115000"/>
              </a:lnSpc>
              <a:buNone/>
            </a:pPr>
            <a:r>
              <a:rPr lang="en-US" sz="1250" dirty="0">
                <a:solidFill>
                  <a:srgbClr val="CFE0F0"/>
                </a:solidFill>
                <a:latin typeface="Calibri" pitchFamily="34" charset="0"/>
                <a:ea typeface="Calibri" pitchFamily="34" charset="-122"/>
                <a:cs typeface="Calibri" pitchFamily="34" charset="-120"/>
              </a:rPr>
              <a:t>final-cycle RMSE roughly halved (98.3 → 44.3 on FD001) by fitting the degradation rate from data.
</a:t>
            </a:r>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 Calibration: </a:t>
            </a:r>
            <a:pPr indent="0" marL="0">
              <a:lnSpc>
                <a:spcPct val="115000"/>
              </a:lnSpc>
              <a:buNone/>
            </a:pPr>
            <a:r>
              <a:rPr lang="en-US" sz="1250" dirty="0">
                <a:solidFill>
                  <a:srgbClr val="CFE0F0"/>
                </a:solidFill>
                <a:latin typeface="Calibri" pitchFamily="34" charset="0"/>
                <a:ea typeface="Calibri" pitchFamily="34" charset="-122"/>
                <a:cs typeface="Calibri" pitchFamily="34" charset="-120"/>
              </a:rPr>
              <a:t>achieved in practice, not just in principle — coverage 0.000 → 0.75 / 0.99, checkable on a stated test fleet.
</a:t>
            </a:r>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 Contribution: </a:t>
            </a:r>
            <a:pPr indent="0" marL="0">
              <a:lnSpc>
                <a:spcPct val="115000"/>
              </a:lnSpc>
              <a:buNone/>
            </a:pPr>
            <a:r>
              <a:rPr lang="en-US" sz="1250" dirty="0">
                <a:solidFill>
                  <a:srgbClr val="CFE0F0"/>
                </a:solidFill>
                <a:latin typeface="Calibri" pitchFamily="34" charset="0"/>
                <a:ea typeface="Calibri" pitchFamily="34" charset="-122"/>
                <a:cs typeface="Calibri" pitchFamily="34" charset="-120"/>
              </a:rPr>
              <a:t>a particle-filter digital twin with calibrated RUL, applied to turbofans — a gap the literature (battery-PF, DL-on-C-MAPSS) leaves open.</a:t>
            </a:r>
            <a:endParaRPr lang="en-US" sz="1250" dirty="0"/>
          </a:p>
        </p:txBody>
      </p:sp>
      <p:sp>
        <p:nvSpPr>
          <p:cNvPr id="7" name="Text 5"/>
          <p:cNvSpPr/>
          <p:nvPr/>
        </p:nvSpPr>
        <p:spPr>
          <a:xfrm>
            <a:off x="6355080" y="1554480"/>
            <a:ext cx="5257800" cy="411480"/>
          </a:xfrm>
          <a:prstGeom prst="rect">
            <a:avLst/>
          </a:prstGeom>
          <a:noFill/>
          <a:ln/>
        </p:spPr>
        <p:txBody>
          <a:bodyPr wrap="square"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Future Work</a:t>
            </a:r>
            <a:endParaRPr lang="en-US" sz="1600" dirty="0"/>
          </a:p>
        </p:txBody>
      </p:sp>
      <p:sp>
        <p:nvSpPr>
          <p:cNvPr id="8" name="Shape 6"/>
          <p:cNvSpPr/>
          <p:nvPr/>
        </p:nvSpPr>
        <p:spPr>
          <a:xfrm>
            <a:off x="6355080" y="2066544"/>
            <a:ext cx="109728" cy="109728"/>
          </a:xfrm>
          <a:prstGeom prst="ellipse">
            <a:avLst/>
          </a:prstGeom>
          <a:solidFill>
            <a:srgbClr val="E8871E"/>
          </a:solidFill>
          <a:ln/>
        </p:spPr>
      </p:sp>
      <p:sp>
        <p:nvSpPr>
          <p:cNvPr id="9" name="Text 7"/>
          <p:cNvSpPr/>
          <p:nvPr/>
        </p:nvSpPr>
        <p:spPr>
          <a:xfrm>
            <a:off x="6583680" y="1938528"/>
            <a:ext cx="5029200" cy="457200"/>
          </a:xfrm>
          <a:prstGeom prst="rect">
            <a:avLst/>
          </a:prstGeom>
          <a:noFill/>
          <a:ln/>
        </p:spPr>
        <p:txBody>
          <a:bodyPr wrap="square" rtlCol="0" anchor="t"/>
          <a:lstStyle/>
          <a:p>
            <a:pPr indent="0" marL="0">
              <a:buNone/>
            </a:pPr>
            <a:r>
              <a:rPr lang="en-US" sz="1250" dirty="0">
                <a:solidFill>
                  <a:srgbClr val="16233B"/>
                </a:solidFill>
                <a:latin typeface="Calibri" pitchFamily="34" charset="0"/>
                <a:ea typeface="Calibri" pitchFamily="34" charset="-122"/>
                <a:cs typeface="Calibri" pitchFamily="34" charset="-120"/>
              </a:rPr>
              <a:t>Improve PMMH convergence; move to per-engine process noise</a:t>
            </a:r>
            <a:endParaRPr lang="en-US" sz="1250" dirty="0"/>
          </a:p>
        </p:txBody>
      </p:sp>
      <p:sp>
        <p:nvSpPr>
          <p:cNvPr id="10" name="Shape 8"/>
          <p:cNvSpPr/>
          <p:nvPr/>
        </p:nvSpPr>
        <p:spPr>
          <a:xfrm>
            <a:off x="6355080" y="2596896"/>
            <a:ext cx="109728" cy="109728"/>
          </a:xfrm>
          <a:prstGeom prst="ellipse">
            <a:avLst/>
          </a:prstGeom>
          <a:solidFill>
            <a:srgbClr val="E8871E"/>
          </a:solidFill>
          <a:ln/>
        </p:spPr>
      </p:sp>
      <p:sp>
        <p:nvSpPr>
          <p:cNvPr id="11" name="Text 9"/>
          <p:cNvSpPr/>
          <p:nvPr/>
        </p:nvSpPr>
        <p:spPr>
          <a:xfrm>
            <a:off x="6583680" y="2468880"/>
            <a:ext cx="5029200" cy="457200"/>
          </a:xfrm>
          <a:prstGeom prst="rect">
            <a:avLst/>
          </a:prstGeom>
          <a:noFill/>
          <a:ln/>
        </p:spPr>
        <p:txBody>
          <a:bodyPr wrap="square" rtlCol="0" anchor="t"/>
          <a:lstStyle/>
          <a:p>
            <a:pPr indent="0" marL="0">
              <a:buNone/>
            </a:pPr>
            <a:r>
              <a:rPr lang="en-US" sz="1250" dirty="0">
                <a:solidFill>
                  <a:srgbClr val="16233B"/>
                </a:solidFill>
                <a:latin typeface="Calibri" pitchFamily="34" charset="0"/>
                <a:ea typeface="Calibri" pitchFamily="34" charset="-122"/>
                <a:cs typeface="Calibri" pitchFamily="34" charset="-120"/>
              </a:rPr>
              <a:t>Jointly estimate growth rate and noise via PMMH + library</a:t>
            </a:r>
            <a:endParaRPr lang="en-US" sz="1250" dirty="0"/>
          </a:p>
        </p:txBody>
      </p:sp>
      <p:sp>
        <p:nvSpPr>
          <p:cNvPr id="12" name="Shape 10"/>
          <p:cNvSpPr/>
          <p:nvPr/>
        </p:nvSpPr>
        <p:spPr>
          <a:xfrm>
            <a:off x="6355080" y="3127248"/>
            <a:ext cx="109728" cy="109728"/>
          </a:xfrm>
          <a:prstGeom prst="ellipse">
            <a:avLst/>
          </a:prstGeom>
          <a:solidFill>
            <a:srgbClr val="E8871E"/>
          </a:solidFill>
          <a:ln/>
        </p:spPr>
      </p:sp>
      <p:sp>
        <p:nvSpPr>
          <p:cNvPr id="13" name="Text 11"/>
          <p:cNvSpPr/>
          <p:nvPr/>
        </p:nvSpPr>
        <p:spPr>
          <a:xfrm>
            <a:off x="6583680" y="2999232"/>
            <a:ext cx="5029200" cy="457200"/>
          </a:xfrm>
          <a:prstGeom prst="rect">
            <a:avLst/>
          </a:prstGeom>
          <a:noFill/>
          <a:ln/>
        </p:spPr>
        <p:txBody>
          <a:bodyPr wrap="square" rtlCol="0" anchor="t"/>
          <a:lstStyle/>
          <a:p>
            <a:pPr indent="0" marL="0">
              <a:buNone/>
            </a:pPr>
            <a:r>
              <a:rPr lang="en-US" sz="1250" dirty="0">
                <a:solidFill>
                  <a:srgbClr val="16233B"/>
                </a:solidFill>
                <a:latin typeface="Calibri" pitchFamily="34" charset="0"/>
                <a:ea typeface="Calibri" pitchFamily="34" charset="-122"/>
                <a:cs typeface="Calibri" pitchFamily="34" charset="-120"/>
              </a:rPr>
              <a:t>Life-fraction-normalised pooling (t / T_max) as an alternative fix</a:t>
            </a:r>
            <a:endParaRPr lang="en-US" sz="1250" dirty="0"/>
          </a:p>
        </p:txBody>
      </p:sp>
      <p:sp>
        <p:nvSpPr>
          <p:cNvPr id="14" name="Shape 12"/>
          <p:cNvSpPr/>
          <p:nvPr/>
        </p:nvSpPr>
        <p:spPr>
          <a:xfrm>
            <a:off x="6355080" y="3657600"/>
            <a:ext cx="109728" cy="109728"/>
          </a:xfrm>
          <a:prstGeom prst="ellipse">
            <a:avLst/>
          </a:prstGeom>
          <a:solidFill>
            <a:srgbClr val="E8871E"/>
          </a:solidFill>
          <a:ln/>
        </p:spPr>
      </p:sp>
      <p:sp>
        <p:nvSpPr>
          <p:cNvPr id="15" name="Text 13"/>
          <p:cNvSpPr/>
          <p:nvPr/>
        </p:nvSpPr>
        <p:spPr>
          <a:xfrm>
            <a:off x="6583680" y="3529584"/>
            <a:ext cx="5029200" cy="457200"/>
          </a:xfrm>
          <a:prstGeom prst="rect">
            <a:avLst/>
          </a:prstGeom>
          <a:noFill/>
          <a:ln/>
        </p:spPr>
        <p:txBody>
          <a:bodyPr wrap="square" rtlCol="0" anchor="t"/>
          <a:lstStyle/>
          <a:p>
            <a:pPr indent="0" marL="0">
              <a:buNone/>
            </a:pPr>
            <a:r>
              <a:rPr lang="en-US" sz="1250" dirty="0">
                <a:solidFill>
                  <a:srgbClr val="16233B"/>
                </a:solidFill>
                <a:latin typeface="Calibri" pitchFamily="34" charset="0"/>
                <a:ea typeface="Calibri" pitchFamily="34" charset="-122"/>
                <a:cs typeface="Calibri" pitchFamily="34" charset="-120"/>
              </a:rPr>
              <a:t>Formal Kernel Two-Sample Test for library matching (Cai et al. 2020)</a:t>
            </a:r>
            <a:endParaRPr lang="en-US" sz="1250" dirty="0"/>
          </a:p>
        </p:txBody>
      </p:sp>
      <p:sp>
        <p:nvSpPr>
          <p:cNvPr id="16" name="Shape 14"/>
          <p:cNvSpPr/>
          <p:nvPr/>
        </p:nvSpPr>
        <p:spPr>
          <a:xfrm>
            <a:off x="6355080" y="4187952"/>
            <a:ext cx="109728" cy="109728"/>
          </a:xfrm>
          <a:prstGeom prst="ellipse">
            <a:avLst/>
          </a:prstGeom>
          <a:solidFill>
            <a:srgbClr val="E8871E"/>
          </a:solidFill>
          <a:ln/>
        </p:spPr>
      </p:sp>
      <p:sp>
        <p:nvSpPr>
          <p:cNvPr id="17" name="Text 15"/>
          <p:cNvSpPr/>
          <p:nvPr/>
        </p:nvSpPr>
        <p:spPr>
          <a:xfrm>
            <a:off x="6583680" y="4059936"/>
            <a:ext cx="5029200" cy="457200"/>
          </a:xfrm>
          <a:prstGeom prst="rect">
            <a:avLst/>
          </a:prstGeom>
          <a:noFill/>
          <a:ln/>
        </p:spPr>
        <p:txBody>
          <a:bodyPr wrap="square" rtlCol="0" anchor="t"/>
          <a:lstStyle/>
          <a:p>
            <a:pPr indent="0" marL="0">
              <a:buNone/>
            </a:pPr>
            <a:r>
              <a:rPr lang="en-US" sz="1250" dirty="0">
                <a:solidFill>
                  <a:srgbClr val="16233B"/>
                </a:solidFill>
                <a:latin typeface="Calibri" pitchFamily="34" charset="0"/>
                <a:ea typeface="Calibri" pitchFamily="34" charset="-122"/>
                <a:cs typeface="Calibri" pitchFamily="34" charset="-120"/>
              </a:rPr>
              <a:t>Extend to FD002 / FD004 (multiple operating conditions)</a:t>
            </a:r>
            <a:endParaRPr lang="en-US" sz="1250" dirty="0"/>
          </a:p>
        </p:txBody>
      </p:sp>
      <p:sp>
        <p:nvSpPr>
          <p:cNvPr id="18" name="Shape 16"/>
          <p:cNvSpPr/>
          <p:nvPr/>
        </p:nvSpPr>
        <p:spPr>
          <a:xfrm>
            <a:off x="6355080" y="4718304"/>
            <a:ext cx="109728" cy="109728"/>
          </a:xfrm>
          <a:prstGeom prst="ellipse">
            <a:avLst/>
          </a:prstGeom>
          <a:solidFill>
            <a:srgbClr val="E8871E"/>
          </a:solidFill>
          <a:ln/>
        </p:spPr>
      </p:sp>
      <p:sp>
        <p:nvSpPr>
          <p:cNvPr id="19" name="Text 17"/>
          <p:cNvSpPr/>
          <p:nvPr/>
        </p:nvSpPr>
        <p:spPr>
          <a:xfrm>
            <a:off x="6583680" y="4590288"/>
            <a:ext cx="5029200" cy="457200"/>
          </a:xfrm>
          <a:prstGeom prst="rect">
            <a:avLst/>
          </a:prstGeom>
          <a:noFill/>
          <a:ln/>
        </p:spPr>
        <p:txBody>
          <a:bodyPr wrap="square" rtlCol="0" anchor="t"/>
          <a:lstStyle/>
          <a:p>
            <a:pPr indent="0" marL="0">
              <a:buNone/>
            </a:pPr>
            <a:r>
              <a:rPr lang="en-US" sz="1250" dirty="0">
                <a:solidFill>
                  <a:srgbClr val="16233B"/>
                </a:solidFill>
                <a:latin typeface="Calibri" pitchFamily="34" charset="0"/>
                <a:ea typeface="Calibri" pitchFamily="34" charset="-122"/>
                <a:cs typeface="Calibri" pitchFamily="34" charset="-120"/>
              </a:rPr>
              <a:t>Systematic particle-count sweep (N ∈ {500, 1000, 2000})</a:t>
            </a:r>
            <a:endParaRPr lang="en-US" sz="1250" dirty="0"/>
          </a:p>
        </p:txBody>
      </p:sp>
      <p:sp>
        <p:nvSpPr>
          <p:cNvPr id="20" name="Text 18"/>
          <p:cNvSpPr/>
          <p:nvPr/>
        </p:nvSpPr>
        <p:spPr>
          <a:xfrm>
            <a:off x="11551615" y="6446520"/>
            <a:ext cx="365760" cy="274320"/>
          </a:xfrm>
          <a:prstGeom prst="rect">
            <a:avLst/>
          </a:prstGeom>
          <a:noFill/>
          <a:ln/>
        </p:spPr>
        <p:txBody>
          <a:bodyPr wrap="square"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822960" y="2377440"/>
            <a:ext cx="10545775" cy="10058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1"/>
          <p:cNvSpPr/>
          <p:nvPr/>
        </p:nvSpPr>
        <p:spPr>
          <a:xfrm>
            <a:off x="822960" y="3337560"/>
            <a:ext cx="10545775" cy="457200"/>
          </a:xfrm>
          <a:prstGeom prst="rect">
            <a:avLst/>
          </a:prstGeom>
          <a:noFill/>
          <a:ln/>
        </p:spPr>
        <p:txBody>
          <a:bodyPr wrap="square" rtlCol="0" anchor="ctr"/>
          <a:lstStyle/>
          <a:p>
            <a:pPr indent="0" marL="0">
              <a:buNone/>
            </a:pPr>
            <a:r>
              <a:rPr lang="en-US" sz="1600" i="1" dirty="0">
                <a:solidFill>
                  <a:srgbClr val="CFE0F0"/>
                </a:solidFill>
                <a:latin typeface="Calibri" pitchFamily="34" charset="0"/>
                <a:ea typeface="Calibri" pitchFamily="34" charset="-122"/>
                <a:cs typeface="Calibri" pitchFamily="34" charset="-120"/>
              </a:rPr>
              <a:t>Questions welcome.</a:t>
            </a:r>
            <a:endParaRPr lang="en-US" sz="1600" dirty="0"/>
          </a:p>
        </p:txBody>
      </p:sp>
      <p:sp>
        <p:nvSpPr>
          <p:cNvPr id="4" name="Shape 2"/>
          <p:cNvSpPr/>
          <p:nvPr/>
        </p:nvSpPr>
        <p:spPr>
          <a:xfrm>
            <a:off x="822960" y="3977640"/>
            <a:ext cx="1280160" cy="0"/>
          </a:xfrm>
          <a:prstGeom prst="line">
            <a:avLst/>
          </a:prstGeom>
          <a:noFill/>
          <a:ln w="31750">
            <a:solidFill>
              <a:srgbClr val="E8871E"/>
            </a:solidFill>
            <a:prstDash val="solid"/>
          </a:ln>
        </p:spPr>
      </p:sp>
      <p:sp>
        <p:nvSpPr>
          <p:cNvPr id="5" name="Text 3"/>
          <p:cNvSpPr/>
          <p:nvPr/>
        </p:nvSpPr>
        <p:spPr>
          <a:xfrm>
            <a:off x="822960" y="4206240"/>
            <a:ext cx="7315200" cy="365760"/>
          </a:xfrm>
          <a:prstGeom prst="rect">
            <a:avLst/>
          </a:prstGeom>
          <a:noFill/>
          <a:ln/>
        </p:spPr>
        <p:txBody>
          <a:bodyPr wrap="square" rtlCol="0" anchor="ctr"/>
          <a:lstStyle/>
          <a:p>
            <a:pPr indent="0" marL="0">
              <a:buNone/>
            </a:pPr>
            <a:r>
              <a:rPr lang="en-US" sz="1200" dirty="0">
                <a:solidFill>
                  <a:srgbClr val="8DA9C4"/>
                </a:solidFill>
                <a:latin typeface="Calibri" pitchFamily="34" charset="0"/>
                <a:ea typeface="Calibri" pitchFamily="34" charset="-122"/>
                <a:cs typeface="Calibri" pitchFamily="34" charset="-120"/>
              </a:rPr>
              <a:t>Sajjad Ayashm  ·  s.ayashm@gmail.com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2026-09-02T09:54:46Z</dcterms:created>
  <dcterms:modified xsi:type="dcterms:W3CDTF">2026-09-02T09:54:46Z</dcterms:modified>
</cp:coreProperties>
</file>
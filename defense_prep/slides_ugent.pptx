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Illustrative Health-Index trajectory</a:t>
            </a:r>
          </a:p>
        </c:rich>
      </c:tx>
      <c:layout/>
      <c:overlay val="0"/>
    </c:title>
    <c:autoTitleDeleted val="0"/>
    <c:plotArea>
      <c:layout/>
      <c:lineChart>
        <c:varyColors val="0"/>
        <c:ser>
          <c:idx val="0"/>
          <c:order val="0"/>
          <c:tx>
            <c:strRef>
              <c:f>Sheet1!$B$1</c:f>
              <c:strCache>
                <c:ptCount val="1"/>
                <c:pt idx="0">
                  <c:v>Health Index (posterior median)</c:v>
                </c:pt>
              </c:strCache>
            </c:strRef>
          </c:tx>
          <c:spPr>
            <a:solidFill>
              <a:srgbClr val="0F3D75"/>
            </a:solidFill>
            <a:ln w="25400" cap="flat">
              <a:solidFill>
                <a:srgbClr val="0F3D7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3D75"/>
              </a:solidFill>
              <a:ln w="9525" cap="flat">
                <a:solidFill>
                  <a:srgbClr val="0F3D75"/>
                </a:solidFill>
                <a:prstDash val="solid"/>
                <a:round/>
              </a:ln>
              <a:effectLst/>
            </c:spPr>
          </c:marker>
          <c:cat>
            <c:multiLvlStrRef>
              <c:f>Sheet1!$A$2:$A$31</c:f>
              <c:multiLvlStrCache>
                <c:ptCount val="3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lvl>
              </c:multiLvlStrCache>
            </c:multiLvlStrRef>
          </c:cat>
          <c:val>
            <c:numRef>
              <c:f>Sheet1!$B$2:$B$31</c:f>
              <c:numCache>
                <c:formatCode>General</c:formatCode>
                <c:ptCount val="30"/>
                <c:pt idx="0">
                  <c:v>100</c:v>
                </c:pt>
                <c:pt idx="1">
                  <c:v>95.1229424500714</c:v>
                </c:pt>
                <c:pt idx="2">
                  <c:v>90.48374180359595</c:v>
                </c:pt>
                <c:pt idx="3">
                  <c:v>86.07079764250578</c:v>
                </c:pt>
                <c:pt idx="4">
                  <c:v>81.87307530779819</c:v>
                </c:pt>
                <c:pt idx="5">
                  <c:v>77.8800783071405</c:v>
                </c:pt>
                <c:pt idx="6">
                  <c:v>74.08182206817177</c:v>
                </c:pt>
                <c:pt idx="7">
                  <c:v>70.46880897187134</c:v>
                </c:pt>
                <c:pt idx="8">
                  <c:v>67.03200460356393</c:v>
                </c:pt>
                <c:pt idx="9">
                  <c:v>63.76281516217732</c:v>
                </c:pt>
                <c:pt idx="10">
                  <c:v>60.653065971263345</c:v>
                </c:pt>
                <c:pt idx="11">
                  <c:v>57.69498103804867</c:v>
                </c:pt>
                <c:pt idx="12">
                  <c:v>54.88116360940264</c:v>
                </c:pt>
                <c:pt idx="13">
                  <c:v>52.20457767610161</c:v>
                </c:pt>
                <c:pt idx="14">
                  <c:v>49.65853037914095</c:v>
                </c:pt>
                <c:pt idx="15">
                  <c:v>47.236655274101466</c:v>
                </c:pt>
                <c:pt idx="16">
                  <c:v>44.932896411722155</c:v>
                </c:pt>
                <c:pt idx="17">
                  <c:v>42.74149319487267</c:v>
                </c:pt>
                <c:pt idx="18">
                  <c:v>40.65696597405991</c:v>
                </c:pt>
                <c:pt idx="19">
                  <c:v>38.674102345450116</c:v>
                </c:pt>
                <c:pt idx="20">
                  <c:v>36.787944117144235</c:v>
                </c:pt>
                <c:pt idx="21">
                  <c:v>34.99377491111553</c:v>
                </c:pt>
                <c:pt idx="22">
                  <c:v>33.28710836980795</c:v>
                </c:pt>
                <c:pt idx="23">
                  <c:v>31.663676937905315</c:v>
                </c:pt>
                <c:pt idx="24">
                  <c:v>30.1194211912202</c:v>
                </c:pt>
                <c:pt idx="25">
                  <c:v>28.650479686019008</c:v>
                </c:pt>
                <c:pt idx="26">
                  <c:v>27.25317930340126</c:v>
                </c:pt>
                <c:pt idx="27">
                  <c:v>25.92402606458915</c:v>
                </c:pt>
                <c:pt idx="28">
                  <c:v>24.659696394160644</c:v>
                </c:pt>
                <c:pt idx="29">
                  <c:v>23.45702880937976</c:v>
                </c:pt>
              </c:numCache>
            </c:numRef>
          </c:val>
          <c:smooth val="0"/>
        </c:ser>
        <c:ser>
          <c:idx val="1"/>
          <c:order val="1"/>
          <c:tx>
            <c:strRef>
              <c:f>Sheet1!$C$1</c:f>
              <c:strCache>
                <c:ptCount val="1"/>
                <c:pt idx="0">
                  <c:v>+1 band</c:v>
                </c:pt>
              </c:strCache>
            </c:strRef>
          </c:tx>
          <c:spPr>
            <a:solidFill>
              <a:srgbClr val="8BBED5"/>
            </a:solidFill>
            <a:ln w="25400" cap="flat">
              <a:solidFill>
                <a:srgbClr val="8BBED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BBED5"/>
              </a:solidFill>
              <a:ln w="9525" cap="flat">
                <a:solidFill>
                  <a:srgbClr val="8BBED5"/>
                </a:solidFill>
                <a:prstDash val="solid"/>
                <a:round/>
              </a:ln>
              <a:effectLst/>
            </c:spPr>
          </c:marker>
          <c:cat>
            <c:multiLvlStrRef>
              <c:f>Sheet1!$A$2:$A$31</c:f>
              <c:multiLvlStrCache>
                <c:ptCount val="3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lvl>
              </c:multiLvlStrCache>
            </c:multiLvlStrRef>
          </c:cat>
          <c:val>
            <c:numRef>
              <c:f>Sheet1!$C$2:$C$31</c:f>
              <c:numCache>
                <c:formatCode>General</c:formatCode>
                <c:ptCount val="30"/>
                <c:pt idx="0">
                  <c:v>100</c:v>
                </c:pt>
                <c:pt idx="1">
                  <c:v>100</c:v>
                </c:pt>
                <c:pt idx="2">
                  <c:v>96.48374180359595</c:v>
                </c:pt>
                <c:pt idx="3">
                  <c:v>92.07079764250578</c:v>
                </c:pt>
                <c:pt idx="4">
                  <c:v>87.87307530779819</c:v>
                </c:pt>
                <c:pt idx="5">
                  <c:v>83.8800783071405</c:v>
                </c:pt>
                <c:pt idx="6">
                  <c:v>80.08182206817177</c:v>
                </c:pt>
                <c:pt idx="7">
                  <c:v>76.46880897187134</c:v>
                </c:pt>
                <c:pt idx="8">
                  <c:v>73.03200460356393</c:v>
                </c:pt>
                <c:pt idx="9">
                  <c:v>69.76281516217732</c:v>
                </c:pt>
                <c:pt idx="10">
                  <c:v>66.65306597126335</c:v>
                </c:pt>
                <c:pt idx="11">
                  <c:v>63.69498103804867</c:v>
                </c:pt>
                <c:pt idx="12">
                  <c:v>60.88116360940264</c:v>
                </c:pt>
                <c:pt idx="13">
                  <c:v>58.20457767610161</c:v>
                </c:pt>
                <c:pt idx="14">
                  <c:v>55.65853037914095</c:v>
                </c:pt>
                <c:pt idx="15">
                  <c:v>53.236655274101466</c:v>
                </c:pt>
                <c:pt idx="16">
                  <c:v>50.932896411722155</c:v>
                </c:pt>
                <c:pt idx="17">
                  <c:v>48.74149319487267</c:v>
                </c:pt>
                <c:pt idx="18">
                  <c:v>46.65696597405991</c:v>
                </c:pt>
                <c:pt idx="19">
                  <c:v>44.674102345450116</c:v>
                </c:pt>
                <c:pt idx="20">
                  <c:v>42.787944117144235</c:v>
                </c:pt>
                <c:pt idx="21">
                  <c:v>40.99377491111553</c:v>
                </c:pt>
                <c:pt idx="22">
                  <c:v>39.28710836980795</c:v>
                </c:pt>
                <c:pt idx="23">
                  <c:v>37.663676937905315</c:v>
                </c:pt>
                <c:pt idx="24">
                  <c:v>36.1194211912202</c:v>
                </c:pt>
                <c:pt idx="25">
                  <c:v>34.65047968601901</c:v>
                </c:pt>
                <c:pt idx="26">
                  <c:v>33.25317930340126</c:v>
                </c:pt>
                <c:pt idx="27">
                  <c:v>31.92402606458915</c:v>
                </c:pt>
                <c:pt idx="28">
                  <c:v>30.659696394160644</c:v>
                </c:pt>
                <c:pt idx="29">
                  <c:v>29.45702880937976</c:v>
                </c:pt>
              </c:numCache>
            </c:numRef>
          </c:val>
          <c:smooth val="0"/>
        </c:ser>
        <c:ser>
          <c:idx val="2"/>
          <c:order val="2"/>
          <c:tx>
            <c:strRef>
              <c:f>Sheet1!$D$1</c:f>
              <c:strCache>
                <c:ptCount val="1"/>
                <c:pt idx="0">
                  <c:v>-1 band</c:v>
                </c:pt>
              </c:strCache>
            </c:strRef>
          </c:tx>
          <c:spPr>
            <a:solidFill>
              <a:srgbClr val="8BBED5"/>
            </a:solidFill>
            <a:ln w="25400" cap="flat">
              <a:solidFill>
                <a:srgbClr val="8BBED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BBED5"/>
              </a:solidFill>
              <a:ln w="9525" cap="flat">
                <a:solidFill>
                  <a:srgbClr val="8BBED5"/>
                </a:solidFill>
                <a:prstDash val="solid"/>
                <a:round/>
              </a:ln>
              <a:effectLst/>
            </c:spPr>
          </c:marker>
          <c:cat>
            <c:multiLvlStrRef>
              <c:f>Sheet1!$A$2:$A$31</c:f>
              <c:multiLvlStrCache>
                <c:ptCount val="3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lvl>
              </c:multiLvlStrCache>
            </c:multiLvlStrRef>
          </c:cat>
          <c:val>
            <c:numRef>
              <c:f>Sheet1!$D$2:$D$31</c:f>
              <c:numCache>
                <c:formatCode>General</c:formatCode>
                <c:ptCount val="30"/>
                <c:pt idx="0">
                  <c:v>94</c:v>
                </c:pt>
                <c:pt idx="1">
                  <c:v>89.1229424500714</c:v>
                </c:pt>
                <c:pt idx="2">
                  <c:v>84.48374180359595</c:v>
                </c:pt>
                <c:pt idx="3">
                  <c:v>80.07079764250578</c:v>
                </c:pt>
                <c:pt idx="4">
                  <c:v>75.87307530779819</c:v>
                </c:pt>
                <c:pt idx="5">
                  <c:v>71.8800783071405</c:v>
                </c:pt>
                <c:pt idx="6">
                  <c:v>68.08182206817177</c:v>
                </c:pt>
                <c:pt idx="7">
                  <c:v>64.46880897187134</c:v>
                </c:pt>
                <c:pt idx="8">
                  <c:v>61.032004603563934</c:v>
                </c:pt>
                <c:pt idx="9">
                  <c:v>57.76281516217732</c:v>
                </c:pt>
                <c:pt idx="10">
                  <c:v>54.653065971263345</c:v>
                </c:pt>
                <c:pt idx="11">
                  <c:v>51.69498103804867</c:v>
                </c:pt>
                <c:pt idx="12">
                  <c:v>48.88116360940264</c:v>
                </c:pt>
                <c:pt idx="13">
                  <c:v>46.20457767610161</c:v>
                </c:pt>
                <c:pt idx="14">
                  <c:v>43.65853037914095</c:v>
                </c:pt>
                <c:pt idx="15">
                  <c:v>41.236655274101466</c:v>
                </c:pt>
                <c:pt idx="16">
                  <c:v>38.932896411722155</c:v>
                </c:pt>
                <c:pt idx="17">
                  <c:v>36.74149319487267</c:v>
                </c:pt>
                <c:pt idx="18">
                  <c:v>34.65696597405991</c:v>
                </c:pt>
                <c:pt idx="19">
                  <c:v>32.674102345450116</c:v>
                </c:pt>
                <c:pt idx="20">
                  <c:v>30.787944117144235</c:v>
                </c:pt>
                <c:pt idx="21">
                  <c:v>28.99377491111553</c:v>
                </c:pt>
                <c:pt idx="22">
                  <c:v>27.287108369807953</c:v>
                </c:pt>
                <c:pt idx="23">
                  <c:v>25.663676937905315</c:v>
                </c:pt>
                <c:pt idx="24">
                  <c:v>24.1194211912202</c:v>
                </c:pt>
                <c:pt idx="25">
                  <c:v>22.650479686019008</c:v>
                </c:pt>
                <c:pt idx="26">
                  <c:v>21.25317930340126</c:v>
                </c:pt>
                <c:pt idx="27">
                  <c:v>19.92402606458915</c:v>
                </c:pt>
                <c:pt idx="28">
                  <c:v>18.659696394160644</c:v>
                </c:pt>
                <c:pt idx="29">
                  <c:v>17.45702880937976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Cycle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9F2"/>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Health (0–100)</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90% CI Coverage</a:t>
            </a:r>
          </a:p>
        </c:rich>
      </c:tx>
      <c:layout/>
      <c:overlay val="0"/>
    </c:title>
    <c:autoTitleDeleted val="0"/>
    <c:plotArea>
      <c:layout/>
      <c:lineChart>
        <c:varyColors val="0"/>
        <c:ser>
          <c:idx val="0"/>
          <c:order val="0"/>
          <c:tx>
            <c:strRef>
              <c:f>Sheet1!$B$1</c:f>
              <c:strCache>
                <c:ptCount val="1"/>
                <c:pt idx="0">
                  <c:v>FD001 coverage</c:v>
                </c:pt>
              </c:strCache>
            </c:strRef>
          </c:tx>
          <c:spPr>
            <a:solidFill>
              <a:srgbClr val="F1A32B"/>
            </a:solidFill>
            <a:ln w="38100" cap="flat">
              <a:solidFill>
                <a:srgbClr val="F1A3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1A32B"/>
              </a:solidFill>
              <a:ln w="9525" cap="flat">
                <a:solidFill>
                  <a:srgbClr val="F1A32B"/>
                </a:solidFill>
                <a:prstDash val="solid"/>
                <a:round/>
              </a:ln>
              <a:effectLst/>
            </c:spPr>
          </c:marker>
          <c:cat>
            <c:multiLvlStrRef>
              <c:f>Sheet1!$A$2:$A$4</c:f>
              <c:multiLvlStrCache>
                <c:ptCount val="3"/>
                <c:lvl>
                  <c:pt idx="0">
                    <c:v>Fixed</c:v>
                  </c:pt>
                  <c:pt idx="1">
                    <c:v>PMMH</c:v>
                  </c:pt>
                  <c:pt idx="2">
                    <c:v>Library</c:v>
                  </c:pt>
                </c:lvl>
              </c:multiLvlStrCache>
            </c:multiLvlStrRef>
          </c:cat>
          <c:val>
            <c:numRef>
              <c:f>Sheet1!$B$2:$B$4</c:f>
              <c:numCache>
                <c:formatCode>General</c:formatCode>
                <c:ptCount val="3"/>
                <c:pt idx="0">
                  <c:v>0.49</c:v>
                </c:pt>
                <c:pt idx="1">
                  <c:v>0.68</c:v>
                </c:pt>
                <c:pt idx="2">
                  <c:v>0.75</c:v>
                </c:pt>
              </c:numCache>
            </c:numRef>
          </c:val>
          <c:smooth val="0"/>
        </c:ser>
        <c:ser>
          <c:idx val="1"/>
          <c:order val="1"/>
          <c:tx>
            <c:strRef>
              <c:f>Sheet1!$C$1</c:f>
              <c:strCache>
                <c:ptCount val="1"/>
                <c:pt idx="0">
                  <c:v>FD003 coverage</c:v>
                </c:pt>
              </c:strCache>
            </c:strRef>
          </c:tx>
          <c:spPr>
            <a:solidFill>
              <a:srgbClr val="2C8CA5"/>
            </a:solidFill>
            <a:ln w="38100" cap="flat">
              <a:solidFill>
                <a:srgbClr val="2C8CA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C8CA5"/>
              </a:solidFill>
              <a:ln w="9525" cap="flat">
                <a:solidFill>
                  <a:srgbClr val="2C8CA5"/>
                </a:solidFill>
                <a:prstDash val="solid"/>
                <a:round/>
              </a:ln>
              <a:effectLst/>
            </c:spPr>
          </c:marker>
          <c:cat>
            <c:multiLvlStrRef>
              <c:f>Sheet1!$A$2:$A$4</c:f>
              <c:multiLvlStrCache>
                <c:ptCount val="3"/>
                <c:lvl>
                  <c:pt idx="0">
                    <c:v>Fixed</c:v>
                  </c:pt>
                  <c:pt idx="1">
                    <c:v>PMMH</c:v>
                  </c:pt>
                  <c:pt idx="2">
                    <c:v>Library</c:v>
                  </c:pt>
                </c:lvl>
              </c:multiLvlStrCache>
            </c:multiLvlStrRef>
          </c:cat>
          <c:val>
            <c:numRef>
              <c:f>Sheet1!$C$2:$C$4</c:f>
              <c:numCache>
                <c:formatCode>General</c:formatCode>
                <c:ptCount val="3"/>
                <c:pt idx="0">
                  <c:v>1</c:v>
                </c:pt>
                <c:pt idx="1">
                  <c:v>1</c:v>
                </c:pt>
                <c:pt idx="2">
                  <c:v>0.99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9525" cap="flat">
              <a:solidFill>
                <a:srgbClr val="E2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Point accuracy (lower is better)</a:t>
            </a:r>
          </a:p>
        </c:rich>
      </c:tx>
      <c:layout/>
      <c:overlay val="0"/>
    </c:title>
    <c:autoTitleDeleted val="0"/>
    <c:plotArea>
      <c:layout/>
      <c:barChart>
        <c:barDir val="col"/>
        <c:grouping val="clustered"/>
        <c:varyColors val="0"/>
        <c:ser>
          <c:idx val="0"/>
          <c:order val="0"/>
          <c:tx>
            <c:strRef>
              <c:f>Sheet1!$B$1</c:f>
              <c:strCache>
                <c:ptCount val="1"/>
                <c:pt idx="0">
                  <c:v>RMSE (cycles)</c:v>
                </c:pt>
              </c:strCache>
            </c:strRef>
          </c:tx>
          <c:spPr>
            <a:solidFill>
              <a:srgbClr val="8BBED5">
                <a:alpha val="90000"/>
              </a:srgbClr>
            </a:solidFill>
            <a:effectLst/>
          </c:spPr>
          <c:invertIfNegative val="0"/>
          <c:dLbls>
            <c:numFmt formatCode="#,##0" sourceLinked="0"/>
            <c:txPr>
              <a:bodyPr/>
              <a:lstStyle/>
              <a:p>
                <a:pPr>
                  <a:defRPr b="0" i="0" strike="noStrike" sz="1100" u="none">
                    <a:solidFill>
                      <a:srgbClr val="1E64C8"/>
                    </a:solidFill>
                    <a:latin typeface="Arial"/>
                  </a:defRPr>
                </a:pPr>
              </a:p>
            </c:txPr>
            <c:showLegendKey val="0"/>
            <c:showVal val="1"/>
            <c:showCatName val="0"/>
            <c:showSerName val="0"/>
            <c:showPercent val="0"/>
            <c:showBubbleSize val="0"/>
            <c:showLeaderLines val="0"/>
          </c:dLbls>
          <c:cat>
            <c:multiLvlStrRef>
              <c:f>Sheet1!$A$2:$A$5</c:f>
              <c:multiLvlStrCache>
                <c:ptCount val="4"/>
                <c:lvl>
                  <c:pt idx="0">
                    <c:v>FD001
Baseline</c:v>
                  </c:pt>
                  <c:pt idx="1">
                    <c:v>FD001
Filter</c:v>
                  </c:pt>
                  <c:pt idx="2">
                    <c:v>FD003
Baseline</c:v>
                  </c:pt>
                  <c:pt idx="3">
                    <c:v>FD003
Filter</c:v>
                  </c:pt>
                </c:lvl>
              </c:multiLvlStrCache>
            </c:multiLvlStrRef>
          </c:cat>
          <c:val>
            <c:numRef>
              <c:f>Sheet1!$B$2:$B$5</c:f>
              <c:numCache>
                <c:formatCode>General</c:formatCode>
                <c:ptCount val="4"/>
                <c:pt idx="0">
                  <c:v>32</c:v>
                </c:pt>
                <c:pt idx="1">
                  <c:v>44.3</c:v>
                </c:pt>
                <c:pt idx="2">
                  <c:v>58.2</c:v>
                </c:pt>
                <c:pt idx="3">
                  <c:v>100.1</c:v>
                </c:pt>
              </c:numCache>
            </c:numRef>
          </c:val>
        </c:ser>
        <c:dLbls>
          <c:numFmt formatCode="#,##0" sourceLinked="0"/>
          <c:txPr>
            <a:bodyPr/>
            <a:lstStyle/>
            <a:p>
              <a:pPr>
                <a:defRPr b="0" i="0" strike="noStrike" sz="1100" u="none">
                  <a:solidFill>
                    <a:srgbClr val="1E64C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6233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My name is Sajjad Ayashm, and today I will present my master's thesis: a Bayesian approach to digital twins, applying Sequential Monte Carlo -- a particle filter -- to estimate the remaining useful life of turbofan engines. My promotor was Prof. De Turck, co-promotor Prof. Fiems.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Predictive maintenance means: use sensor data to decide when to service a machine, instead of a fixed schedule or waiting for it to break. The number everyone wants is the Remaining Useful Life -- how many cycles are left. But almost all published methods, from simple regression to deep neural networks, give you just one bare number, like fifty cycles -- no range attached at all. Here is why that is a problem: behind that same fifty, the truth could look like 'fifty, plus or minus three' -- confident, safe to schedule service soon -- or it could look like 'fifty, plus or minus forty' -- so uncertain the engine could fail anywhere from cycle ten to ninety. These call for completely different maintenance decisions. But a bare point estimate cannot tell you which of these two worlds you're actually in, because it was never built to describe uncertainty in the first place. That is the gap this thesis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objective of this thesis is precise: build, implement, and validate a particle filter that does two things -- track the posterior of an engine's health from noisy sensors, and turn that posterior into a full RUL distribution, a median plus a 90 percent credible interval. And then -- this is the important part -- actually test whether that interval is calibrated: does the 90 percent interval really contain the true remaining life about 90 percent of the time? Not assume it, test it. Everything is evaluated on the NASA C-MAPSS benchmark, on the full one-hundred-engine test fleets of two sub-datasets, FD001 and FD003, not a cherry-picked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just use a Kalman filter, which is simpler? A Kalman filter is the exact, closed-form answer when three things hold: the model is linear, the noise is Gaussian, and the state is unconstrained. Three things push us away from that here. First, health is bounded between 0 and 100 and should mostly go one way -- a Gaussian doesn't respect boundaries. Second, our measurement noise fits a little better as a skew-normal than a Gaussian, and a particle filter does not force us to choose Gaussian. Third, and most important: what we actually want, the Remaining Useful Life, is a first-passage time -- the cycle where health first crosses a threshold. That is non-Gaussian even if the health posterior itself were Gaussian, so we need Monte Carlo simulation at that stage regardless. A particle filter gives us that machinery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does the digital twin actually track? We start from twenty-one raw sensor channels, drop the ones that are constant or redundant, and keep ten. These ten are combined into one single number, the Health Index, between 0 and 1, where 1 is healthy and 0 is failed. Over time, this Health Index is modelled as decaying exponentially. That is not an arbitrary choice: NASA's own C-MAPSS simulator, which generated this data, documents that its underlying damage process is exponential. Importantly, this whole construction -- which sensors, which weights, which shape -- is fit only on the FD001 dataset, and then reused without any changes on FD003, so FD003 becomes a genuine robustness test rather than a re-tuned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Mechanically, the particle filter is a simple three-step loop, repeated every cycle for every engine independently. Predict: each of five hundred particles steps forward through the degradation model, each with its own random noise. Weight: each particle gets a score for how well it matches the newest sensor reading. Resample: when a diagnostic called the Effective Sample Size falls below half of N, we drop the low-weight particles and duplicate the good ones, so we don't waste computation on particles nobody believes in anymore. Across the entire hundred-engine fleet, this effective sample size averages seventy-nine percent of N -- meaning the particle cloud stays healthy and diverse, it never collapses onto one or two particles.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single most important fix in the thesis. Once the filter has a posterior over health, we simulate every particle forward until it crosses a failure threshold -- that crossing cycle is one sample of RUL, and collecting one sample per particle gives a full RUL distribution, not just one number. But early on, this distribution was badly wrong: the ninety percent credible interval covered zero out of the test engines. Zero. The reason: real engines fail around a health value of about 0.26 in the raw sensor data, but the filter's own internal posterior sits higher than that at the same moment in time, around 0.34, because of how particles are initialised and how measurement noise behaves. Comparing against the wrong number added, on average, about a hundred spurious cycles to every prediction. The fix was to calibrate the failure threshold inside the filter's own posterior space, not the raw observation space, and to treat that threshold itself as uncertain, drawn separately for each particle. That one change took the credible interval from covering nothing to covering seventy-five to ninety-nine percent of engines, depending on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big source of error was the degradation rate itself. It was originally fit once, pooling all one hundred training engines together, and that pooled rate understates the fleet's true average rate by about twenty-six percent, because it averages fast-dying and slow-dying engines into one number. Two fixes address this. First, PMMH: a Bayesian method that estimates the rate and the noise scale per engine, then aggregates those into one fleet-wide pair -- it converged properly on thirty-one of the hundred FD001 engines and eight of a hundred on FD003, with a regression fallback elsewhere. Second, and this is the one I adopted as the final method: a similarity-based reference library. Instead of one rate for everyone, I keep a library of one rate per training engine, and at test time I match the engine currently being filtered to its closest analogues and borrow their rate. This is the method that ends up best on every accuracy and calibration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uses NASA's C-MAPSS turbofan benchmark. FD001 has a single fault mode and is the primary dataset; FD003 shares the same single operating condition but adds a second, independent fault mode, fan degradation on top of compressor degradation, and is used purely as a robustness check -- the pipeline is fit only on FD001 and reused unchanged on FD003. Both are evaluated on the full one-hundred-engine test fleet. Three kinds of metric are reported: RMSE and MAPE for point accuracy; the PHM08 competition score, which penalizes a late, over-confident prediction harder than an early, conservative one; and, most central to this thesis, ninety percent credible interval coverage -- whether the reported interval actually contains the truth. That last one is the metric a plain point-estimate model cannot report at all, because it has no interval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4.8 directly from the thesis, so it is exactly what is in the version already sent to the committee. On the left is the best-tracked FD001 engine, on the right the worst-tracked -- engine 1, which is only observed for thirty-one cycles. Look at the top row first: even on the worst engine, the blue posterior median tracks the grey observed Health Index closely. Health tracking is not the problem. The problem only appears in the bottom row, the RUL projection: the orange predicted median and its interval sit well above the true countdown, the dashed line, because thirty-one cycles is simply not enough evidence for any method to lock onto that engine's true rate. Across the whole fleet, Health-Index RMSE is about eight to nine hundredths on a zero-to-one scale, and the effective sample size stays at seventy-nine percent of N on average -- so the filtering machinery itself is healthy across the board, not just on this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heart of the results chapter. Reading FD001 left to right: RMSE drops from 98.3 cycles under fixed hand-set parameters, to 52.9 under PMMH, to 44.3 under the final library method. At the same time -- and this is the important point -- coverage of the ninety percent interval rises from 0.49, to 0.68, to 0.75. Every single fix improves both dimensions together; none of them trades accuracy for calibration or the other way round. FD003 tells a related but different story: RMSE also falls, from 160 to 100 cycles, but coverage is already at 1.00 and stays there -- meaning the interval on FD003 is wide enough to always contain the truth, so it is over-conservative rather than overconfident. I'll come back to why FD001 and FD003 fail in opposite directions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would be dishonest to stop at the last slide without the direct comparison. A plain linear regression, given the exact same ten sensors, is actually the sharper point predictor: 32 cycles RMSE versus 44 for the filter on FD001, 58 versus 100 on FD003. So the argument for the particle filter does not rest on point accuracy, and it doesn't need to. What the baseline categorically cannot do is report a credible interval -- there is no distribution to check for coverage, the question doesn't even apply to it. The filter concedes some point accuracy and, in exchange, delivers a calibrated interval that covers seventy-five to ninety-nine percent of engines. For a maintenance decision, where acting too late risks an in-service failure, that calibrated uncertainty is the quantity that actually matters, not the sharpest possible point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interest of an honest defense, four things are not yet perfect. On FD001 the interval is mildly overconfident, 0.75 against a nominal 0.90, because a single matched rate per engine still cannot capture every fast-degrading engine exactly. On FD003 it's the opposite: 0.99, over-conservative, because run-to-failure horizons are longer and the similarity matching itself gets noisier once two fault modes are present. Third, PMMH's convergence was partial -- it properly converged on only thirty-one of a hundred FD001 engines and eight of a hundred FD003 engines, with a simpler regression fit used as a fallback for the rest; this is reported openly, not hidden. Fourth, the whole pipeline currently only handles a single operating condition -- extending it to FD002 and FD004, which vary operating conditions, would need an operating-condition-aware normalisation step that does not exist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architecture works: the particle filter tracks engine health reliably across the whole fleet. Point accuracy improved substantially once the degradation rate was estimated from data instead of hand-set or pooled -- final-cycle RMSE on FD001 roughly halved. And calibration -- the dimension I frame as the actual reason to choose a probabilistic digital twin in the first place -- is achieved in practice, not merely available in principle: coverage moved from zero to seventy-five and ninety-nine percent, checkable on a stated hundred-engine test fleet, something a point-estimate deep-learning model cannot even offer. The contribution is combining a continuous-state particle filter with calibrated RUL and applying it to turbofan engines specifically, which the existing literature -- particle filters mostly on batteries, deep learning mostly reporting only point accuracy on C-MAPSS -- leaves as an open gap. For future work: better PMMH convergence and per-engine noise estimates are the most direct route to tightening the remaining calibration gap; beyond that, jointly estimating rate and noise, a life-fraction-normalised alternative to pooling, closing the similarity-matching simplifications, extending to more operating conditions, and a proper particle-count sensitivity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64C8"/>
        </a:solidFill>
      </p:bgPr>
    </p:bg>
    <p:spTree>
      <p:nvGrpSpPr>
        <p:cNvPr id="1" name=""/>
        <p:cNvGrpSpPr/>
        <p:nvPr/>
      </p:nvGrpSpPr>
      <p:grpSpPr>
        <a:xfrm>
          <a:off x="0" y="0"/>
          <a:ext cx="0" cy="0"/>
          <a:chOff x="0" y="0"/>
          <a:chExt cx="0" cy="0"/>
        </a:xfrm>
      </p:grpSpPr>
      <p:pic>
        <p:nvPicPr>
          <p:cNvPr id="2" name="Image 0" descr="/tmp/defense_prep/ugent_logo_white.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822960" y="1965960"/>
            <a:ext cx="10545775" cy="1005840"/>
          </a:xfrm>
          <a:prstGeom prst="rect">
            <a:avLst/>
          </a:prstGeom>
          <a:noFill/>
          <a:ln/>
        </p:spPr>
        <p:txBody>
          <a:bodyPr wrap="square" rtlCol="0" anchor="ctr"/>
          <a:lstStyle/>
          <a:p>
            <a:pPr algn="l" indent="0" marL="0">
              <a:buNone/>
            </a:pPr>
            <a:r>
              <a:rPr lang="en-US" sz="3400" b="1" spc="50" kern="0" dirty="0">
                <a:solidFill>
                  <a:srgbClr val="FFFFFF"/>
                </a:solidFill>
                <a:latin typeface="UGent Panno Text SemiBold" pitchFamily="34" charset="0"/>
                <a:ea typeface="UGent Panno Text SemiBold" pitchFamily="34" charset="-122"/>
                <a:cs typeface="UGent Panno Text SemiBold" pitchFamily="34" charset="-120"/>
              </a:rPr>
              <a:t>A BAYESIAN APPROACH TO DIGITAL TWINS</a:t>
            </a:r>
            <a:endParaRPr lang="en-US" sz="3400" dirty="0"/>
          </a:p>
        </p:txBody>
      </p:sp>
      <p:sp>
        <p:nvSpPr>
          <p:cNvPr id="4" name="Text 1"/>
          <p:cNvSpPr/>
          <p:nvPr/>
        </p:nvSpPr>
        <p:spPr>
          <a:xfrm>
            <a:off x="822960" y="2788920"/>
            <a:ext cx="10545775" cy="548640"/>
          </a:xfrm>
          <a:prstGeom prst="rect">
            <a:avLst/>
          </a:prstGeom>
          <a:noFill/>
          <a:ln/>
        </p:spPr>
        <p:txBody>
          <a:bodyPr wrap="square" rtlCol="0" anchor="ctr"/>
          <a:lstStyle/>
          <a:p>
            <a:pPr algn="l" indent="0" marL="0">
              <a:buNone/>
            </a:pPr>
            <a:r>
              <a:rPr lang="en-US" sz="1700" i="1" dirty="0">
                <a:solidFill>
                  <a:srgbClr val="D7E6F5"/>
                </a:solidFill>
                <a:latin typeface="UGent Panno Text" pitchFamily="34" charset="0"/>
                <a:ea typeface="UGent Panno Text" pitchFamily="34" charset="-122"/>
                <a:cs typeface="UGent Panno Text" pitchFamily="34" charset="-120"/>
              </a:rPr>
              <a:t>Sequential Monte Carlo for Turbofan Engine Remaining Useful Life Estimation</a:t>
            </a:r>
            <a:endParaRPr lang="en-US" sz="1700" dirty="0"/>
          </a:p>
        </p:txBody>
      </p:sp>
      <p:sp>
        <p:nvSpPr>
          <p:cNvPr id="5" name="Shape 2"/>
          <p:cNvSpPr/>
          <p:nvPr/>
        </p:nvSpPr>
        <p:spPr>
          <a:xfrm>
            <a:off x="822960" y="3520440"/>
            <a:ext cx="1280160" cy="0"/>
          </a:xfrm>
          <a:prstGeom prst="line">
            <a:avLst/>
          </a:prstGeom>
          <a:noFill/>
          <a:ln w="31750">
            <a:solidFill>
              <a:srgbClr val="F1A32B"/>
            </a:solidFill>
            <a:prstDash val="solid"/>
          </a:ln>
        </p:spPr>
      </p:sp>
      <p:sp>
        <p:nvSpPr>
          <p:cNvPr id="6" name="Text 3"/>
          <p:cNvSpPr/>
          <p:nvPr/>
        </p:nvSpPr>
        <p:spPr>
          <a:xfrm>
            <a:off x="822960" y="3794760"/>
            <a:ext cx="7315200" cy="365760"/>
          </a:xfrm>
          <a:prstGeom prst="rect">
            <a:avLst/>
          </a:prstGeom>
          <a:noFill/>
          <a:ln/>
        </p:spPr>
        <p:txBody>
          <a:bodyPr wrap="square" rtlCol="0" anchor="ctr"/>
          <a:lstStyle/>
          <a:p>
            <a:pPr indent="0" marL="0">
              <a:buNone/>
            </a:pPr>
            <a:r>
              <a:rPr lang="en-US" sz="1800" b="1" dirty="0">
                <a:solidFill>
                  <a:srgbClr val="FFFFFF"/>
                </a:solidFill>
                <a:latin typeface="UGent Panno Text" pitchFamily="34" charset="0"/>
                <a:ea typeface="UGent Panno Text" pitchFamily="34" charset="-122"/>
                <a:cs typeface="UGent Panno Text" pitchFamily="34" charset="-120"/>
              </a:rPr>
              <a:t>Sajjad Ayashm</a:t>
            </a:r>
            <a:endParaRPr lang="en-US" sz="1800" dirty="0"/>
          </a:p>
        </p:txBody>
      </p:sp>
      <p:sp>
        <p:nvSpPr>
          <p:cNvPr id="7" name="Text 4"/>
          <p:cNvSpPr/>
          <p:nvPr/>
        </p:nvSpPr>
        <p:spPr>
          <a:xfrm>
            <a:off x="822960" y="4206240"/>
            <a:ext cx="8229600" cy="320040"/>
          </a:xfrm>
          <a:prstGeom prst="rect">
            <a:avLst/>
          </a:prstGeom>
          <a:noFill/>
          <a:ln/>
        </p:spPr>
        <p:txBody>
          <a:bodyPr wrap="square" rtlCol="0" anchor="ctr"/>
          <a:lstStyle/>
          <a:p>
            <a:pPr indent="0" marL="0">
              <a:buNone/>
            </a:pPr>
            <a:r>
              <a:rPr lang="en-US" sz="1300" dirty="0">
                <a:solidFill>
                  <a:srgbClr val="8BBED5"/>
                </a:solidFill>
                <a:latin typeface="UGent Panno Text" pitchFamily="34" charset="0"/>
                <a:ea typeface="UGent Panno Text" pitchFamily="34" charset="-122"/>
                <a:cs typeface="UGent Panno Text" pitchFamily="34" charset="-120"/>
              </a:rPr>
              <a:t>Master of Science in Statistical Data Analysis  ·  Ghent University</a:t>
            </a:r>
            <a:endParaRPr lang="en-US" sz="1300" dirty="0"/>
          </a:p>
        </p:txBody>
      </p:sp>
      <p:sp>
        <p:nvSpPr>
          <p:cNvPr id="8" name="Text 5"/>
          <p:cNvSpPr/>
          <p:nvPr/>
        </p:nvSpPr>
        <p:spPr>
          <a:xfrm>
            <a:off x="822960" y="4553712"/>
            <a:ext cx="9144000" cy="320040"/>
          </a:xfrm>
          <a:prstGeom prst="rect">
            <a:avLst/>
          </a:prstGeom>
          <a:noFill/>
          <a:ln/>
        </p:spPr>
        <p:txBody>
          <a:bodyPr wrap="square" rtlCol="0" anchor="ctr"/>
          <a:lstStyle/>
          <a:p>
            <a:pPr indent="0" marL="0">
              <a:buNone/>
            </a:pPr>
            <a:r>
              <a:rPr lang="en-US" sz="1200" dirty="0">
                <a:solidFill>
                  <a:srgbClr val="8BBED5"/>
                </a:solidFill>
                <a:latin typeface="UGent Panno Text" pitchFamily="34" charset="0"/>
                <a:ea typeface="UGent Panno Text" pitchFamily="34" charset="-122"/>
                <a:cs typeface="UGent Panno Text" pitchFamily="34" charset="-120"/>
              </a:rPr>
              <a:t>Promotor: Prof. Dr. Koen De Turck    ·    Co-promotor: Prof. Dr. Dieter Fiems</a:t>
            </a:r>
            <a:endParaRPr lang="en-US" sz="1200" dirty="0"/>
          </a:p>
        </p:txBody>
      </p:sp>
      <p:sp>
        <p:nvSpPr>
          <p:cNvPr id="9" name="Text 6"/>
          <p:cNvSpPr/>
          <p:nvPr/>
        </p:nvSpPr>
        <p:spPr>
          <a:xfrm>
            <a:off x="822960" y="6172200"/>
            <a:ext cx="5486400" cy="274320"/>
          </a:xfrm>
          <a:prstGeom prst="rect">
            <a:avLst/>
          </a:prstGeom>
          <a:noFill/>
          <a:ln/>
        </p:spPr>
        <p:txBody>
          <a:bodyPr wrap="square" rtlCol="0" anchor="ctr"/>
          <a:lstStyle/>
          <a:p>
            <a:pPr indent="0" marL="0">
              <a:buNone/>
            </a:pPr>
            <a:r>
              <a:rPr lang="en-US" sz="1100" dirty="0">
                <a:solidFill>
                  <a:srgbClr val="5B6B85"/>
                </a:solidFill>
                <a:latin typeface="UGent Panno Text" pitchFamily="34" charset="0"/>
                <a:ea typeface="UGent Panno Text" pitchFamily="34" charset="-122"/>
                <a:cs typeface="UGent Panno Text" pitchFamily="34" charset="-120"/>
              </a:rPr>
              <a:t>Academic Year 2025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pic>
        <p:nvPicPr>
          <p:cNvPr id="2" name="Image 0" descr="/tmp/defense_prep/ugent_logo_cropped.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F1A32B"/>
                </a:solidFill>
                <a:latin typeface="UGent Panno Text" pitchFamily="34" charset="0"/>
                <a:ea typeface="UGent Panno Text" pitchFamily="34" charset="-122"/>
                <a:cs typeface="UGent Panno Text" pitchFamily="34" charset="-120"/>
              </a:rPr>
              <a:t>MOTIVATION</a:t>
            </a:r>
            <a:endParaRPr lang="en-US" sz="1100" dirty="0"/>
          </a:p>
        </p:txBody>
      </p:sp>
      <p:sp>
        <p:nvSpPr>
          <p:cNvPr id="4"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1E64C8"/>
                </a:solidFill>
                <a:latin typeface="UGent Panno Text SemiBold" pitchFamily="34" charset="0"/>
                <a:ea typeface="UGent Panno Text SemiBold" pitchFamily="34" charset="-122"/>
                <a:cs typeface="UGent Panno Text SemiBold" pitchFamily="34" charset="-120"/>
              </a:rPr>
              <a:t>A Single Number Is Not Enough</a:t>
            </a:r>
            <a:endParaRPr lang="en-US" sz="3000" dirty="0"/>
          </a:p>
        </p:txBody>
      </p:sp>
      <p:sp>
        <p:nvSpPr>
          <p:cNvPr id="5" name="Text 2"/>
          <p:cNvSpPr/>
          <p:nvPr/>
        </p:nvSpPr>
        <p:spPr>
          <a:xfrm>
            <a:off x="594360" y="1417320"/>
            <a:ext cx="5120640" cy="3108960"/>
          </a:xfrm>
          <a:prstGeom prst="rect">
            <a:avLst/>
          </a:prstGeom>
          <a:noFill/>
          <a:ln/>
        </p:spPr>
        <p:txBody>
          <a:bodyPr wrap="square" rtlCol="0" anchor="t"/>
          <a:lstStyle/>
          <a:p>
            <a:pPr indent="0" marL="0">
              <a:lnSpc>
                <a:spcPct val="125000"/>
              </a:lnSpc>
              <a:buNone/>
            </a:pPr>
            <a:r>
              <a:rPr lang="en-US" sz="1500" b="1" dirty="0">
                <a:solidFill>
                  <a:srgbClr val="1E64C8"/>
                </a:solidFill>
                <a:latin typeface="UGent Panno Text" pitchFamily="34" charset="0"/>
                <a:ea typeface="UGent Panno Text" pitchFamily="34" charset="-122"/>
                <a:cs typeface="UGent Panno Text" pitchFamily="34" charset="-120"/>
              </a:rPr>
              <a:t>Predictive maintenance </a:t>
            </a:r>
            <a:pPr indent="0" marL="0">
              <a:lnSpc>
                <a:spcPct val="125000"/>
              </a:lnSpc>
              <a:buNone/>
            </a:pPr>
            <a:r>
              <a:rPr lang="en-US" sz="1500" dirty="0">
                <a:solidFill>
                  <a:srgbClr val="16233B"/>
                </a:solidFill>
                <a:latin typeface="UGent Panno Text" pitchFamily="34" charset="0"/>
                <a:ea typeface="UGent Panno Text" pitchFamily="34" charset="-122"/>
                <a:cs typeface="UGent Panno Text" pitchFamily="34" charset="-120"/>
              </a:rPr>
              <a:t>schedules repairs from an asset's actual condition, not a fixed calendar.
</a:t>
            </a:r>
            <a:pPr indent="0" marL="0">
              <a:lnSpc>
                <a:spcPct val="125000"/>
              </a:lnSpc>
              <a:buNone/>
            </a:pPr>
            <a:r>
              <a:rPr lang="en-US" sz="1500" dirty="0">
                <a:solidFill>
                  <a:srgbClr val="16233B"/>
                </a:solidFill>
                <a:latin typeface="UGent Panno Text" pitchFamily="34" charset="0"/>
                <a:ea typeface="UGent Panno Text" pitchFamily="34" charset="-122"/>
                <a:cs typeface="UGent Panno Text" pitchFamily="34" charset="-120"/>
              </a:rPr>
              <a:t>The key quantity: </a:t>
            </a:r>
            <a:pPr indent="0" marL="0">
              <a:lnSpc>
                <a:spcPct val="125000"/>
              </a:lnSpc>
              <a:buNone/>
            </a:pPr>
            <a:r>
              <a:rPr lang="en-US" sz="1500" b="1" dirty="0">
                <a:solidFill>
                  <a:srgbClr val="1E64C8"/>
                </a:solidFill>
                <a:latin typeface="UGent Panno Text" pitchFamily="34" charset="0"/>
                <a:ea typeface="UGent Panno Text" pitchFamily="34" charset="-122"/>
                <a:cs typeface="UGent Panno Text" pitchFamily="34" charset="-120"/>
              </a:rPr>
              <a:t>Remaining Useful Life (RUL)</a:t>
            </a:r>
            <a:pPr indent="0" marL="0">
              <a:lnSpc>
                <a:spcPct val="125000"/>
              </a:lnSpc>
              <a:buNone/>
            </a:pPr>
            <a:r>
              <a:rPr lang="en-US" sz="1500" dirty="0">
                <a:solidFill>
                  <a:srgbClr val="16233B"/>
                </a:solidFill>
                <a:latin typeface="UGent Panno Text" pitchFamily="34" charset="0"/>
                <a:ea typeface="UGent Panno Text" pitchFamily="34" charset="-122"/>
                <a:cs typeface="UGent Panno Text" pitchFamily="34" charset="-120"/>
              </a:rPr>
              <a:t> — cycles left before failure.
</a:t>
            </a:r>
            <a:pPr indent="0" marL="0">
              <a:lnSpc>
                <a:spcPct val="125000"/>
              </a:lnSpc>
              <a:buNone/>
            </a:pPr>
            <a:r>
              <a:rPr lang="en-US" sz="1500" dirty="0">
                <a:solidFill>
                  <a:srgbClr val="16233B"/>
                </a:solidFill>
                <a:latin typeface="UGent Panno Text" pitchFamily="34" charset="0"/>
                <a:ea typeface="UGent Panno Text" pitchFamily="34" charset="-122"/>
                <a:cs typeface="UGent Panno Text" pitchFamily="34" charset="-120"/>
              </a:rPr>
              <a:t>Most methods — regression, CNN, LSTM — output </a:t>
            </a:r>
            <a:pPr indent="0" marL="0">
              <a:lnSpc>
                <a:spcPct val="125000"/>
              </a:lnSpc>
              <a:buNone/>
            </a:pPr>
            <a:r>
              <a:rPr lang="en-US" sz="1500" b="1" i="1" dirty="0">
                <a:solidFill>
                  <a:srgbClr val="F1A32B"/>
                </a:solidFill>
                <a:latin typeface="UGent Panno Text" pitchFamily="34" charset="0"/>
                <a:ea typeface="UGent Panno Text" pitchFamily="34" charset="-122"/>
                <a:cs typeface="UGent Panno Text" pitchFamily="34" charset="-120"/>
              </a:rPr>
              <a:t>one number</a:t>
            </a:r>
            <a:pPr indent="0" marL="0">
              <a:lnSpc>
                <a:spcPct val="125000"/>
              </a:lnSpc>
              <a:buNone/>
            </a:pPr>
            <a:r>
              <a:rPr lang="en-US" sz="1500" dirty="0">
                <a:solidFill>
                  <a:srgbClr val="16233B"/>
                </a:solidFill>
                <a:latin typeface="UGent Panno Text" pitchFamily="34" charset="0"/>
                <a:ea typeface="UGent Panno Text" pitchFamily="34" charset="-122"/>
                <a:cs typeface="UGent Panno Text" pitchFamily="34" charset="-120"/>
              </a:rPr>
              <a:t> and nothing else.</a:t>
            </a:r>
            <a:endParaRPr lang="en-US" sz="1500" dirty="0"/>
          </a:p>
        </p:txBody>
      </p:sp>
      <p:sp>
        <p:nvSpPr>
          <p:cNvPr id="6" name="Shape 3"/>
          <p:cNvSpPr/>
          <p:nvPr/>
        </p:nvSpPr>
        <p:spPr>
          <a:xfrm>
            <a:off x="6537960" y="1417320"/>
            <a:ext cx="5074920" cy="960120"/>
          </a:xfrm>
          <a:prstGeom prst="roundRect">
            <a:avLst>
              <a:gd name="adj" fmla="val 8571"/>
            </a:avLst>
          </a:prstGeom>
          <a:solidFill>
            <a:srgbClr val="1E64C8"/>
          </a:solidFill>
          <a:ln/>
        </p:spPr>
      </p:sp>
      <p:sp>
        <p:nvSpPr>
          <p:cNvPr id="7" name="Text 4"/>
          <p:cNvSpPr/>
          <p:nvPr/>
        </p:nvSpPr>
        <p:spPr>
          <a:xfrm>
            <a:off x="6537960" y="1508760"/>
            <a:ext cx="5074920" cy="274320"/>
          </a:xfrm>
          <a:prstGeom prst="rect">
            <a:avLst/>
          </a:prstGeom>
          <a:noFill/>
          <a:ln/>
        </p:spPr>
        <p:txBody>
          <a:bodyPr wrap="square" rtlCol="0" anchor="ctr"/>
          <a:lstStyle/>
          <a:p>
            <a:pPr algn="ctr" indent="0" marL="0">
              <a:buNone/>
            </a:pPr>
            <a:r>
              <a:rPr lang="en-US" sz="1100" dirty="0">
                <a:solidFill>
                  <a:srgbClr val="8BBED5"/>
                </a:solidFill>
                <a:latin typeface="UGent Panno Text" pitchFamily="34" charset="0"/>
                <a:ea typeface="UGent Panno Text" pitchFamily="34" charset="-122"/>
                <a:cs typeface="UGent Panno Text" pitchFamily="34" charset="-120"/>
              </a:rPr>
              <a:t>A point-estimate model gives you:</a:t>
            </a:r>
            <a:endParaRPr lang="en-US" sz="1100" dirty="0"/>
          </a:p>
        </p:txBody>
      </p:sp>
      <p:sp>
        <p:nvSpPr>
          <p:cNvPr id="8" name="Text 5"/>
          <p:cNvSpPr/>
          <p:nvPr/>
        </p:nvSpPr>
        <p:spPr>
          <a:xfrm>
            <a:off x="6537960" y="1764792"/>
            <a:ext cx="5074920" cy="548640"/>
          </a:xfrm>
          <a:prstGeom prst="rect">
            <a:avLst/>
          </a:prstGeom>
          <a:noFill/>
          <a:ln/>
        </p:spPr>
        <p:txBody>
          <a:bodyPr wrap="square" rtlCol="0" anchor="ctr"/>
          <a:lstStyle/>
          <a:p>
            <a:pPr algn="ctr" indent="0" marL="0">
              <a:buNone/>
            </a:pPr>
            <a:r>
              <a:rPr lang="en-US" sz="2400" b="1" dirty="0">
                <a:solidFill>
                  <a:srgbClr val="FFFFFF"/>
                </a:solidFill>
                <a:latin typeface="UGent Panno Text SemiBold" pitchFamily="34" charset="0"/>
                <a:ea typeface="UGent Panno Text SemiBold" pitchFamily="34" charset="-122"/>
                <a:cs typeface="UGent Panno Text SemiBold" pitchFamily="34" charset="-120"/>
              </a:rPr>
              <a:t>RUL ≈ 50 cycles</a:t>
            </a:r>
            <a:endParaRPr lang="en-US" sz="2400" dirty="0"/>
          </a:p>
        </p:txBody>
      </p:sp>
      <p:sp>
        <p:nvSpPr>
          <p:cNvPr id="9" name="Shape 6"/>
          <p:cNvSpPr/>
          <p:nvPr/>
        </p:nvSpPr>
        <p:spPr>
          <a:xfrm>
            <a:off x="8974836" y="2487168"/>
            <a:ext cx="201168" cy="292608"/>
          </a:xfrm>
          <a:prstGeom prst="downArrow">
            <a:avLst/>
          </a:prstGeom>
          <a:solidFill>
            <a:srgbClr val="8BBED5"/>
          </a:solidFill>
          <a:ln/>
        </p:spPr>
      </p:sp>
      <p:sp>
        <p:nvSpPr>
          <p:cNvPr id="10" name="Text 7"/>
          <p:cNvSpPr/>
          <p:nvPr/>
        </p:nvSpPr>
        <p:spPr>
          <a:xfrm>
            <a:off x="6537960" y="2779776"/>
            <a:ext cx="5074920" cy="320040"/>
          </a:xfrm>
          <a:prstGeom prst="rect">
            <a:avLst/>
          </a:prstGeom>
          <a:noFill/>
          <a:ln/>
        </p:spPr>
        <p:txBody>
          <a:bodyPr wrap="square" rtlCol="0" anchor="ctr"/>
          <a:lstStyle/>
          <a:p>
            <a:pPr algn="ctr" indent="0" marL="0">
              <a:buNone/>
            </a:pPr>
            <a:r>
              <a:rPr lang="en-US" sz="1300" b="1" i="1" dirty="0">
                <a:solidFill>
                  <a:srgbClr val="1E64C8"/>
                </a:solidFill>
                <a:latin typeface="UGent Panno Text" pitchFamily="34" charset="0"/>
                <a:ea typeface="UGent Panno Text" pitchFamily="34" charset="-122"/>
                <a:cs typeface="UGent Panno Text" pitchFamily="34" charset="-120"/>
              </a:rPr>
              <a:t>But which is it, really?</a:t>
            </a:r>
            <a:endParaRPr lang="en-US" sz="1300" dirty="0"/>
          </a:p>
        </p:txBody>
      </p:sp>
      <p:sp>
        <p:nvSpPr>
          <p:cNvPr id="11" name="Shape 8"/>
          <p:cNvSpPr/>
          <p:nvPr/>
        </p:nvSpPr>
        <p:spPr>
          <a:xfrm>
            <a:off x="6537960" y="3172968"/>
            <a:ext cx="2377440" cy="1874520"/>
          </a:xfrm>
          <a:prstGeom prst="roundRect">
            <a:avLst>
              <a:gd name="adj" fmla="val 4390"/>
            </a:avLst>
          </a:prstGeom>
          <a:solidFill>
            <a:srgbClr val="FFFFFF"/>
          </a:solidFill>
          <a:ln w="19050">
            <a:solidFill>
              <a:srgbClr val="2C8CA5"/>
            </a:solidFill>
            <a:prstDash val="dash"/>
          </a:ln>
        </p:spPr>
      </p:sp>
      <p:sp>
        <p:nvSpPr>
          <p:cNvPr id="12" name="Text 9"/>
          <p:cNvSpPr/>
          <p:nvPr/>
        </p:nvSpPr>
        <p:spPr>
          <a:xfrm>
            <a:off x="6675120" y="3300984"/>
            <a:ext cx="2103120" cy="274320"/>
          </a:xfrm>
          <a:prstGeom prst="rect">
            <a:avLst/>
          </a:prstGeom>
          <a:noFill/>
          <a:ln/>
        </p:spPr>
        <p:txBody>
          <a:bodyPr wrap="square" rtlCol="0" anchor="ctr"/>
          <a:lstStyle/>
          <a:p>
            <a:pPr algn="ctr" indent="0" marL="0">
              <a:buNone/>
            </a:pPr>
            <a:r>
              <a:rPr lang="en-US" sz="1000" b="1" spc="100" kern="0" dirty="0">
                <a:solidFill>
                  <a:srgbClr val="2C8CA5"/>
                </a:solidFill>
                <a:latin typeface="UGent Panno Text" pitchFamily="34" charset="0"/>
                <a:ea typeface="UGent Panno Text" pitchFamily="34" charset="-122"/>
                <a:cs typeface="UGent Panno Text" pitchFamily="34" charset="-120"/>
              </a:rPr>
              <a:t>POSSIBLE TRUTH A</a:t>
            </a:r>
            <a:endParaRPr lang="en-US" sz="1000" dirty="0"/>
          </a:p>
        </p:txBody>
      </p:sp>
      <p:sp>
        <p:nvSpPr>
          <p:cNvPr id="13" name="Text 10"/>
          <p:cNvSpPr/>
          <p:nvPr/>
        </p:nvSpPr>
        <p:spPr>
          <a:xfrm>
            <a:off x="6537960" y="3611880"/>
            <a:ext cx="2377440" cy="548640"/>
          </a:xfrm>
          <a:prstGeom prst="rect">
            <a:avLst/>
          </a:prstGeom>
          <a:noFill/>
          <a:ln/>
        </p:spPr>
        <p:txBody>
          <a:bodyPr wrap="square" rtlCol="0" anchor="ctr"/>
          <a:lstStyle/>
          <a:p>
            <a:pPr algn="ctr" indent="0" marL="0">
              <a:buNone/>
            </a:pPr>
            <a:r>
              <a:rPr lang="en-US" sz="2200" b="1" dirty="0">
                <a:solidFill>
                  <a:srgbClr val="2C8CA5"/>
                </a:solidFill>
                <a:latin typeface="UGent Panno Text SemiBold" pitchFamily="34" charset="0"/>
                <a:ea typeface="UGent Panno Text SemiBold" pitchFamily="34" charset="-122"/>
                <a:cs typeface="UGent Panno Text SemiBold" pitchFamily="34" charset="-120"/>
              </a:rPr>
              <a:t>50 ± 3</a:t>
            </a:r>
            <a:endParaRPr lang="en-US" sz="2200" dirty="0"/>
          </a:p>
        </p:txBody>
      </p:sp>
      <p:sp>
        <p:nvSpPr>
          <p:cNvPr id="14" name="Text 11"/>
          <p:cNvSpPr/>
          <p:nvPr/>
        </p:nvSpPr>
        <p:spPr>
          <a:xfrm>
            <a:off x="6702552" y="4197096"/>
            <a:ext cx="2048256" cy="777240"/>
          </a:xfrm>
          <a:prstGeom prst="rect">
            <a:avLst/>
          </a:prstGeom>
          <a:noFill/>
          <a:ln/>
        </p:spPr>
        <p:txBody>
          <a:bodyPr wrap="square" rtlCol="0" anchor="t"/>
          <a:lstStyle/>
          <a:p>
            <a:pPr algn="ctr" indent="0" marL="0">
              <a:buNone/>
            </a:pPr>
            <a:r>
              <a:rPr lang="en-US" sz="1150" dirty="0">
                <a:solidFill>
                  <a:srgbClr val="16233B"/>
                </a:solidFill>
                <a:latin typeface="UGent Panno Text" pitchFamily="34" charset="0"/>
                <a:ea typeface="UGent Panno Text" pitchFamily="34" charset="-122"/>
                <a:cs typeface="UGent Panno Text" pitchFamily="34" charset="-120"/>
              </a:rPr>
              <a:t>Confident.</a:t>
            </a:r>
            <a:endParaRPr lang="en-US" sz="1150" dirty="0"/>
          </a:p>
          <a:p>
            <a:pPr algn="ctr" indent="0" marL="0">
              <a:buNone/>
            </a:pPr>
            <a:r>
              <a:rPr lang="en-US" sz="1150" dirty="0">
                <a:solidFill>
                  <a:srgbClr val="16233B"/>
                </a:solidFill>
                <a:latin typeface="UGent Panno Text" pitchFamily="34" charset="0"/>
                <a:ea typeface="UGent Panno Text" pitchFamily="34" charset="-122"/>
                <a:cs typeface="UGent Panno Text" pitchFamily="34" charset="-120"/>
              </a:rPr>
              <a:t>Safe to schedule service at cycle 45.</a:t>
            </a:r>
            <a:endParaRPr lang="en-US" sz="1150" dirty="0"/>
          </a:p>
        </p:txBody>
      </p:sp>
      <p:sp>
        <p:nvSpPr>
          <p:cNvPr id="15" name="Shape 12"/>
          <p:cNvSpPr/>
          <p:nvPr/>
        </p:nvSpPr>
        <p:spPr>
          <a:xfrm>
            <a:off x="9235440" y="3172968"/>
            <a:ext cx="2377440" cy="1874520"/>
          </a:xfrm>
          <a:prstGeom prst="roundRect">
            <a:avLst>
              <a:gd name="adj" fmla="val 4390"/>
            </a:avLst>
          </a:prstGeom>
          <a:solidFill>
            <a:srgbClr val="FFFFFF"/>
          </a:solidFill>
          <a:ln w="19050">
            <a:solidFill>
              <a:srgbClr val="F1A32B"/>
            </a:solidFill>
            <a:prstDash val="dash"/>
          </a:ln>
        </p:spPr>
      </p:sp>
      <p:sp>
        <p:nvSpPr>
          <p:cNvPr id="16" name="Text 13"/>
          <p:cNvSpPr/>
          <p:nvPr/>
        </p:nvSpPr>
        <p:spPr>
          <a:xfrm>
            <a:off x="9372600" y="3300984"/>
            <a:ext cx="2103120" cy="274320"/>
          </a:xfrm>
          <a:prstGeom prst="rect">
            <a:avLst/>
          </a:prstGeom>
          <a:noFill/>
          <a:ln/>
        </p:spPr>
        <p:txBody>
          <a:bodyPr wrap="square" rtlCol="0" anchor="ctr"/>
          <a:lstStyle/>
          <a:p>
            <a:pPr algn="ctr" indent="0" marL="0">
              <a:buNone/>
            </a:pPr>
            <a:r>
              <a:rPr lang="en-US" sz="1000" b="1" spc="100" kern="0" dirty="0">
                <a:solidFill>
                  <a:srgbClr val="F1A32B"/>
                </a:solidFill>
                <a:latin typeface="UGent Panno Text" pitchFamily="34" charset="0"/>
                <a:ea typeface="UGent Panno Text" pitchFamily="34" charset="-122"/>
                <a:cs typeface="UGent Panno Text" pitchFamily="34" charset="-120"/>
              </a:rPr>
              <a:t>POSSIBLE TRUTH B</a:t>
            </a:r>
            <a:endParaRPr lang="en-US" sz="1000" dirty="0"/>
          </a:p>
        </p:txBody>
      </p:sp>
      <p:sp>
        <p:nvSpPr>
          <p:cNvPr id="17" name="Text 14"/>
          <p:cNvSpPr/>
          <p:nvPr/>
        </p:nvSpPr>
        <p:spPr>
          <a:xfrm>
            <a:off x="9235440" y="3611880"/>
            <a:ext cx="2377440" cy="548640"/>
          </a:xfrm>
          <a:prstGeom prst="rect">
            <a:avLst/>
          </a:prstGeom>
          <a:noFill/>
          <a:ln/>
        </p:spPr>
        <p:txBody>
          <a:bodyPr wrap="square" rtlCol="0" anchor="ctr"/>
          <a:lstStyle/>
          <a:p>
            <a:pPr algn="ctr" indent="0" marL="0">
              <a:buNone/>
            </a:pPr>
            <a:r>
              <a:rPr lang="en-US" sz="2200" b="1" dirty="0">
                <a:solidFill>
                  <a:srgbClr val="F1A32B"/>
                </a:solidFill>
                <a:latin typeface="UGent Panno Text SemiBold" pitchFamily="34" charset="0"/>
                <a:ea typeface="UGent Panno Text SemiBold" pitchFamily="34" charset="-122"/>
                <a:cs typeface="UGent Panno Text SemiBold" pitchFamily="34" charset="-120"/>
              </a:rPr>
              <a:t>50 ± 40</a:t>
            </a:r>
            <a:endParaRPr lang="en-US" sz="2200" dirty="0"/>
          </a:p>
        </p:txBody>
      </p:sp>
      <p:sp>
        <p:nvSpPr>
          <p:cNvPr id="18" name="Text 15"/>
          <p:cNvSpPr/>
          <p:nvPr/>
        </p:nvSpPr>
        <p:spPr>
          <a:xfrm>
            <a:off x="9400032" y="4197096"/>
            <a:ext cx="2048256" cy="777240"/>
          </a:xfrm>
          <a:prstGeom prst="rect">
            <a:avLst/>
          </a:prstGeom>
          <a:noFill/>
          <a:ln/>
        </p:spPr>
        <p:txBody>
          <a:bodyPr wrap="square" rtlCol="0" anchor="t"/>
          <a:lstStyle/>
          <a:p>
            <a:pPr algn="ctr" indent="0" marL="0">
              <a:buNone/>
            </a:pPr>
            <a:r>
              <a:rPr lang="en-US" sz="1150" dirty="0">
                <a:solidFill>
                  <a:srgbClr val="16233B"/>
                </a:solidFill>
                <a:latin typeface="UGent Panno Text" pitchFamily="34" charset="0"/>
                <a:ea typeface="UGent Panno Text" pitchFamily="34" charset="-122"/>
                <a:cs typeface="UGent Panno Text" pitchFamily="34" charset="-120"/>
              </a:rPr>
              <a:t>Uncertain.</a:t>
            </a:r>
            <a:endParaRPr lang="en-US" sz="1150" dirty="0"/>
          </a:p>
          <a:p>
            <a:pPr algn="ctr" indent="0" marL="0">
              <a:buNone/>
            </a:pPr>
            <a:r>
              <a:rPr lang="en-US" sz="1150" dirty="0">
                <a:solidFill>
                  <a:srgbClr val="16233B"/>
                </a:solidFill>
                <a:latin typeface="UGent Panno Text" pitchFamily="34" charset="0"/>
                <a:ea typeface="UGent Panno Text" pitchFamily="34" charset="-122"/>
                <a:cs typeface="UGent Panno Text" pitchFamily="34" charset="-120"/>
              </a:rPr>
              <a:t>Could fail anywhere from cycle 10 to 90.</a:t>
            </a:r>
            <a:endParaRPr lang="en-US" sz="1150" dirty="0"/>
          </a:p>
        </p:txBody>
      </p:sp>
      <p:sp>
        <p:nvSpPr>
          <p:cNvPr id="19" name="Text 16"/>
          <p:cNvSpPr/>
          <p:nvPr/>
        </p:nvSpPr>
        <p:spPr>
          <a:xfrm>
            <a:off x="6537960" y="5184648"/>
            <a:ext cx="5074920" cy="365760"/>
          </a:xfrm>
          <a:prstGeom prst="rect">
            <a:avLst/>
          </a:prstGeom>
          <a:noFill/>
          <a:ln/>
        </p:spPr>
        <p:txBody>
          <a:bodyPr wrap="square" rtlCol="0" anchor="ctr"/>
          <a:lstStyle/>
          <a:p>
            <a:pPr algn="ctr" indent="0" marL="0">
              <a:buNone/>
            </a:pPr>
            <a:r>
              <a:rPr lang="en-US" sz="1250" b="1" i="1" dirty="0">
                <a:solidFill>
                  <a:srgbClr val="1E64C8"/>
                </a:solidFill>
                <a:latin typeface="UGent Panno Text" pitchFamily="34" charset="0"/>
                <a:ea typeface="UGent Panno Text" pitchFamily="34" charset="-122"/>
                <a:cs typeface="UGent Panno Text" pitchFamily="34" charset="-120"/>
              </a:rPr>
              <a:t>A point estimate can't tell you which one you're actually in.</a:t>
            </a:r>
            <a:endParaRPr lang="en-US" sz="1250" dirty="0"/>
          </a:p>
        </p:txBody>
      </p:sp>
      <p:sp>
        <p:nvSpPr>
          <p:cNvPr id="20" name="Text 17"/>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UGent Panno Text" pitchFamily="34" charset="0"/>
                <a:ea typeface="UGent Panno Text" pitchFamily="34" charset="-122"/>
                <a:cs typeface="UGent Panno Text"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pic>
        <p:nvPicPr>
          <p:cNvPr id="2" name="Image 0" descr="/tmp/defense_prep/ugent_logo_cropped.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F1A32B"/>
                </a:solidFill>
                <a:latin typeface="UGent Panno Text" pitchFamily="34" charset="0"/>
                <a:ea typeface="UGent Panno Text" pitchFamily="34" charset="-122"/>
                <a:cs typeface="UGent Panno Text" pitchFamily="34" charset="-120"/>
              </a:rPr>
              <a:t>RESEARCH OBJECTIVE</a:t>
            </a:r>
            <a:endParaRPr lang="en-US" sz="1100" dirty="0"/>
          </a:p>
        </p:txBody>
      </p:sp>
      <p:sp>
        <p:nvSpPr>
          <p:cNvPr id="4"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1E64C8"/>
                </a:solidFill>
                <a:latin typeface="UGent Panno Text SemiBold" pitchFamily="34" charset="0"/>
                <a:ea typeface="UGent Panno Text SemiBold" pitchFamily="34" charset="-122"/>
                <a:cs typeface="UGent Panno Text SemiBold" pitchFamily="34" charset="-120"/>
              </a:rPr>
              <a:t>A Probabilistic Digital Twin</a:t>
            </a:r>
            <a:endParaRPr lang="en-US" sz="3000" dirty="0"/>
          </a:p>
        </p:txBody>
      </p:sp>
      <p:sp>
        <p:nvSpPr>
          <p:cNvPr id="5" name="Text 2"/>
          <p:cNvSpPr/>
          <p:nvPr/>
        </p:nvSpPr>
        <p:spPr>
          <a:xfrm>
            <a:off x="594360" y="1371600"/>
            <a:ext cx="11002975" cy="365760"/>
          </a:xfrm>
          <a:prstGeom prst="rect">
            <a:avLst/>
          </a:prstGeom>
          <a:noFill/>
          <a:ln/>
        </p:spPr>
        <p:txBody>
          <a:bodyPr wrap="square" rtlCol="0" anchor="ctr"/>
          <a:lstStyle/>
          <a:p>
            <a:pPr indent="0" marL="0">
              <a:buNone/>
            </a:pPr>
            <a:r>
              <a:rPr lang="en-US" sz="1500" b="1" dirty="0">
                <a:solidFill>
                  <a:srgbClr val="1E64C8"/>
                </a:solidFill>
                <a:latin typeface="UGent Panno Text" pitchFamily="34" charset="0"/>
                <a:ea typeface="UGent Panno Text" pitchFamily="34" charset="-122"/>
                <a:cs typeface="UGent Panno Text" pitchFamily="34" charset="-120"/>
              </a:rPr>
              <a:t>Build a per-engine particle filter that:
</a:t>
            </a:r>
            <a:endParaRPr lang="en-US" sz="1500" dirty="0"/>
          </a:p>
        </p:txBody>
      </p:sp>
      <p:sp>
        <p:nvSpPr>
          <p:cNvPr id="6" name="Shape 3"/>
          <p:cNvSpPr/>
          <p:nvPr/>
        </p:nvSpPr>
        <p:spPr>
          <a:xfrm>
            <a:off x="594360" y="1810512"/>
            <a:ext cx="310896" cy="310896"/>
          </a:xfrm>
          <a:prstGeom prst="ellipse">
            <a:avLst/>
          </a:prstGeom>
          <a:solidFill>
            <a:srgbClr val="1E64C8"/>
          </a:solidFill>
          <a:ln/>
        </p:spPr>
      </p:sp>
      <p:sp>
        <p:nvSpPr>
          <p:cNvPr id="7" name="Text 4"/>
          <p:cNvSpPr/>
          <p:nvPr/>
        </p:nvSpPr>
        <p:spPr>
          <a:xfrm>
            <a:off x="594360" y="1810512"/>
            <a:ext cx="310896" cy="310896"/>
          </a:xfrm>
          <a:prstGeom prst="rect">
            <a:avLst/>
          </a:prstGeom>
          <a:noFill/>
          <a:ln/>
        </p:spPr>
        <p:txBody>
          <a:bodyPr wrap="square" rtlCol="0" anchor="ctr"/>
          <a:lstStyle/>
          <a:p>
            <a:pPr algn="ctr" indent="0" marL="0">
              <a:buNone/>
            </a:pPr>
            <a:r>
              <a:rPr lang="en-US" sz="1400" b="1" dirty="0">
                <a:solidFill>
                  <a:srgbClr val="FFFFFF"/>
                </a:solidFill>
                <a:latin typeface="UGent Panno Text" pitchFamily="34" charset="0"/>
                <a:ea typeface="UGent Panno Text" pitchFamily="34" charset="-122"/>
                <a:cs typeface="UGent Panno Text" pitchFamily="34" charset="-120"/>
              </a:rPr>
              <a:t>1</a:t>
            </a:r>
            <a:endParaRPr lang="en-US" sz="1400" dirty="0"/>
          </a:p>
        </p:txBody>
      </p:sp>
      <p:sp>
        <p:nvSpPr>
          <p:cNvPr id="8" name="Text 5"/>
          <p:cNvSpPr/>
          <p:nvPr/>
        </p:nvSpPr>
        <p:spPr>
          <a:xfrm>
            <a:off x="1051560" y="1737360"/>
            <a:ext cx="4663440" cy="502920"/>
          </a:xfrm>
          <a:prstGeom prst="rect">
            <a:avLst/>
          </a:prstGeom>
          <a:noFill/>
          <a:ln/>
        </p:spPr>
        <p:txBody>
          <a:bodyPr wrap="square" rtlCol="0" anchor="ctr"/>
          <a:lstStyle/>
          <a:p>
            <a:pPr indent="0" marL="0">
              <a:buNone/>
            </a:pPr>
            <a:r>
              <a:rPr lang="en-US" sz="1350" dirty="0">
                <a:solidFill>
                  <a:srgbClr val="16233B"/>
                </a:solidFill>
                <a:latin typeface="UGent Panno Text" pitchFamily="34" charset="0"/>
                <a:ea typeface="UGent Panno Text" pitchFamily="34" charset="-122"/>
                <a:cs typeface="UGent Panno Text" pitchFamily="34" charset="-120"/>
              </a:rPr>
              <a:t>Tracks the posterior distribution of engine health from noisy sensors</a:t>
            </a:r>
            <a:endParaRPr lang="en-US" sz="1350" dirty="0"/>
          </a:p>
        </p:txBody>
      </p:sp>
      <p:sp>
        <p:nvSpPr>
          <p:cNvPr id="9" name="Shape 6"/>
          <p:cNvSpPr/>
          <p:nvPr/>
        </p:nvSpPr>
        <p:spPr>
          <a:xfrm>
            <a:off x="594360" y="2468880"/>
            <a:ext cx="310896" cy="310896"/>
          </a:xfrm>
          <a:prstGeom prst="ellipse">
            <a:avLst/>
          </a:prstGeom>
          <a:solidFill>
            <a:srgbClr val="1E64C8"/>
          </a:solidFill>
          <a:ln/>
        </p:spPr>
      </p:sp>
      <p:sp>
        <p:nvSpPr>
          <p:cNvPr id="10" name="Text 7"/>
          <p:cNvSpPr/>
          <p:nvPr/>
        </p:nvSpPr>
        <p:spPr>
          <a:xfrm>
            <a:off x="594360" y="2468880"/>
            <a:ext cx="310896" cy="310896"/>
          </a:xfrm>
          <a:prstGeom prst="rect">
            <a:avLst/>
          </a:prstGeom>
          <a:noFill/>
          <a:ln/>
        </p:spPr>
        <p:txBody>
          <a:bodyPr wrap="square" rtlCol="0" anchor="ctr"/>
          <a:lstStyle/>
          <a:p>
            <a:pPr algn="ctr" indent="0" marL="0">
              <a:buNone/>
            </a:pPr>
            <a:r>
              <a:rPr lang="en-US" sz="1400" b="1" dirty="0">
                <a:solidFill>
                  <a:srgbClr val="FFFFFF"/>
                </a:solidFill>
                <a:latin typeface="UGent Panno Text" pitchFamily="34" charset="0"/>
                <a:ea typeface="UGent Panno Text" pitchFamily="34" charset="-122"/>
                <a:cs typeface="UGent Panno Text" pitchFamily="34" charset="-120"/>
              </a:rPr>
              <a:t>2</a:t>
            </a:r>
            <a:endParaRPr lang="en-US" sz="1400" dirty="0"/>
          </a:p>
        </p:txBody>
      </p:sp>
      <p:sp>
        <p:nvSpPr>
          <p:cNvPr id="11" name="Text 8"/>
          <p:cNvSpPr/>
          <p:nvPr/>
        </p:nvSpPr>
        <p:spPr>
          <a:xfrm>
            <a:off x="1051560" y="2395728"/>
            <a:ext cx="4663440" cy="502920"/>
          </a:xfrm>
          <a:prstGeom prst="rect">
            <a:avLst/>
          </a:prstGeom>
          <a:noFill/>
          <a:ln/>
        </p:spPr>
        <p:txBody>
          <a:bodyPr wrap="square" rtlCol="0" anchor="ctr"/>
          <a:lstStyle/>
          <a:p>
            <a:pPr indent="0" marL="0">
              <a:buNone/>
            </a:pPr>
            <a:r>
              <a:rPr lang="en-US" sz="1350" dirty="0">
                <a:solidFill>
                  <a:srgbClr val="16233B"/>
                </a:solidFill>
                <a:latin typeface="UGent Panno Text" pitchFamily="34" charset="0"/>
                <a:ea typeface="UGent Panno Text" pitchFamily="34" charset="-122"/>
                <a:cs typeface="UGent Panno Text" pitchFamily="34" charset="-120"/>
              </a:rPr>
              <a:t>Extracts a full RUL distribution — a median with a 90% credible interval</a:t>
            </a:r>
            <a:endParaRPr lang="en-US" sz="1350" dirty="0"/>
          </a:p>
        </p:txBody>
      </p:sp>
      <p:sp>
        <p:nvSpPr>
          <p:cNvPr id="12" name="Shape 9"/>
          <p:cNvSpPr/>
          <p:nvPr/>
        </p:nvSpPr>
        <p:spPr>
          <a:xfrm>
            <a:off x="594360" y="3127248"/>
            <a:ext cx="310896" cy="310896"/>
          </a:xfrm>
          <a:prstGeom prst="ellipse">
            <a:avLst/>
          </a:prstGeom>
          <a:solidFill>
            <a:srgbClr val="1E64C8"/>
          </a:solidFill>
          <a:ln/>
        </p:spPr>
      </p:sp>
      <p:sp>
        <p:nvSpPr>
          <p:cNvPr id="13" name="Text 10"/>
          <p:cNvSpPr/>
          <p:nvPr/>
        </p:nvSpPr>
        <p:spPr>
          <a:xfrm>
            <a:off x="594360" y="3127248"/>
            <a:ext cx="310896" cy="310896"/>
          </a:xfrm>
          <a:prstGeom prst="rect">
            <a:avLst/>
          </a:prstGeom>
          <a:noFill/>
          <a:ln/>
        </p:spPr>
        <p:txBody>
          <a:bodyPr wrap="square" rtlCol="0" anchor="ctr"/>
          <a:lstStyle/>
          <a:p>
            <a:pPr algn="ctr" indent="0" marL="0">
              <a:buNone/>
            </a:pPr>
            <a:r>
              <a:rPr lang="en-US" sz="1400" b="1" dirty="0">
                <a:solidFill>
                  <a:srgbClr val="FFFFFF"/>
                </a:solidFill>
                <a:latin typeface="UGent Panno Text" pitchFamily="34" charset="0"/>
                <a:ea typeface="UGent Panno Text" pitchFamily="34" charset="-122"/>
                <a:cs typeface="UGent Panno Text" pitchFamily="34" charset="-120"/>
              </a:rPr>
              <a:t>3</a:t>
            </a:r>
            <a:endParaRPr lang="en-US" sz="1400" dirty="0"/>
          </a:p>
        </p:txBody>
      </p:sp>
      <p:sp>
        <p:nvSpPr>
          <p:cNvPr id="14" name="Text 11"/>
          <p:cNvSpPr/>
          <p:nvPr/>
        </p:nvSpPr>
        <p:spPr>
          <a:xfrm>
            <a:off x="1051560" y="3054096"/>
            <a:ext cx="4663440" cy="502920"/>
          </a:xfrm>
          <a:prstGeom prst="rect">
            <a:avLst/>
          </a:prstGeom>
          <a:noFill/>
          <a:ln/>
        </p:spPr>
        <p:txBody>
          <a:bodyPr wrap="square" rtlCol="0" anchor="ctr"/>
          <a:lstStyle/>
          <a:p>
            <a:pPr indent="0" marL="0">
              <a:buNone/>
            </a:pPr>
            <a:r>
              <a:rPr lang="en-US" sz="1350" dirty="0">
                <a:solidFill>
                  <a:srgbClr val="16233B"/>
                </a:solidFill>
                <a:latin typeface="UGent Panno Text" pitchFamily="34" charset="0"/>
                <a:ea typeface="UGent Panno Text" pitchFamily="34" charset="-122"/>
                <a:cs typeface="UGent Panno Text" pitchFamily="34" charset="-120"/>
              </a:rPr>
              <a:t>Is evaluated on whether that interval is calibrated — not just accurate</a:t>
            </a:r>
            <a:endParaRPr lang="en-US" sz="1350" dirty="0"/>
          </a:p>
        </p:txBody>
      </p:sp>
      <p:sp>
        <p:nvSpPr>
          <p:cNvPr id="15" name="Text 12"/>
          <p:cNvSpPr/>
          <p:nvPr/>
        </p:nvSpPr>
        <p:spPr>
          <a:xfrm>
            <a:off x="594360" y="3895344"/>
            <a:ext cx="5394960" cy="731520"/>
          </a:xfrm>
          <a:prstGeom prst="rect">
            <a:avLst/>
          </a:prstGeom>
          <a:noFill/>
          <a:ln/>
        </p:spPr>
        <p:txBody>
          <a:bodyPr wrap="square" rtlCol="0" anchor="t"/>
          <a:lstStyle/>
          <a:p>
            <a:pPr indent="0" marL="0">
              <a:buNone/>
            </a:pPr>
            <a:r>
              <a:rPr lang="en-US" sz="1250" i="1" dirty="0">
                <a:solidFill>
                  <a:srgbClr val="5B6B85"/>
                </a:solidFill>
                <a:latin typeface="UGent Panno Text" pitchFamily="34" charset="0"/>
                <a:ea typeface="UGent Panno Text" pitchFamily="34" charset="-122"/>
                <a:cs typeface="UGent Panno Text" pitchFamily="34" charset="-120"/>
              </a:rPr>
              <a:t>Evaluated on NASA C-MAPSS (FD001, FD003) — full 100-engine test fleets, not a sample.</a:t>
            </a:r>
            <a:endParaRPr lang="en-US" sz="1250" dirty="0"/>
          </a:p>
        </p:txBody>
      </p:sp>
      <p:sp>
        <p:nvSpPr>
          <p:cNvPr id="16" name="Shape 13"/>
          <p:cNvSpPr/>
          <p:nvPr/>
        </p:nvSpPr>
        <p:spPr>
          <a:xfrm>
            <a:off x="6172200" y="1828800"/>
            <a:ext cx="1143000" cy="914400"/>
          </a:xfrm>
          <a:prstGeom prst="roundRect">
            <a:avLst>
              <a:gd name="adj" fmla="val 8000"/>
            </a:avLst>
          </a:prstGeom>
          <a:solidFill>
            <a:srgbClr val="0F3D75"/>
          </a:solidFill>
          <a:ln/>
        </p:spPr>
      </p:sp>
      <p:sp>
        <p:nvSpPr>
          <p:cNvPr id="17" name="Text 14"/>
          <p:cNvSpPr/>
          <p:nvPr/>
        </p:nvSpPr>
        <p:spPr>
          <a:xfrm>
            <a:off x="6172200" y="1828800"/>
            <a:ext cx="1143000" cy="914400"/>
          </a:xfrm>
          <a:prstGeom prst="rect">
            <a:avLst/>
          </a:prstGeom>
          <a:noFill/>
          <a:ln/>
        </p:spPr>
        <p:txBody>
          <a:bodyPr wrap="square" rtlCol="0" anchor="ctr"/>
          <a:lstStyle/>
          <a:p>
            <a:pPr algn="ctr" indent="0" marL="0">
              <a:buNone/>
            </a:pPr>
            <a:r>
              <a:rPr lang="en-US" sz="1050" b="1" dirty="0">
                <a:solidFill>
                  <a:srgbClr val="FFFFFF"/>
                </a:solidFill>
                <a:latin typeface="UGent Panno Text" pitchFamily="34" charset="0"/>
                <a:ea typeface="UGent Panno Text" pitchFamily="34" charset="-122"/>
                <a:cs typeface="UGent Panno Text" pitchFamily="34" charset="-120"/>
              </a:rPr>
              <a:t>Sensors</a:t>
            </a:r>
            <a:endParaRPr lang="en-US" sz="1050" dirty="0"/>
          </a:p>
          <a:p>
            <a:pPr algn="ctr" indent="0" marL="0">
              <a:buNone/>
            </a:pPr>
            <a:r>
              <a:rPr lang="en-US" sz="1050" b="1" dirty="0">
                <a:solidFill>
                  <a:srgbClr val="FFFFFF"/>
                </a:solidFill>
                <a:latin typeface="UGent Panno Text" pitchFamily="34" charset="0"/>
                <a:ea typeface="UGent Panno Text" pitchFamily="34" charset="-122"/>
                <a:cs typeface="UGent Panno Text" pitchFamily="34" charset="-120"/>
              </a:rPr>
              <a:t>(21 channels)</a:t>
            </a:r>
            <a:endParaRPr lang="en-US" sz="1050" dirty="0"/>
          </a:p>
        </p:txBody>
      </p:sp>
      <p:sp>
        <p:nvSpPr>
          <p:cNvPr id="18" name="Shape 15"/>
          <p:cNvSpPr/>
          <p:nvPr/>
        </p:nvSpPr>
        <p:spPr>
          <a:xfrm>
            <a:off x="7342632" y="2203704"/>
            <a:ext cx="265176" cy="164592"/>
          </a:xfrm>
          <a:prstGeom prst="rightArrow">
            <a:avLst/>
          </a:prstGeom>
          <a:solidFill>
            <a:srgbClr val="8BBED5"/>
          </a:solidFill>
          <a:ln/>
        </p:spPr>
      </p:sp>
      <p:sp>
        <p:nvSpPr>
          <p:cNvPr id="19" name="Shape 16"/>
          <p:cNvSpPr/>
          <p:nvPr/>
        </p:nvSpPr>
        <p:spPr>
          <a:xfrm>
            <a:off x="7635240" y="1828800"/>
            <a:ext cx="1143000" cy="914400"/>
          </a:xfrm>
          <a:prstGeom prst="roundRect">
            <a:avLst>
              <a:gd name="adj" fmla="val 8000"/>
            </a:avLst>
          </a:prstGeom>
          <a:solidFill>
            <a:srgbClr val="0F3D75"/>
          </a:solidFill>
          <a:ln/>
        </p:spPr>
      </p:sp>
      <p:sp>
        <p:nvSpPr>
          <p:cNvPr id="20" name="Text 17"/>
          <p:cNvSpPr/>
          <p:nvPr/>
        </p:nvSpPr>
        <p:spPr>
          <a:xfrm>
            <a:off x="7635240" y="1828800"/>
            <a:ext cx="1143000" cy="914400"/>
          </a:xfrm>
          <a:prstGeom prst="rect">
            <a:avLst/>
          </a:prstGeom>
          <a:noFill/>
          <a:ln/>
        </p:spPr>
        <p:txBody>
          <a:bodyPr wrap="square" rtlCol="0" anchor="ctr"/>
          <a:lstStyle/>
          <a:p>
            <a:pPr algn="ctr" indent="0" marL="0">
              <a:buNone/>
            </a:pPr>
            <a:r>
              <a:rPr lang="en-US" sz="1050" b="1" dirty="0">
                <a:solidFill>
                  <a:srgbClr val="FFFFFF"/>
                </a:solidFill>
                <a:latin typeface="UGent Panno Text" pitchFamily="34" charset="0"/>
                <a:ea typeface="UGent Panno Text" pitchFamily="34" charset="-122"/>
                <a:cs typeface="UGent Panno Text" pitchFamily="34" charset="-120"/>
              </a:rPr>
              <a:t>Health Index</a:t>
            </a:r>
            <a:endParaRPr lang="en-US" sz="1050" dirty="0"/>
          </a:p>
          <a:p>
            <a:pPr algn="ctr" indent="0" marL="0">
              <a:buNone/>
            </a:pPr>
            <a:r>
              <a:rPr lang="en-US" sz="1050" b="1" dirty="0">
                <a:solidFill>
                  <a:srgbClr val="FFFFFF"/>
                </a:solidFill>
                <a:latin typeface="UGent Panno Text" pitchFamily="34" charset="0"/>
                <a:ea typeface="UGent Panno Text" pitchFamily="34" charset="-122"/>
                <a:cs typeface="UGent Panno Text" pitchFamily="34" charset="-120"/>
              </a:rPr>
              <a:t>(1 scalar)</a:t>
            </a:r>
            <a:endParaRPr lang="en-US" sz="1050" dirty="0"/>
          </a:p>
        </p:txBody>
      </p:sp>
      <p:sp>
        <p:nvSpPr>
          <p:cNvPr id="21" name="Shape 18"/>
          <p:cNvSpPr/>
          <p:nvPr/>
        </p:nvSpPr>
        <p:spPr>
          <a:xfrm>
            <a:off x="8805672" y="2203704"/>
            <a:ext cx="265176" cy="164592"/>
          </a:xfrm>
          <a:prstGeom prst="rightArrow">
            <a:avLst/>
          </a:prstGeom>
          <a:solidFill>
            <a:srgbClr val="8BBED5"/>
          </a:solidFill>
          <a:ln/>
        </p:spPr>
      </p:sp>
      <p:sp>
        <p:nvSpPr>
          <p:cNvPr id="22" name="Shape 19"/>
          <p:cNvSpPr/>
          <p:nvPr/>
        </p:nvSpPr>
        <p:spPr>
          <a:xfrm>
            <a:off x="9098280" y="1828800"/>
            <a:ext cx="1143000" cy="914400"/>
          </a:xfrm>
          <a:prstGeom prst="roundRect">
            <a:avLst>
              <a:gd name="adj" fmla="val 8000"/>
            </a:avLst>
          </a:prstGeom>
          <a:solidFill>
            <a:srgbClr val="0F3D75"/>
          </a:solidFill>
          <a:ln/>
        </p:spPr>
      </p:sp>
      <p:sp>
        <p:nvSpPr>
          <p:cNvPr id="23" name="Text 20"/>
          <p:cNvSpPr/>
          <p:nvPr/>
        </p:nvSpPr>
        <p:spPr>
          <a:xfrm>
            <a:off x="9098280" y="1828800"/>
            <a:ext cx="1143000" cy="914400"/>
          </a:xfrm>
          <a:prstGeom prst="rect">
            <a:avLst/>
          </a:prstGeom>
          <a:noFill/>
          <a:ln/>
        </p:spPr>
        <p:txBody>
          <a:bodyPr wrap="square" rtlCol="0" anchor="ctr"/>
          <a:lstStyle/>
          <a:p>
            <a:pPr algn="ctr" indent="0" marL="0">
              <a:buNone/>
            </a:pPr>
            <a:r>
              <a:rPr lang="en-US" sz="1050" b="1" dirty="0">
                <a:solidFill>
                  <a:srgbClr val="FFFFFF"/>
                </a:solidFill>
                <a:latin typeface="UGent Panno Text" pitchFamily="34" charset="0"/>
                <a:ea typeface="UGent Panno Text" pitchFamily="34" charset="-122"/>
                <a:cs typeface="UGent Panno Text" pitchFamily="34" charset="-120"/>
              </a:rPr>
              <a:t>Particle</a:t>
            </a:r>
            <a:endParaRPr lang="en-US" sz="1050" dirty="0"/>
          </a:p>
          <a:p>
            <a:pPr algn="ctr" indent="0" marL="0">
              <a:buNone/>
            </a:pPr>
            <a:r>
              <a:rPr lang="en-US" sz="1050" b="1" dirty="0">
                <a:solidFill>
                  <a:srgbClr val="FFFFFF"/>
                </a:solidFill>
                <a:latin typeface="UGent Panno Text" pitchFamily="34" charset="0"/>
                <a:ea typeface="UGent Panno Text" pitchFamily="34" charset="-122"/>
                <a:cs typeface="UGent Panno Text" pitchFamily="34" charset="-120"/>
              </a:rPr>
              <a:t>Filter</a:t>
            </a:r>
            <a:endParaRPr lang="en-US" sz="1050" dirty="0"/>
          </a:p>
        </p:txBody>
      </p:sp>
      <p:sp>
        <p:nvSpPr>
          <p:cNvPr id="24" name="Shape 21"/>
          <p:cNvSpPr/>
          <p:nvPr/>
        </p:nvSpPr>
        <p:spPr>
          <a:xfrm>
            <a:off x="10268712" y="2203704"/>
            <a:ext cx="265176" cy="164592"/>
          </a:xfrm>
          <a:prstGeom prst="rightArrow">
            <a:avLst/>
          </a:prstGeom>
          <a:solidFill>
            <a:srgbClr val="8BBED5"/>
          </a:solidFill>
          <a:ln/>
        </p:spPr>
      </p:sp>
      <p:sp>
        <p:nvSpPr>
          <p:cNvPr id="25" name="Shape 22"/>
          <p:cNvSpPr/>
          <p:nvPr/>
        </p:nvSpPr>
        <p:spPr>
          <a:xfrm>
            <a:off x="10561320" y="1828800"/>
            <a:ext cx="1143000" cy="914400"/>
          </a:xfrm>
          <a:prstGeom prst="roundRect">
            <a:avLst>
              <a:gd name="adj" fmla="val 8000"/>
            </a:avLst>
          </a:prstGeom>
          <a:solidFill>
            <a:srgbClr val="F1A32B"/>
          </a:solidFill>
          <a:ln/>
        </p:spPr>
      </p:sp>
      <p:sp>
        <p:nvSpPr>
          <p:cNvPr id="26" name="Text 23"/>
          <p:cNvSpPr/>
          <p:nvPr/>
        </p:nvSpPr>
        <p:spPr>
          <a:xfrm>
            <a:off x="10561320" y="1828800"/>
            <a:ext cx="1143000" cy="914400"/>
          </a:xfrm>
          <a:prstGeom prst="rect">
            <a:avLst/>
          </a:prstGeom>
          <a:noFill/>
          <a:ln/>
        </p:spPr>
        <p:txBody>
          <a:bodyPr wrap="square" rtlCol="0" anchor="ctr"/>
          <a:lstStyle/>
          <a:p>
            <a:pPr algn="ctr" indent="0" marL="0">
              <a:buNone/>
            </a:pPr>
            <a:r>
              <a:rPr lang="en-US" sz="1050" b="1" dirty="0">
                <a:solidFill>
                  <a:srgbClr val="FFFFFF"/>
                </a:solidFill>
                <a:latin typeface="UGent Panno Text" pitchFamily="34" charset="0"/>
                <a:ea typeface="UGent Panno Text" pitchFamily="34" charset="-122"/>
                <a:cs typeface="UGent Panno Text" pitchFamily="34" charset="-120"/>
              </a:rPr>
              <a:t>RUL</a:t>
            </a:r>
            <a:endParaRPr lang="en-US" sz="1050" dirty="0"/>
          </a:p>
          <a:p>
            <a:pPr algn="ctr" indent="0" marL="0">
              <a:buNone/>
            </a:pPr>
            <a:r>
              <a:rPr lang="en-US" sz="1050" b="1" dirty="0">
                <a:solidFill>
                  <a:srgbClr val="FFFFFF"/>
                </a:solidFill>
                <a:latin typeface="UGent Panno Text" pitchFamily="34" charset="0"/>
                <a:ea typeface="UGent Panno Text" pitchFamily="34" charset="-122"/>
                <a:cs typeface="UGent Panno Text" pitchFamily="34" charset="-120"/>
              </a:rPr>
              <a:t>Distribution</a:t>
            </a:r>
            <a:endParaRPr lang="en-US" sz="1050" dirty="0"/>
          </a:p>
        </p:txBody>
      </p:sp>
      <p:sp>
        <p:nvSpPr>
          <p:cNvPr id="27" name="Text 24"/>
          <p:cNvSpPr/>
          <p:nvPr/>
        </p:nvSpPr>
        <p:spPr>
          <a:xfrm>
            <a:off x="6400800" y="2971800"/>
            <a:ext cx="5623560" cy="365760"/>
          </a:xfrm>
          <a:prstGeom prst="rect">
            <a:avLst/>
          </a:prstGeom>
          <a:noFill/>
          <a:ln/>
        </p:spPr>
        <p:txBody>
          <a:bodyPr wrap="square" rtlCol="0" anchor="ctr"/>
          <a:lstStyle/>
          <a:p>
            <a:pPr algn="ctr" indent="0" marL="0">
              <a:buNone/>
            </a:pPr>
            <a:r>
              <a:rPr lang="en-US" sz="1150" i="1" dirty="0">
                <a:solidFill>
                  <a:srgbClr val="5B6B85"/>
                </a:solidFill>
                <a:latin typeface="UGent Panno Text" pitchFamily="34" charset="0"/>
                <a:ea typeface="UGent Panno Text" pitchFamily="34" charset="-122"/>
                <a:cs typeface="UGent Panno Text" pitchFamily="34" charset="-120"/>
              </a:rPr>
              <a:t>Updated every cycle, as new sensor data arrives</a:t>
            </a:r>
            <a:endParaRPr lang="en-US" sz="1150" dirty="0"/>
          </a:p>
        </p:txBody>
      </p:sp>
      <p:sp>
        <p:nvSpPr>
          <p:cNvPr id="28" name="Text 25"/>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UGent Panno Text" pitchFamily="34" charset="0"/>
                <a:ea typeface="UGent Panno Text" pitchFamily="34" charset="-122"/>
                <a:cs typeface="UGent Panno Text"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pic>
        <p:nvPicPr>
          <p:cNvPr id="2" name="Image 0" descr="/tmp/defense_prep/ugent_logo_cropped.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F1A32B"/>
                </a:solidFill>
                <a:latin typeface="UGent Panno Text" pitchFamily="34" charset="0"/>
                <a:ea typeface="UGent Panno Text" pitchFamily="34" charset="-122"/>
                <a:cs typeface="UGent Panno Text" pitchFamily="34" charset="-120"/>
              </a:rPr>
              <a:t>METHOD CHOICE</a:t>
            </a:r>
            <a:endParaRPr lang="en-US" sz="1100" dirty="0"/>
          </a:p>
        </p:txBody>
      </p:sp>
      <p:sp>
        <p:nvSpPr>
          <p:cNvPr id="4"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1E64C8"/>
                </a:solidFill>
                <a:latin typeface="UGent Panno Text SemiBold" pitchFamily="34" charset="0"/>
                <a:ea typeface="UGent Panno Text SemiBold" pitchFamily="34" charset="-122"/>
                <a:cs typeface="UGent Panno Text SemiBold" pitchFamily="34" charset="-120"/>
              </a:rPr>
              <a:t>Why Not a Simpler Filter (Kalman)?</a:t>
            </a:r>
            <a:endParaRPr lang="en-US" sz="3000" dirty="0"/>
          </a:p>
        </p:txBody>
      </p:sp>
      <p:sp>
        <p:nvSpPr>
          <p:cNvPr id="5" name="Text 2"/>
          <p:cNvSpPr/>
          <p:nvPr/>
        </p:nvSpPr>
        <p:spPr>
          <a:xfrm>
            <a:off x="594360" y="1234440"/>
            <a:ext cx="11002975" cy="457200"/>
          </a:xfrm>
          <a:prstGeom prst="rect">
            <a:avLst/>
          </a:prstGeom>
          <a:noFill/>
          <a:ln/>
        </p:spPr>
        <p:txBody>
          <a:bodyPr wrap="square" rtlCol="0" anchor="ctr"/>
          <a:lstStyle/>
          <a:p>
            <a:pPr indent="0" marL="0">
              <a:buNone/>
            </a:pPr>
            <a:r>
              <a:rPr lang="en-US" sz="1400" dirty="0">
                <a:solidFill>
                  <a:srgbClr val="16233B"/>
                </a:solidFill>
                <a:latin typeface="UGent Panno Text" pitchFamily="34" charset="0"/>
                <a:ea typeface="UGent Panno Text" pitchFamily="34" charset="-122"/>
                <a:cs typeface="UGent Panno Text" pitchFamily="34" charset="-120"/>
              </a:rPr>
              <a:t>A Kalman filter is exact when the model is linear-Gaussian and unconstrained. None of that fully holds here:</a:t>
            </a:r>
            <a:endParaRPr lang="en-US" sz="1400" dirty="0"/>
          </a:p>
        </p:txBody>
      </p:sp>
      <p:sp>
        <p:nvSpPr>
          <p:cNvPr id="6" name="Shape 3"/>
          <p:cNvSpPr/>
          <p:nvPr/>
        </p:nvSpPr>
        <p:spPr>
          <a:xfrm>
            <a:off x="594360" y="1874520"/>
            <a:ext cx="3520440" cy="3017520"/>
          </a:xfrm>
          <a:prstGeom prst="roundRect">
            <a:avLst>
              <a:gd name="adj" fmla="val 2424"/>
            </a:avLst>
          </a:prstGeom>
          <a:solidFill>
            <a:srgbClr val="FFFFFF"/>
          </a:solidFill>
          <a:ln w="12700">
            <a:solidFill>
              <a:srgbClr val="D7E6F5"/>
            </a:solidFill>
            <a:prstDash val="solid"/>
          </a:ln>
          <a:effectLst>
            <a:outerShdw sx="100000" sy="100000" kx="0" ky="0" algn="bl" rotWithShape="0" blurRad="63500" dist="25400" dir="5400000">
              <a:srgbClr val="9AAFC7">
                <a:alpha val="30000"/>
              </a:srgbClr>
            </a:outerShdw>
          </a:effectLst>
        </p:spPr>
      </p:sp>
      <p:sp>
        <p:nvSpPr>
          <p:cNvPr id="7" name="Shape 4"/>
          <p:cNvSpPr/>
          <p:nvPr/>
        </p:nvSpPr>
        <p:spPr>
          <a:xfrm>
            <a:off x="822960" y="2103120"/>
            <a:ext cx="457200" cy="457200"/>
          </a:xfrm>
          <a:prstGeom prst="ellipse">
            <a:avLst/>
          </a:prstGeom>
          <a:solidFill>
            <a:srgbClr val="1E64C8"/>
          </a:solidFill>
          <a:ln/>
        </p:spPr>
      </p:sp>
      <p:sp>
        <p:nvSpPr>
          <p:cNvPr id="8" name="Text 5"/>
          <p:cNvSpPr/>
          <p:nvPr/>
        </p:nvSpPr>
        <p:spPr>
          <a:xfrm>
            <a:off x="822960" y="2103120"/>
            <a:ext cx="457200" cy="457200"/>
          </a:xfrm>
          <a:prstGeom prst="rect">
            <a:avLst/>
          </a:prstGeom>
          <a:noFill/>
          <a:ln/>
        </p:spPr>
        <p:txBody>
          <a:bodyPr wrap="square" rtlCol="0" anchor="ctr"/>
          <a:lstStyle/>
          <a:p>
            <a:pPr algn="ctr" indent="0" marL="0">
              <a:buNone/>
            </a:pPr>
            <a:r>
              <a:rPr lang="en-US" sz="1800" b="1" dirty="0">
                <a:solidFill>
                  <a:srgbClr val="FFFFFF"/>
                </a:solidFill>
                <a:latin typeface="UGent Panno Text SemiBold" pitchFamily="34" charset="0"/>
                <a:ea typeface="UGent Panno Text SemiBold" pitchFamily="34" charset="-122"/>
                <a:cs typeface="UGent Panno Text SemiBold" pitchFamily="34" charset="-120"/>
              </a:rPr>
              <a:t>1</a:t>
            </a:r>
            <a:endParaRPr lang="en-US" sz="1800" dirty="0"/>
          </a:p>
        </p:txBody>
      </p:sp>
      <p:sp>
        <p:nvSpPr>
          <p:cNvPr id="9" name="Text 6"/>
          <p:cNvSpPr/>
          <p:nvPr/>
        </p:nvSpPr>
        <p:spPr>
          <a:xfrm>
            <a:off x="822960" y="2743200"/>
            <a:ext cx="3063240" cy="640080"/>
          </a:xfrm>
          <a:prstGeom prst="rect">
            <a:avLst/>
          </a:prstGeom>
          <a:noFill/>
          <a:ln/>
        </p:spPr>
        <p:txBody>
          <a:bodyPr wrap="square" rtlCol="0" anchor="t"/>
          <a:lstStyle/>
          <a:p>
            <a:pPr indent="0" marL="0">
              <a:buNone/>
            </a:pPr>
            <a:r>
              <a:rPr lang="en-US" sz="1400" b="1" dirty="0">
                <a:solidFill>
                  <a:srgbClr val="1E64C8"/>
                </a:solidFill>
                <a:latin typeface="UGent Panno Text" pitchFamily="34" charset="0"/>
                <a:ea typeface="UGent Panno Text" pitchFamily="34" charset="-122"/>
                <a:cs typeface="UGent Panno Text" pitchFamily="34" charset="-120"/>
              </a:rPr>
              <a:t>Bounded, one-sided state</a:t>
            </a:r>
            <a:endParaRPr lang="en-US" sz="1400" dirty="0"/>
          </a:p>
        </p:txBody>
      </p:sp>
      <p:sp>
        <p:nvSpPr>
          <p:cNvPr id="10" name="Text 7"/>
          <p:cNvSpPr/>
          <p:nvPr/>
        </p:nvSpPr>
        <p:spPr>
          <a:xfrm>
            <a:off x="822960" y="3383280"/>
            <a:ext cx="3063240" cy="1325880"/>
          </a:xfrm>
          <a:prstGeom prst="rect">
            <a:avLst/>
          </a:prstGeom>
          <a:noFill/>
          <a:ln/>
        </p:spPr>
        <p:txBody>
          <a:bodyPr wrap="square" rtlCol="0" anchor="t"/>
          <a:lstStyle/>
          <a:p>
            <a:pPr indent="0" marL="0">
              <a:lnSpc>
                <a:spcPct val="115000"/>
              </a:lnSpc>
              <a:buNone/>
            </a:pPr>
            <a:r>
              <a:rPr lang="en-US" sz="1200" dirty="0">
                <a:solidFill>
                  <a:srgbClr val="16233B"/>
                </a:solidFill>
                <a:latin typeface="UGent Panno Text" pitchFamily="34" charset="0"/>
                <a:ea typeface="UGent Panno Text" pitchFamily="34" charset="-122"/>
                <a:cs typeface="UGent Panno Text" pitchFamily="34" charset="-120"/>
              </a:rPr>
              <a:t>Health lives in [0,100] and only degrades. A Gaussian posterior spreads over the whole real line — it can't respect that.</a:t>
            </a:r>
            <a:endParaRPr lang="en-US" sz="1200" dirty="0"/>
          </a:p>
        </p:txBody>
      </p:sp>
      <p:sp>
        <p:nvSpPr>
          <p:cNvPr id="11" name="Shape 8"/>
          <p:cNvSpPr/>
          <p:nvPr/>
        </p:nvSpPr>
        <p:spPr>
          <a:xfrm>
            <a:off x="4389120" y="1874520"/>
            <a:ext cx="3520440" cy="3017520"/>
          </a:xfrm>
          <a:prstGeom prst="roundRect">
            <a:avLst>
              <a:gd name="adj" fmla="val 2424"/>
            </a:avLst>
          </a:prstGeom>
          <a:solidFill>
            <a:srgbClr val="FFFFFF"/>
          </a:solidFill>
          <a:ln w="12700">
            <a:solidFill>
              <a:srgbClr val="D7E6F5"/>
            </a:solidFill>
            <a:prstDash val="solid"/>
          </a:ln>
          <a:effectLst>
            <a:outerShdw sx="100000" sy="100000" kx="0" ky="0" algn="bl" rotWithShape="0" blurRad="63500" dist="25400" dir="5400000">
              <a:srgbClr val="9AAFC7">
                <a:alpha val="30000"/>
              </a:srgbClr>
            </a:outerShdw>
          </a:effectLst>
        </p:spPr>
      </p:sp>
      <p:sp>
        <p:nvSpPr>
          <p:cNvPr id="12" name="Shape 9"/>
          <p:cNvSpPr/>
          <p:nvPr/>
        </p:nvSpPr>
        <p:spPr>
          <a:xfrm>
            <a:off x="4617720" y="2103120"/>
            <a:ext cx="457200" cy="457200"/>
          </a:xfrm>
          <a:prstGeom prst="ellipse">
            <a:avLst/>
          </a:prstGeom>
          <a:solidFill>
            <a:srgbClr val="1E64C8"/>
          </a:solidFill>
          <a:ln/>
        </p:spPr>
      </p:sp>
      <p:sp>
        <p:nvSpPr>
          <p:cNvPr id="13" name="Text 10"/>
          <p:cNvSpPr/>
          <p:nvPr/>
        </p:nvSpPr>
        <p:spPr>
          <a:xfrm>
            <a:off x="4617720" y="2103120"/>
            <a:ext cx="457200" cy="457200"/>
          </a:xfrm>
          <a:prstGeom prst="rect">
            <a:avLst/>
          </a:prstGeom>
          <a:noFill/>
          <a:ln/>
        </p:spPr>
        <p:txBody>
          <a:bodyPr wrap="square" rtlCol="0" anchor="ctr"/>
          <a:lstStyle/>
          <a:p>
            <a:pPr algn="ctr" indent="0" marL="0">
              <a:buNone/>
            </a:pPr>
            <a:r>
              <a:rPr lang="en-US" sz="1800" b="1" dirty="0">
                <a:solidFill>
                  <a:srgbClr val="FFFFFF"/>
                </a:solidFill>
                <a:latin typeface="UGent Panno Text SemiBold" pitchFamily="34" charset="0"/>
                <a:ea typeface="UGent Panno Text SemiBold" pitchFamily="34" charset="-122"/>
                <a:cs typeface="UGent Panno Text SemiBold" pitchFamily="34" charset="-120"/>
              </a:rPr>
              <a:t>2</a:t>
            </a:r>
            <a:endParaRPr lang="en-US" sz="1800" dirty="0"/>
          </a:p>
        </p:txBody>
      </p:sp>
      <p:sp>
        <p:nvSpPr>
          <p:cNvPr id="14" name="Text 11"/>
          <p:cNvSpPr/>
          <p:nvPr/>
        </p:nvSpPr>
        <p:spPr>
          <a:xfrm>
            <a:off x="4617720" y="2743200"/>
            <a:ext cx="3063240" cy="640080"/>
          </a:xfrm>
          <a:prstGeom prst="rect">
            <a:avLst/>
          </a:prstGeom>
          <a:noFill/>
          <a:ln/>
        </p:spPr>
        <p:txBody>
          <a:bodyPr wrap="square" rtlCol="0" anchor="t"/>
          <a:lstStyle/>
          <a:p>
            <a:pPr indent="0" marL="0">
              <a:buNone/>
            </a:pPr>
            <a:r>
              <a:rPr lang="en-US" sz="1400" b="1" dirty="0">
                <a:solidFill>
                  <a:srgbClr val="1E64C8"/>
                </a:solidFill>
                <a:latin typeface="UGent Panno Text" pitchFamily="34" charset="0"/>
                <a:ea typeface="UGent Panno Text" pitchFamily="34" charset="-122"/>
                <a:cs typeface="UGent Panno Text" pitchFamily="34" charset="-120"/>
              </a:rPr>
              <a:t>Flexible noise</a:t>
            </a:r>
            <a:endParaRPr lang="en-US" sz="1400" dirty="0"/>
          </a:p>
        </p:txBody>
      </p:sp>
      <p:sp>
        <p:nvSpPr>
          <p:cNvPr id="15" name="Text 12"/>
          <p:cNvSpPr/>
          <p:nvPr/>
        </p:nvSpPr>
        <p:spPr>
          <a:xfrm>
            <a:off x="4617720" y="3383280"/>
            <a:ext cx="3063240" cy="1325880"/>
          </a:xfrm>
          <a:prstGeom prst="rect">
            <a:avLst/>
          </a:prstGeom>
          <a:noFill/>
          <a:ln/>
        </p:spPr>
        <p:txBody>
          <a:bodyPr wrap="square" rtlCol="0" anchor="t"/>
          <a:lstStyle/>
          <a:p>
            <a:pPr indent="0" marL="0">
              <a:lnSpc>
                <a:spcPct val="115000"/>
              </a:lnSpc>
              <a:buNone/>
            </a:pPr>
            <a:r>
              <a:rPr lang="en-US" sz="1200" dirty="0">
                <a:solidFill>
                  <a:srgbClr val="16233B"/>
                </a:solidFill>
                <a:latin typeface="UGent Panno Text" pitchFamily="34" charset="0"/>
                <a:ea typeface="UGent Panno Text" pitchFamily="34" charset="-122"/>
                <a:cs typeface="UGent Panno Text" pitchFamily="34" charset="-120"/>
              </a:rPr>
              <a:t>Measurement noise fits a skew-normal slightly better than Gaussian. A particle filter doesn't require Gaussianity at all.</a:t>
            </a:r>
            <a:endParaRPr lang="en-US" sz="1200" dirty="0"/>
          </a:p>
        </p:txBody>
      </p:sp>
      <p:sp>
        <p:nvSpPr>
          <p:cNvPr id="16" name="Shape 13"/>
          <p:cNvSpPr/>
          <p:nvPr/>
        </p:nvSpPr>
        <p:spPr>
          <a:xfrm>
            <a:off x="8183880" y="1874520"/>
            <a:ext cx="3520440" cy="3017520"/>
          </a:xfrm>
          <a:prstGeom prst="roundRect">
            <a:avLst>
              <a:gd name="adj" fmla="val 2424"/>
            </a:avLst>
          </a:prstGeom>
          <a:solidFill>
            <a:srgbClr val="FFFFFF"/>
          </a:solidFill>
          <a:ln w="12700">
            <a:solidFill>
              <a:srgbClr val="D7E6F5"/>
            </a:solidFill>
            <a:prstDash val="solid"/>
          </a:ln>
          <a:effectLst>
            <a:outerShdw sx="100000" sy="100000" kx="0" ky="0" algn="bl" rotWithShape="0" blurRad="63500" dist="25400" dir="5400000">
              <a:srgbClr val="9AAFC7">
                <a:alpha val="30000"/>
              </a:srgbClr>
            </a:outerShdw>
          </a:effectLst>
        </p:spPr>
      </p:sp>
      <p:sp>
        <p:nvSpPr>
          <p:cNvPr id="17" name="Shape 14"/>
          <p:cNvSpPr/>
          <p:nvPr/>
        </p:nvSpPr>
        <p:spPr>
          <a:xfrm>
            <a:off x="8412480" y="2103120"/>
            <a:ext cx="457200" cy="457200"/>
          </a:xfrm>
          <a:prstGeom prst="ellipse">
            <a:avLst/>
          </a:prstGeom>
          <a:solidFill>
            <a:srgbClr val="1E64C8"/>
          </a:solidFill>
          <a:ln/>
        </p:spPr>
      </p:sp>
      <p:sp>
        <p:nvSpPr>
          <p:cNvPr id="18" name="Text 15"/>
          <p:cNvSpPr/>
          <p:nvPr/>
        </p:nvSpPr>
        <p:spPr>
          <a:xfrm>
            <a:off x="8412480" y="2103120"/>
            <a:ext cx="457200" cy="457200"/>
          </a:xfrm>
          <a:prstGeom prst="rect">
            <a:avLst/>
          </a:prstGeom>
          <a:noFill/>
          <a:ln/>
        </p:spPr>
        <p:txBody>
          <a:bodyPr wrap="square" rtlCol="0" anchor="ctr"/>
          <a:lstStyle/>
          <a:p>
            <a:pPr algn="ctr" indent="0" marL="0">
              <a:buNone/>
            </a:pPr>
            <a:r>
              <a:rPr lang="en-US" sz="1800" b="1" dirty="0">
                <a:solidFill>
                  <a:srgbClr val="FFFFFF"/>
                </a:solidFill>
                <a:latin typeface="UGent Panno Text SemiBold" pitchFamily="34" charset="0"/>
                <a:ea typeface="UGent Panno Text SemiBold" pitchFamily="34" charset="-122"/>
                <a:cs typeface="UGent Panno Text SemiBold" pitchFamily="34" charset="-120"/>
              </a:rPr>
              <a:t>3</a:t>
            </a:r>
            <a:endParaRPr lang="en-US" sz="1800" dirty="0"/>
          </a:p>
        </p:txBody>
      </p:sp>
      <p:sp>
        <p:nvSpPr>
          <p:cNvPr id="19" name="Text 16"/>
          <p:cNvSpPr/>
          <p:nvPr/>
        </p:nvSpPr>
        <p:spPr>
          <a:xfrm>
            <a:off x="8412480" y="2743200"/>
            <a:ext cx="3063240" cy="640080"/>
          </a:xfrm>
          <a:prstGeom prst="rect">
            <a:avLst/>
          </a:prstGeom>
          <a:noFill/>
          <a:ln/>
        </p:spPr>
        <p:txBody>
          <a:bodyPr wrap="square" rtlCol="0" anchor="t"/>
          <a:lstStyle/>
          <a:p>
            <a:pPr indent="0" marL="0">
              <a:buNone/>
            </a:pPr>
            <a:r>
              <a:rPr lang="en-US" sz="1400" b="1" dirty="0">
                <a:solidFill>
                  <a:srgbClr val="1E64C8"/>
                </a:solidFill>
                <a:latin typeface="UGent Panno Text" pitchFamily="34" charset="0"/>
                <a:ea typeface="UGent Panno Text" pitchFamily="34" charset="-122"/>
                <a:cs typeface="UGent Panno Text" pitchFamily="34" charset="-120"/>
              </a:rPr>
              <a:t>RUL is a first-passage time</a:t>
            </a:r>
            <a:endParaRPr lang="en-US" sz="1400" dirty="0"/>
          </a:p>
        </p:txBody>
      </p:sp>
      <p:sp>
        <p:nvSpPr>
          <p:cNvPr id="20" name="Text 17"/>
          <p:cNvSpPr/>
          <p:nvPr/>
        </p:nvSpPr>
        <p:spPr>
          <a:xfrm>
            <a:off x="8412480" y="3383280"/>
            <a:ext cx="3063240" cy="1325880"/>
          </a:xfrm>
          <a:prstGeom prst="rect">
            <a:avLst/>
          </a:prstGeom>
          <a:noFill/>
          <a:ln/>
        </p:spPr>
        <p:txBody>
          <a:bodyPr wrap="square" rtlCol="0" anchor="t"/>
          <a:lstStyle/>
          <a:p>
            <a:pPr indent="0" marL="0">
              <a:lnSpc>
                <a:spcPct val="115000"/>
              </a:lnSpc>
              <a:buNone/>
            </a:pPr>
            <a:r>
              <a:rPr lang="en-US" sz="1200" dirty="0">
                <a:solidFill>
                  <a:srgbClr val="16233B"/>
                </a:solidFill>
                <a:latin typeface="UGent Panno Text" pitchFamily="34" charset="0"/>
                <a:ea typeface="UGent Panno Text" pitchFamily="34" charset="-122"/>
                <a:cs typeface="UGent Panno Text" pitchFamily="34" charset="-120"/>
              </a:rPr>
              <a:t>The time to cross a failure threshold is non-Gaussian by nature — it needs Monte-Carlo simulation anyway, which particles already provide.</a:t>
            </a:r>
            <a:endParaRPr lang="en-US" sz="1200" dirty="0"/>
          </a:p>
        </p:txBody>
      </p:sp>
      <p:sp>
        <p:nvSpPr>
          <p:cNvPr id="21" name="Text 18"/>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UGent Panno Text" pitchFamily="34" charset="0"/>
                <a:ea typeface="UGent Panno Text" pitchFamily="34" charset="-122"/>
                <a:cs typeface="UGent Panno Text"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pic>
        <p:nvPicPr>
          <p:cNvPr id="2" name="Image 0" descr="/tmp/defense_prep/ugent_logo_cropped.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F1A32B"/>
                </a:solidFill>
                <a:latin typeface="UGent Panno Text" pitchFamily="34" charset="0"/>
                <a:ea typeface="UGent Panno Text" pitchFamily="34" charset="-122"/>
                <a:cs typeface="UGent Panno Text" pitchFamily="34" charset="-120"/>
              </a:rPr>
              <a:t>THE MODEL — PART 1</a:t>
            </a:r>
            <a:endParaRPr lang="en-US" sz="1100" dirty="0"/>
          </a:p>
        </p:txBody>
      </p:sp>
      <p:sp>
        <p:nvSpPr>
          <p:cNvPr id="4"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1E64C8"/>
                </a:solidFill>
                <a:latin typeface="UGent Panno Text SemiBold" pitchFamily="34" charset="0"/>
                <a:ea typeface="UGent Panno Text SemiBold" pitchFamily="34" charset="-122"/>
                <a:cs typeface="UGent Panno Text SemiBold" pitchFamily="34" charset="-120"/>
              </a:rPr>
              <a:t>One Number to Summarize Engine Health</a:t>
            </a:r>
            <a:endParaRPr lang="en-US" sz="3000" dirty="0"/>
          </a:p>
        </p:txBody>
      </p:sp>
      <p:sp>
        <p:nvSpPr>
          <p:cNvPr id="5" name="Text 2"/>
          <p:cNvSpPr/>
          <p:nvPr/>
        </p:nvSpPr>
        <p:spPr>
          <a:xfrm>
            <a:off x="594360" y="1371600"/>
            <a:ext cx="5029200" cy="4023360"/>
          </a:xfrm>
          <a:prstGeom prst="rect">
            <a:avLst/>
          </a:prstGeom>
          <a:noFill/>
          <a:ln/>
        </p:spPr>
        <p:txBody>
          <a:bodyPr wrap="square" rtlCol="0" anchor="t"/>
          <a:lstStyle/>
          <a:p>
            <a:pPr indent="0" marL="0">
              <a:lnSpc>
                <a:spcPct val="125000"/>
              </a:lnSpc>
              <a:buNone/>
            </a:pPr>
            <a:r>
              <a:rPr lang="en-US" sz="1400" b="1" dirty="0">
                <a:solidFill>
                  <a:srgbClr val="1E64C8"/>
                </a:solidFill>
                <a:latin typeface="UGent Panno Text" pitchFamily="34" charset="0"/>
                <a:ea typeface="UGent Panno Text" pitchFamily="34" charset="-122"/>
                <a:cs typeface="UGent Panno Text" pitchFamily="34" charset="-120"/>
              </a:rPr>
              <a:t>21 raw sensors </a:t>
            </a:r>
            <a:pPr indent="0" marL="0">
              <a:lnSpc>
                <a:spcPct val="125000"/>
              </a:lnSpc>
              <a:buNone/>
            </a:pPr>
            <a:r>
              <a:rPr lang="en-US" sz="1400" dirty="0">
                <a:solidFill>
                  <a:srgbClr val="16233B"/>
                </a:solidFill>
                <a:latin typeface="UGent Panno Text" pitchFamily="34" charset="0"/>
                <a:ea typeface="UGent Panno Text" pitchFamily="34" charset="-122"/>
                <a:cs typeface="UGent Panno Text" pitchFamily="34" charset="-120"/>
              </a:rPr>
              <a:t>→ 10 selected (drop constant / redundant channels)
</a:t>
            </a:r>
            <a:pPr indent="0" marL="0">
              <a:lnSpc>
                <a:spcPct val="125000"/>
              </a:lnSpc>
              <a:buNone/>
            </a:pPr>
            <a:r>
              <a:rPr lang="en-US" sz="1400" dirty="0">
                <a:solidFill>
                  <a:srgbClr val="16233B"/>
                </a:solidFill>
                <a:latin typeface="UGent Panno Text" pitchFamily="34" charset="0"/>
                <a:ea typeface="UGent Panno Text" pitchFamily="34" charset="-122"/>
                <a:cs typeface="UGent Panno Text" pitchFamily="34" charset="-120"/>
              </a:rPr>
              <a:t>→ combined into a single </a:t>
            </a:r>
            <a:pPr indent="0" marL="0">
              <a:lnSpc>
                <a:spcPct val="125000"/>
              </a:lnSpc>
              <a:buNone/>
            </a:pPr>
            <a:r>
              <a:rPr lang="en-US" sz="1400" b="1" dirty="0">
                <a:solidFill>
                  <a:srgbClr val="1E64C8"/>
                </a:solidFill>
                <a:latin typeface="UGent Panno Text" pitchFamily="34" charset="0"/>
                <a:ea typeface="UGent Panno Text" pitchFamily="34" charset="-122"/>
                <a:cs typeface="UGent Panno Text" pitchFamily="34" charset="-120"/>
              </a:rPr>
              <a:t>Health Index</a:t>
            </a:r>
            <a:pPr indent="0" marL="0">
              <a:lnSpc>
                <a:spcPct val="125000"/>
              </a:lnSpc>
              <a:buNone/>
            </a:pPr>
            <a:r>
              <a:rPr lang="en-US" sz="1400" dirty="0">
                <a:solidFill>
                  <a:srgbClr val="16233B"/>
                </a:solidFill>
                <a:latin typeface="UGent Panno Text" pitchFamily="34" charset="0"/>
                <a:ea typeface="UGent Panno Text" pitchFamily="34" charset="-122"/>
                <a:cs typeface="UGent Panno Text" pitchFamily="34" charset="-120"/>
              </a:rPr>
              <a:t> h ∈ [0,1]
(weighted average, min–max normalised, oriented to decrease with wear)
</a:t>
            </a:r>
            <a:pPr indent="0" marL="0">
              <a:lnSpc>
                <a:spcPct val="125000"/>
              </a:lnSpc>
              <a:buNone/>
            </a:pPr>
            <a:r>
              <a:rPr lang="en-US" sz="1400" b="1" dirty="0">
                <a:solidFill>
                  <a:srgbClr val="1E64C8"/>
                </a:solidFill>
                <a:latin typeface="UGent Panno Text" pitchFamily="34" charset="0"/>
                <a:ea typeface="UGent Panno Text" pitchFamily="34" charset="-122"/>
                <a:cs typeface="UGent Panno Text" pitchFamily="34" charset="-120"/>
              </a:rPr>
              <a:t>Degradation dynamics: </a:t>
            </a:r>
            <a:pPr indent="0" marL="0">
              <a:lnSpc>
                <a:spcPct val="125000"/>
              </a:lnSpc>
              <a:buNone/>
            </a:pPr>
            <a:r>
              <a:rPr lang="en-US" sz="1400" dirty="0">
                <a:solidFill>
                  <a:srgbClr val="16233B"/>
                </a:solidFill>
                <a:latin typeface="UGent Panno Text" pitchFamily="34" charset="0"/>
                <a:ea typeface="UGent Panno Text" pitchFamily="34" charset="-122"/>
                <a:cs typeface="UGent Panno Text" pitchFamily="34" charset="-120"/>
              </a:rPr>
              <a:t>exponential decay —</a:t>
            </a:r>
            <a:endParaRPr lang="en-US" sz="1400" dirty="0"/>
          </a:p>
          <a:p>
            <a:pPr indent="0" marL="0">
              <a:lnSpc>
                <a:spcPct val="125000"/>
              </a:lnSpc>
              <a:buNone/>
            </a:pPr>
            <a:r>
              <a:rPr lang="en-US" sz="1400" dirty="0">
                <a:solidFill>
                  <a:srgbClr val="16233B"/>
                </a:solidFill>
                <a:latin typeface="UGent Panno Text" pitchFamily="34" charset="0"/>
                <a:ea typeface="UGent Panno Text" pitchFamily="34" charset="-122"/>
                <a:cs typeface="UGent Panno Text" pitchFamily="34" charset="-120"/>
              </a:rPr>
              <a:t>matches the shape the C-MAPSS simulator itself uses.</a:t>
            </a:r>
            <a:endParaRPr lang="en-US" sz="1400" dirty="0"/>
          </a:p>
        </p:txBody>
      </p:sp>
      <p:graphicFrame>
        <p:nvGraphicFramePr>
          <p:cNvPr id="6" name="Chart 0" descr=""/>
          <p:cNvGraphicFramePr/>
          <p:nvPr/>
        </p:nvGraphicFramePr>
        <p:xfrm>
          <a:off x="5989320" y="1371600"/>
          <a:ext cx="5577840" cy="3291840"/>
        </p:xfrm>
        <a:graphic xmlns:a="http://schemas.openxmlformats.org/drawingml/2006/main">
          <a:graphicData uri="http://schemas.openxmlformats.org/drawingml/2006/chart">
            <c:chart xmlns:c="http://schemas.openxmlformats.org/drawingml/2006/chart" r:id="rId2"/>
          </a:graphicData>
        </a:graphic>
      </p:graphicFrame>
      <p:sp>
        <p:nvSpPr>
          <p:cNvPr id="7" name="Text 3"/>
          <p:cNvSpPr/>
          <p:nvPr/>
        </p:nvSpPr>
        <p:spPr>
          <a:xfrm>
            <a:off x="5989320" y="4754880"/>
            <a:ext cx="5577840" cy="548640"/>
          </a:xfrm>
          <a:prstGeom prst="rect">
            <a:avLst/>
          </a:prstGeom>
          <a:noFill/>
          <a:ln/>
        </p:spPr>
        <p:txBody>
          <a:bodyPr wrap="square" rtlCol="0" anchor="t"/>
          <a:lstStyle/>
          <a:p>
            <a:pPr indent="0" marL="0">
              <a:buNone/>
            </a:pPr>
            <a:r>
              <a:rPr lang="en-US" sz="1150" i="1" dirty="0">
                <a:solidFill>
                  <a:srgbClr val="5B6B85"/>
                </a:solidFill>
                <a:latin typeface="UGent Panno Text" pitchFamily="34" charset="0"/>
                <a:ea typeface="UGent Panno Text" pitchFamily="34" charset="-122"/>
                <a:cs typeface="UGent Panno Text" pitchFamily="34" charset="-120"/>
              </a:rPr>
              <a:t>Same construction is fit on FD001 only, then reused unchanged on FD003 as a robustness check.</a:t>
            </a:r>
            <a:endParaRPr lang="en-US" sz="1150" dirty="0"/>
          </a:p>
        </p:txBody>
      </p:sp>
      <p:sp>
        <p:nvSpPr>
          <p:cNvPr id="8" name="Text 4"/>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UGent Panno Text" pitchFamily="34" charset="0"/>
                <a:ea typeface="UGent Panno Text" pitchFamily="34" charset="-122"/>
                <a:cs typeface="UGent Panno Text"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pic>
        <p:nvPicPr>
          <p:cNvPr id="2" name="Image 0" descr="/tmp/defense_prep/ugent_logo_cropped.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F1A32B"/>
                </a:solidFill>
                <a:latin typeface="UGent Panno Text" pitchFamily="34" charset="0"/>
                <a:ea typeface="UGent Panno Text" pitchFamily="34" charset="-122"/>
                <a:cs typeface="UGent Panno Text" pitchFamily="34" charset="-120"/>
              </a:rPr>
              <a:t>THE MODEL — PART 2</a:t>
            </a:r>
            <a:endParaRPr lang="en-US" sz="1100" dirty="0"/>
          </a:p>
        </p:txBody>
      </p:sp>
      <p:sp>
        <p:nvSpPr>
          <p:cNvPr id="4"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1E64C8"/>
                </a:solidFill>
                <a:latin typeface="UGent Panno Text SemiBold" pitchFamily="34" charset="0"/>
                <a:ea typeface="UGent Panno Text SemiBold" pitchFamily="34" charset="-122"/>
                <a:cs typeface="UGent Panno Text SemiBold" pitchFamily="34" charset="-120"/>
              </a:rPr>
              <a:t>The Bootstrap Particle Filter Loop</a:t>
            </a:r>
            <a:endParaRPr lang="en-US" sz="3000" dirty="0"/>
          </a:p>
        </p:txBody>
      </p:sp>
      <p:sp>
        <p:nvSpPr>
          <p:cNvPr id="5" name="Shape 2"/>
          <p:cNvSpPr/>
          <p:nvPr/>
        </p:nvSpPr>
        <p:spPr>
          <a:xfrm>
            <a:off x="777240" y="1737360"/>
            <a:ext cx="3383280" cy="1874520"/>
          </a:xfrm>
          <a:prstGeom prst="roundRect">
            <a:avLst>
              <a:gd name="adj" fmla="val 4878"/>
            </a:avLst>
          </a:prstGeom>
          <a:solidFill>
            <a:srgbClr val="0F3D75"/>
          </a:solidFill>
          <a:ln/>
        </p:spPr>
      </p:sp>
      <p:sp>
        <p:nvSpPr>
          <p:cNvPr id="6" name="Text 3"/>
          <p:cNvSpPr/>
          <p:nvPr/>
        </p:nvSpPr>
        <p:spPr>
          <a:xfrm>
            <a:off x="1005840" y="1920240"/>
            <a:ext cx="2926080" cy="411480"/>
          </a:xfrm>
          <a:prstGeom prst="rect">
            <a:avLst/>
          </a:prstGeom>
          <a:noFill/>
          <a:ln/>
        </p:spPr>
        <p:txBody>
          <a:bodyPr wrap="square" rtlCol="0" anchor="ctr"/>
          <a:lstStyle/>
          <a:p>
            <a:pPr indent="0" marL="0">
              <a:buNone/>
            </a:pPr>
            <a:r>
              <a:rPr lang="en-US" sz="1500" b="1" dirty="0">
                <a:solidFill>
                  <a:srgbClr val="F1A32B"/>
                </a:solidFill>
                <a:latin typeface="UGent Panno Text" pitchFamily="34" charset="0"/>
                <a:ea typeface="UGent Panno Text" pitchFamily="34" charset="-122"/>
                <a:cs typeface="UGent Panno Text" pitchFamily="34" charset="-120"/>
              </a:rPr>
              <a:t>1. Predict</a:t>
            </a:r>
            <a:endParaRPr lang="en-US" sz="1500" dirty="0"/>
          </a:p>
        </p:txBody>
      </p:sp>
      <p:sp>
        <p:nvSpPr>
          <p:cNvPr id="7" name="Text 4"/>
          <p:cNvSpPr/>
          <p:nvPr/>
        </p:nvSpPr>
        <p:spPr>
          <a:xfrm>
            <a:off x="1005840" y="2331720"/>
            <a:ext cx="2926080" cy="1097280"/>
          </a:xfrm>
          <a:prstGeom prst="rect">
            <a:avLst/>
          </a:prstGeom>
          <a:noFill/>
          <a:ln/>
        </p:spPr>
        <p:txBody>
          <a:bodyPr wrap="square" rtlCol="0" anchor="t"/>
          <a:lstStyle/>
          <a:p>
            <a:pPr indent="0" marL="0">
              <a:lnSpc>
                <a:spcPct val="120000"/>
              </a:lnSpc>
              <a:buNone/>
            </a:pPr>
            <a:r>
              <a:rPr lang="en-US" sz="1200" dirty="0">
                <a:solidFill>
                  <a:srgbClr val="FFFFFF"/>
                </a:solidFill>
                <a:latin typeface="UGent Panno Text" pitchFamily="34" charset="0"/>
                <a:ea typeface="UGent Panno Text" pitchFamily="34" charset="-122"/>
                <a:cs typeface="UGent Panno Text" pitchFamily="34" charset="-120"/>
              </a:rPr>
              <a:t>Every particle moves forward one cycle through the degradation model, each drawing its own noise.</a:t>
            </a:r>
            <a:endParaRPr lang="en-US" sz="1200" dirty="0"/>
          </a:p>
        </p:txBody>
      </p:sp>
      <p:sp>
        <p:nvSpPr>
          <p:cNvPr id="8" name="Shape 5"/>
          <p:cNvSpPr/>
          <p:nvPr/>
        </p:nvSpPr>
        <p:spPr>
          <a:xfrm>
            <a:off x="4233672" y="2564892"/>
            <a:ext cx="356616" cy="219456"/>
          </a:xfrm>
          <a:prstGeom prst="rightArrow">
            <a:avLst/>
          </a:prstGeom>
          <a:solidFill>
            <a:srgbClr val="8BBED5"/>
          </a:solidFill>
          <a:ln/>
        </p:spPr>
      </p:sp>
      <p:sp>
        <p:nvSpPr>
          <p:cNvPr id="9" name="Shape 6"/>
          <p:cNvSpPr/>
          <p:nvPr/>
        </p:nvSpPr>
        <p:spPr>
          <a:xfrm>
            <a:off x="4663440" y="1737360"/>
            <a:ext cx="3383280" cy="1874520"/>
          </a:xfrm>
          <a:prstGeom prst="roundRect">
            <a:avLst>
              <a:gd name="adj" fmla="val 4878"/>
            </a:avLst>
          </a:prstGeom>
          <a:solidFill>
            <a:srgbClr val="0F3D75"/>
          </a:solidFill>
          <a:ln/>
        </p:spPr>
      </p:sp>
      <p:sp>
        <p:nvSpPr>
          <p:cNvPr id="10" name="Text 7"/>
          <p:cNvSpPr/>
          <p:nvPr/>
        </p:nvSpPr>
        <p:spPr>
          <a:xfrm>
            <a:off x="4892040" y="1920240"/>
            <a:ext cx="2926080" cy="411480"/>
          </a:xfrm>
          <a:prstGeom prst="rect">
            <a:avLst/>
          </a:prstGeom>
          <a:noFill/>
          <a:ln/>
        </p:spPr>
        <p:txBody>
          <a:bodyPr wrap="square" rtlCol="0" anchor="ctr"/>
          <a:lstStyle/>
          <a:p>
            <a:pPr indent="0" marL="0">
              <a:buNone/>
            </a:pPr>
            <a:r>
              <a:rPr lang="en-US" sz="1500" b="1" dirty="0">
                <a:solidFill>
                  <a:srgbClr val="F1A32B"/>
                </a:solidFill>
                <a:latin typeface="UGent Panno Text" pitchFamily="34" charset="0"/>
                <a:ea typeface="UGent Panno Text" pitchFamily="34" charset="-122"/>
                <a:cs typeface="UGent Panno Text" pitchFamily="34" charset="-120"/>
              </a:rPr>
              <a:t>2. Weight</a:t>
            </a:r>
            <a:endParaRPr lang="en-US" sz="1500" dirty="0"/>
          </a:p>
        </p:txBody>
      </p:sp>
      <p:sp>
        <p:nvSpPr>
          <p:cNvPr id="11" name="Text 8"/>
          <p:cNvSpPr/>
          <p:nvPr/>
        </p:nvSpPr>
        <p:spPr>
          <a:xfrm>
            <a:off x="4892040" y="2331720"/>
            <a:ext cx="2926080" cy="1097280"/>
          </a:xfrm>
          <a:prstGeom prst="rect">
            <a:avLst/>
          </a:prstGeom>
          <a:noFill/>
          <a:ln/>
        </p:spPr>
        <p:txBody>
          <a:bodyPr wrap="square" rtlCol="0" anchor="t"/>
          <a:lstStyle/>
          <a:p>
            <a:pPr indent="0" marL="0">
              <a:lnSpc>
                <a:spcPct val="120000"/>
              </a:lnSpc>
              <a:buNone/>
            </a:pPr>
            <a:r>
              <a:rPr lang="en-US" sz="1200" dirty="0">
                <a:solidFill>
                  <a:srgbClr val="FFFFFF"/>
                </a:solidFill>
                <a:latin typeface="UGent Panno Text" pitchFamily="34" charset="0"/>
                <a:ea typeface="UGent Panno Text" pitchFamily="34" charset="-122"/>
                <a:cs typeface="UGent Panno Text" pitchFamily="34" charset="-120"/>
              </a:rPr>
              <a:t>Each particle is scored by how well it matches the new sensor reading — Health Index likelihood.</a:t>
            </a:r>
            <a:endParaRPr lang="en-US" sz="1200" dirty="0"/>
          </a:p>
        </p:txBody>
      </p:sp>
      <p:sp>
        <p:nvSpPr>
          <p:cNvPr id="12" name="Shape 9"/>
          <p:cNvSpPr/>
          <p:nvPr/>
        </p:nvSpPr>
        <p:spPr>
          <a:xfrm>
            <a:off x="8119872" y="2564892"/>
            <a:ext cx="356616" cy="219456"/>
          </a:xfrm>
          <a:prstGeom prst="rightArrow">
            <a:avLst/>
          </a:prstGeom>
          <a:solidFill>
            <a:srgbClr val="8BBED5"/>
          </a:solidFill>
          <a:ln/>
        </p:spPr>
      </p:sp>
      <p:sp>
        <p:nvSpPr>
          <p:cNvPr id="13" name="Shape 10"/>
          <p:cNvSpPr/>
          <p:nvPr/>
        </p:nvSpPr>
        <p:spPr>
          <a:xfrm>
            <a:off x="8549640" y="1737360"/>
            <a:ext cx="3383280" cy="1874520"/>
          </a:xfrm>
          <a:prstGeom prst="roundRect">
            <a:avLst>
              <a:gd name="adj" fmla="val 4878"/>
            </a:avLst>
          </a:prstGeom>
          <a:solidFill>
            <a:srgbClr val="0F3D75"/>
          </a:solidFill>
          <a:ln/>
        </p:spPr>
      </p:sp>
      <p:sp>
        <p:nvSpPr>
          <p:cNvPr id="14" name="Text 11"/>
          <p:cNvSpPr/>
          <p:nvPr/>
        </p:nvSpPr>
        <p:spPr>
          <a:xfrm>
            <a:off x="8778240" y="1920240"/>
            <a:ext cx="2926080" cy="411480"/>
          </a:xfrm>
          <a:prstGeom prst="rect">
            <a:avLst/>
          </a:prstGeom>
          <a:noFill/>
          <a:ln/>
        </p:spPr>
        <p:txBody>
          <a:bodyPr wrap="square" rtlCol="0" anchor="ctr"/>
          <a:lstStyle/>
          <a:p>
            <a:pPr indent="0" marL="0">
              <a:buNone/>
            </a:pPr>
            <a:r>
              <a:rPr lang="en-US" sz="1500" b="1" dirty="0">
                <a:solidFill>
                  <a:srgbClr val="F1A32B"/>
                </a:solidFill>
                <a:latin typeface="UGent Panno Text" pitchFamily="34" charset="0"/>
                <a:ea typeface="UGent Panno Text" pitchFamily="34" charset="-122"/>
                <a:cs typeface="UGent Panno Text" pitchFamily="34" charset="-120"/>
              </a:rPr>
              <a:t>3. Resample</a:t>
            </a:r>
            <a:endParaRPr lang="en-US" sz="1500" dirty="0"/>
          </a:p>
        </p:txBody>
      </p:sp>
      <p:sp>
        <p:nvSpPr>
          <p:cNvPr id="15" name="Text 12"/>
          <p:cNvSpPr/>
          <p:nvPr/>
        </p:nvSpPr>
        <p:spPr>
          <a:xfrm>
            <a:off x="8778240" y="2331720"/>
            <a:ext cx="2926080" cy="1097280"/>
          </a:xfrm>
          <a:prstGeom prst="rect">
            <a:avLst/>
          </a:prstGeom>
          <a:noFill/>
          <a:ln/>
        </p:spPr>
        <p:txBody>
          <a:bodyPr wrap="square" rtlCol="0" anchor="t"/>
          <a:lstStyle/>
          <a:p>
            <a:pPr indent="0" marL="0">
              <a:lnSpc>
                <a:spcPct val="120000"/>
              </a:lnSpc>
              <a:buNone/>
            </a:pPr>
            <a:r>
              <a:rPr lang="en-US" sz="1200" dirty="0">
                <a:solidFill>
                  <a:srgbClr val="FFFFFF"/>
                </a:solidFill>
                <a:latin typeface="UGent Panno Text" pitchFamily="34" charset="0"/>
                <a:ea typeface="UGent Panno Text" pitchFamily="34" charset="-122"/>
                <a:cs typeface="UGent Panno Text" pitchFamily="34" charset="-120"/>
              </a:rPr>
              <a:t>When the Effective Sample Size drops below 50% of N, low-weight particles are dropped and duplicated.</a:t>
            </a:r>
            <a:endParaRPr lang="en-US" sz="1200" dirty="0"/>
          </a:p>
        </p:txBody>
      </p:sp>
      <p:sp>
        <p:nvSpPr>
          <p:cNvPr id="16" name="Text 13"/>
          <p:cNvSpPr/>
          <p:nvPr/>
        </p:nvSpPr>
        <p:spPr>
          <a:xfrm>
            <a:off x="777240" y="3886200"/>
            <a:ext cx="11155680" cy="365760"/>
          </a:xfrm>
          <a:prstGeom prst="rect">
            <a:avLst/>
          </a:prstGeom>
          <a:noFill/>
          <a:ln/>
        </p:spPr>
        <p:txBody>
          <a:bodyPr wrap="square" rtlCol="0" anchor="ctr"/>
          <a:lstStyle/>
          <a:p>
            <a:pPr algn="ctr" indent="0" marL="0">
              <a:buNone/>
            </a:pPr>
            <a:r>
              <a:rPr lang="en-US" sz="1300" i="1" dirty="0">
                <a:solidFill>
                  <a:srgbClr val="1E64C8"/>
                </a:solidFill>
                <a:latin typeface="UGent Panno Text" pitchFamily="34" charset="0"/>
                <a:ea typeface="UGent Panno Text" pitchFamily="34" charset="-122"/>
                <a:cs typeface="UGent Panno Text" pitchFamily="34" charset="-120"/>
              </a:rPr>
              <a:t>→ repeated every cycle, independently, for each of the 100 engines</a:t>
            </a:r>
            <a:endParaRPr lang="en-US" sz="1300" dirty="0"/>
          </a:p>
        </p:txBody>
      </p:sp>
      <p:sp>
        <p:nvSpPr>
          <p:cNvPr id="17" name="Text 14"/>
          <p:cNvSpPr/>
          <p:nvPr/>
        </p:nvSpPr>
        <p:spPr>
          <a:xfrm>
            <a:off x="777240" y="4434840"/>
            <a:ext cx="11155680" cy="914400"/>
          </a:xfrm>
          <a:prstGeom prst="rect">
            <a:avLst/>
          </a:prstGeom>
          <a:noFill/>
          <a:ln/>
        </p:spPr>
        <p:txBody>
          <a:bodyPr wrap="square" rtlCol="0" anchor="t"/>
          <a:lstStyle/>
          <a:p>
            <a:pPr algn="ctr" indent="0" marL="0">
              <a:buNone/>
            </a:pPr>
            <a:r>
              <a:rPr lang="en-US" sz="1350" b="1" dirty="0">
                <a:solidFill>
                  <a:srgbClr val="16233B"/>
                </a:solidFill>
                <a:latin typeface="UGent Panno Text" pitchFamily="34" charset="0"/>
                <a:ea typeface="UGent Panno Text" pitchFamily="34" charset="-122"/>
                <a:cs typeface="UGent Panno Text" pitchFamily="34" charset="-120"/>
              </a:rPr>
              <a:t>N = 500 particles per engine.  </a:t>
            </a:r>
            <a:pPr algn="ctr" indent="0" marL="0">
              <a:buNone/>
            </a:pPr>
            <a:r>
              <a:rPr lang="en-US" sz="1350" dirty="0">
                <a:solidFill>
                  <a:srgbClr val="16233B"/>
                </a:solidFill>
                <a:latin typeface="UGent Panno Text" pitchFamily="34" charset="0"/>
                <a:ea typeface="UGent Panno Text" pitchFamily="34" charset="-122"/>
                <a:cs typeface="UGent Panno Text" pitchFamily="34" charset="-120"/>
              </a:rPr>
              <a:t>Systematic resampling (low variance). Fleet-wide effective sample size stays at </a:t>
            </a:r>
            <a:pPr algn="ctr" indent="0" marL="0">
              <a:buNone/>
            </a:pPr>
            <a:r>
              <a:rPr lang="en-US" sz="1350" b="1" dirty="0">
                <a:solidFill>
                  <a:srgbClr val="F1A32B"/>
                </a:solidFill>
                <a:latin typeface="UGent Panno Text" pitchFamily="34" charset="0"/>
                <a:ea typeface="UGent Panno Text" pitchFamily="34" charset="-122"/>
                <a:cs typeface="UGent Panno Text" pitchFamily="34" charset="-120"/>
              </a:rPr>
              <a:t>79% of N</a:t>
            </a:r>
            <a:pPr algn="ctr" indent="0" marL="0">
              <a:buNone/>
            </a:pPr>
            <a:r>
              <a:rPr lang="en-US" sz="1350" dirty="0">
                <a:solidFill>
                  <a:srgbClr val="16233B"/>
                </a:solidFill>
                <a:latin typeface="UGent Panno Text" pitchFamily="34" charset="0"/>
                <a:ea typeface="UGent Panno Text" pitchFamily="34" charset="-122"/>
                <a:cs typeface="UGent Panno Text" pitchFamily="34" charset="-120"/>
              </a:rPr>
              <a:t> on average — the particle cloud never collapses.</a:t>
            </a:r>
            <a:endParaRPr lang="en-US" sz="1350" dirty="0"/>
          </a:p>
        </p:txBody>
      </p:sp>
      <p:sp>
        <p:nvSpPr>
          <p:cNvPr id="18" name="Text 15"/>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UGent Panno Text" pitchFamily="34" charset="0"/>
                <a:ea typeface="UGent Panno Text" pitchFamily="34" charset="-122"/>
                <a:cs typeface="UGent Panno Text"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pic>
        <p:nvPicPr>
          <p:cNvPr id="2" name="Image 0" descr="/tmp/defense_prep/ugent_logo_cropped.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F1A32B"/>
                </a:solidFill>
                <a:latin typeface="UGent Panno Text" pitchFamily="34" charset="0"/>
                <a:ea typeface="UGent Panno Text" pitchFamily="34" charset="-122"/>
                <a:cs typeface="UGent Panno Text" pitchFamily="34" charset="-120"/>
              </a:rPr>
              <a:t>THE MODEL — PART 3</a:t>
            </a:r>
            <a:endParaRPr lang="en-US" sz="1100" dirty="0"/>
          </a:p>
        </p:txBody>
      </p:sp>
      <p:sp>
        <p:nvSpPr>
          <p:cNvPr id="4"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1E64C8"/>
                </a:solidFill>
                <a:latin typeface="UGent Panno Text SemiBold" pitchFamily="34" charset="0"/>
                <a:ea typeface="UGent Panno Text SemiBold" pitchFamily="34" charset="-122"/>
                <a:cs typeface="UGent Panno Text SemiBold" pitchFamily="34" charset="-120"/>
              </a:rPr>
              <a:t>From Posterior to a RUL Distribution</a:t>
            </a:r>
            <a:endParaRPr lang="en-US" sz="3000" dirty="0"/>
          </a:p>
        </p:txBody>
      </p:sp>
      <p:sp>
        <p:nvSpPr>
          <p:cNvPr id="5" name="Text 2"/>
          <p:cNvSpPr/>
          <p:nvPr/>
        </p:nvSpPr>
        <p:spPr>
          <a:xfrm>
            <a:off x="594360" y="1325880"/>
            <a:ext cx="6035040" cy="4206240"/>
          </a:xfrm>
          <a:prstGeom prst="rect">
            <a:avLst/>
          </a:prstGeom>
          <a:noFill/>
          <a:ln/>
        </p:spPr>
        <p:txBody>
          <a:bodyPr wrap="square" rtlCol="0" anchor="t"/>
          <a:lstStyle/>
          <a:p>
            <a:pPr indent="0" marL="0">
              <a:lnSpc>
                <a:spcPct val="122000"/>
              </a:lnSpc>
              <a:buNone/>
            </a:pPr>
            <a:r>
              <a:rPr lang="en-US" sz="1400" dirty="0">
                <a:solidFill>
                  <a:srgbClr val="16233B"/>
                </a:solidFill>
                <a:latin typeface="UGent Panno Text" pitchFamily="34" charset="0"/>
                <a:ea typeface="UGent Panno Text" pitchFamily="34" charset="-122"/>
                <a:cs typeface="UGent Panno Text" pitchFamily="34" charset="-120"/>
              </a:rPr>
              <a:t>Forward-simulate the whole particle cloud until each particle crosses a failure threshold → one RUL sample per particle → a full distribution, not one value.
</a:t>
            </a:r>
            <a:pPr indent="0" marL="0">
              <a:lnSpc>
                <a:spcPct val="122000"/>
              </a:lnSpc>
              <a:buNone/>
            </a:pPr>
            <a:r>
              <a:rPr lang="en-US" sz="1400" b="1" dirty="0">
                <a:solidFill>
                  <a:srgbClr val="1E64C8"/>
                </a:solidFill>
                <a:latin typeface="UGent Panno Text" pitchFamily="34" charset="0"/>
                <a:ea typeface="UGent Panno Text" pitchFamily="34" charset="-122"/>
                <a:cs typeface="UGent Panno Text" pitchFamily="34" charset="-120"/>
              </a:rPr>
              <a:t>Problem found: </a:t>
            </a:r>
            <a:pPr indent="0" marL="0">
              <a:lnSpc>
                <a:spcPct val="122000"/>
              </a:lnSpc>
              <a:buNone/>
            </a:pPr>
            <a:r>
              <a:rPr lang="en-US" sz="1400" dirty="0">
                <a:solidFill>
                  <a:srgbClr val="16233B"/>
                </a:solidFill>
                <a:latin typeface="UGent Panno Text" pitchFamily="34" charset="0"/>
                <a:ea typeface="UGent Panno Text" pitchFamily="34" charset="-122"/>
                <a:cs typeface="UGent Panno Text" pitchFamily="34" charset="-120"/>
              </a:rPr>
              <a:t>real engines fail around health ≈ 0.26 (observed) — but the filter's own posterior runs higher, ≈ 0.34, at that same moment.
</a:t>
            </a:r>
            <a:pPr indent="0" marL="0">
              <a:lnSpc>
                <a:spcPct val="122000"/>
              </a:lnSpc>
              <a:buNone/>
            </a:pPr>
            <a:r>
              <a:rPr lang="en-US" sz="1400" b="1" dirty="0">
                <a:solidFill>
                  <a:srgbClr val="1E64C8"/>
                </a:solidFill>
                <a:latin typeface="UGent Panno Text" pitchFamily="34" charset="0"/>
                <a:ea typeface="UGent Panno Text" pitchFamily="34" charset="-122"/>
                <a:cs typeface="UGent Panno Text" pitchFamily="34" charset="-120"/>
              </a:rPr>
              <a:t>Fix: </a:t>
            </a:r>
            <a:pPr indent="0" marL="0">
              <a:lnSpc>
                <a:spcPct val="122000"/>
              </a:lnSpc>
              <a:buNone/>
            </a:pPr>
            <a:r>
              <a:rPr lang="en-US" sz="1400" dirty="0">
                <a:solidFill>
                  <a:srgbClr val="16233B"/>
                </a:solidFill>
                <a:latin typeface="UGent Panno Text" pitchFamily="34" charset="0"/>
                <a:ea typeface="UGent Panno Text" pitchFamily="34" charset="-122"/>
                <a:cs typeface="UGent Panno Text" pitchFamily="34" charset="-120"/>
              </a:rPr>
              <a:t>calibrate the failure threshold in the filter's own posterior space, and draw it per-particle from a distribution — not one fixed number.</a:t>
            </a:r>
            <a:endParaRPr lang="en-US" sz="1400" dirty="0"/>
          </a:p>
        </p:txBody>
      </p:sp>
      <p:sp>
        <p:nvSpPr>
          <p:cNvPr id="6" name="Shape 3"/>
          <p:cNvSpPr/>
          <p:nvPr/>
        </p:nvSpPr>
        <p:spPr>
          <a:xfrm>
            <a:off x="7040880" y="1828800"/>
            <a:ext cx="4572000" cy="2926080"/>
          </a:xfrm>
          <a:prstGeom prst="roundRect">
            <a:avLst>
              <a:gd name="adj" fmla="val 3750"/>
            </a:avLst>
          </a:prstGeom>
          <a:solidFill>
            <a:srgbClr val="1E64C8"/>
          </a:solidFill>
          <a:ln/>
        </p:spPr>
      </p:sp>
      <p:sp>
        <p:nvSpPr>
          <p:cNvPr id="7" name="Text 4"/>
          <p:cNvSpPr/>
          <p:nvPr/>
        </p:nvSpPr>
        <p:spPr>
          <a:xfrm>
            <a:off x="7040880" y="2103120"/>
            <a:ext cx="4572000" cy="365760"/>
          </a:xfrm>
          <a:prstGeom prst="rect">
            <a:avLst/>
          </a:prstGeom>
          <a:noFill/>
          <a:ln/>
        </p:spPr>
        <p:txBody>
          <a:bodyPr wrap="square" rtlCol="0" anchor="ctr"/>
          <a:lstStyle/>
          <a:p>
            <a:pPr algn="ctr" indent="0" marL="0">
              <a:buNone/>
            </a:pPr>
            <a:r>
              <a:rPr lang="en-US" sz="1300" dirty="0">
                <a:solidFill>
                  <a:srgbClr val="8BBED5"/>
                </a:solidFill>
                <a:latin typeface="UGent Panno Text" pitchFamily="34" charset="0"/>
                <a:ea typeface="UGent Panno Text" pitchFamily="34" charset="-122"/>
                <a:cs typeface="UGent Panno Text" pitchFamily="34" charset="-120"/>
              </a:rPr>
              <a:t>90% credible-interval coverage</a:t>
            </a:r>
            <a:endParaRPr lang="en-US" sz="1300" dirty="0"/>
          </a:p>
        </p:txBody>
      </p:sp>
      <p:sp>
        <p:nvSpPr>
          <p:cNvPr id="8" name="Text 5"/>
          <p:cNvSpPr/>
          <p:nvPr/>
        </p:nvSpPr>
        <p:spPr>
          <a:xfrm>
            <a:off x="7040880" y="2514600"/>
            <a:ext cx="4572000" cy="914400"/>
          </a:xfrm>
          <a:prstGeom prst="rect">
            <a:avLst/>
          </a:prstGeom>
          <a:noFill/>
          <a:ln/>
        </p:spPr>
        <p:txBody>
          <a:bodyPr wrap="square" rtlCol="0" anchor="ctr"/>
          <a:lstStyle/>
          <a:p>
            <a:pPr algn="ctr" indent="0" marL="0">
              <a:buNone/>
            </a:pPr>
            <a:r>
              <a:rPr lang="en-US" sz="3400" b="1" strike="sngStrike" dirty="0">
                <a:solidFill>
                  <a:srgbClr val="F2A65A"/>
                </a:solidFill>
                <a:latin typeface="UGent Panno Text SemiBold" pitchFamily="34" charset="0"/>
                <a:ea typeface="UGent Panno Text SemiBold" pitchFamily="34" charset="-122"/>
                <a:cs typeface="UGent Panno Text SemiBold" pitchFamily="34" charset="-120"/>
              </a:rPr>
              <a:t>0.000</a:t>
            </a:r>
            <a:pPr algn="ctr" indent="0" marL="0">
              <a:buNone/>
            </a:pPr>
            <a:r>
              <a:rPr lang="en-US" sz="3400" b="1" dirty="0">
                <a:solidFill>
                  <a:srgbClr val="FFFFFF"/>
                </a:solidFill>
                <a:latin typeface="UGent Panno Text SemiBold" pitchFamily="34" charset="0"/>
                <a:ea typeface="UGent Panno Text SemiBold" pitchFamily="34" charset="-122"/>
                <a:cs typeface="UGent Panno Text SemiBold" pitchFamily="34" charset="-120"/>
              </a:rPr>
              <a:t>  →  </a:t>
            </a:r>
            <a:pPr algn="ctr" indent="0" marL="0">
              <a:buNone/>
            </a:pPr>
            <a:r>
              <a:rPr lang="en-US" sz="3400" b="1" dirty="0">
                <a:solidFill>
                  <a:srgbClr val="F1A32B"/>
                </a:solidFill>
                <a:latin typeface="UGent Panno Text SemiBold" pitchFamily="34" charset="0"/>
                <a:ea typeface="UGent Panno Text SemiBold" pitchFamily="34" charset="-122"/>
                <a:cs typeface="UGent Panno Text SemiBold" pitchFamily="34" charset="-120"/>
              </a:rPr>
              <a:t>0.75 / 0.99</a:t>
            </a:r>
            <a:endParaRPr lang="en-US" sz="3400" dirty="0"/>
          </a:p>
        </p:txBody>
      </p:sp>
      <p:sp>
        <p:nvSpPr>
          <p:cNvPr id="9" name="Text 6"/>
          <p:cNvSpPr/>
          <p:nvPr/>
        </p:nvSpPr>
        <p:spPr>
          <a:xfrm>
            <a:off x="7406640" y="3611880"/>
            <a:ext cx="3840480" cy="1005840"/>
          </a:xfrm>
          <a:prstGeom prst="rect">
            <a:avLst/>
          </a:prstGeom>
          <a:noFill/>
          <a:ln/>
        </p:spPr>
        <p:txBody>
          <a:bodyPr wrap="square" rtlCol="0" anchor="t"/>
          <a:lstStyle/>
          <a:p>
            <a:pPr algn="ctr" indent="0" marL="0">
              <a:buNone/>
            </a:pPr>
            <a:r>
              <a:rPr lang="en-US" sz="1250" i="1" dirty="0">
                <a:solidFill>
                  <a:srgbClr val="D7E6F5"/>
                </a:solidFill>
                <a:latin typeface="UGent Panno Text" pitchFamily="34" charset="0"/>
                <a:ea typeface="UGent Panno Text" pitchFamily="34" charset="-122"/>
                <a:cs typeface="UGent Panno Text" pitchFamily="34" charset="-120"/>
              </a:rPr>
              <a:t>This single fix was the largest jump in the whole thesis — from a categorical failure to a usable interval.</a:t>
            </a:r>
            <a:endParaRPr lang="en-US" sz="1250" dirty="0"/>
          </a:p>
        </p:txBody>
      </p:sp>
      <p:sp>
        <p:nvSpPr>
          <p:cNvPr id="10" name="Text 7"/>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UGent Panno Text" pitchFamily="34" charset="0"/>
                <a:ea typeface="UGent Panno Text" pitchFamily="34" charset="-122"/>
                <a:cs typeface="UGent Panno Text"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pic>
        <p:nvPicPr>
          <p:cNvPr id="2" name="Image 0" descr="/tmp/defense_prep/ugent_logo_cropped.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F1A32B"/>
                </a:solidFill>
                <a:latin typeface="UGent Panno Text" pitchFamily="34" charset="0"/>
                <a:ea typeface="UGent Panno Text" pitchFamily="34" charset="-122"/>
                <a:cs typeface="UGent Panno Text" pitchFamily="34" charset="-120"/>
              </a:rPr>
              <a:t>THE MODEL — PART 4</a:t>
            </a:r>
            <a:endParaRPr lang="en-US" sz="1100" dirty="0"/>
          </a:p>
        </p:txBody>
      </p:sp>
      <p:sp>
        <p:nvSpPr>
          <p:cNvPr id="4"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1E64C8"/>
                </a:solidFill>
                <a:latin typeface="UGent Panno Text SemiBold" pitchFamily="34" charset="0"/>
                <a:ea typeface="UGent Panno Text SemiBold" pitchFamily="34" charset="-122"/>
                <a:cs typeface="UGent Panno Text SemiBold" pitchFamily="34" charset="-120"/>
              </a:rPr>
              <a:t>One Rate Doesn't Fit Every Engine</a:t>
            </a:r>
            <a:endParaRPr lang="en-US" sz="3000" dirty="0"/>
          </a:p>
        </p:txBody>
      </p:sp>
      <p:sp>
        <p:nvSpPr>
          <p:cNvPr id="5" name="Text 2"/>
          <p:cNvSpPr/>
          <p:nvPr/>
        </p:nvSpPr>
        <p:spPr>
          <a:xfrm>
            <a:off x="594360" y="1280160"/>
            <a:ext cx="11002975" cy="868680"/>
          </a:xfrm>
          <a:prstGeom prst="rect">
            <a:avLst/>
          </a:prstGeom>
          <a:noFill/>
          <a:ln/>
        </p:spPr>
        <p:txBody>
          <a:bodyPr wrap="square" rtlCol="0" anchor="t"/>
          <a:lstStyle/>
          <a:p>
            <a:pPr indent="0" marL="0">
              <a:lnSpc>
                <a:spcPct val="120000"/>
              </a:lnSpc>
              <a:buNone/>
            </a:pPr>
            <a:r>
              <a:rPr lang="en-US" sz="1400" dirty="0">
                <a:solidFill>
                  <a:srgbClr val="16233B"/>
                </a:solidFill>
                <a:latin typeface="UGent Panno Text" pitchFamily="34" charset="0"/>
                <a:ea typeface="UGent Panno Text" pitchFamily="34" charset="-122"/>
                <a:cs typeface="UGent Panno Text" pitchFamily="34" charset="-120"/>
              </a:rPr>
              <a:t>The degradation rate was first fit once, pooled across all 100 training engines — this </a:t>
            </a:r>
            <a:pPr indent="0" marL="0">
              <a:lnSpc>
                <a:spcPct val="120000"/>
              </a:lnSpc>
              <a:buNone/>
            </a:pPr>
            <a:r>
              <a:rPr lang="en-US" sz="1400" b="1" dirty="0">
                <a:solidFill>
                  <a:srgbClr val="F1A32B"/>
                </a:solidFill>
                <a:latin typeface="UGent Panno Text" pitchFamily="34" charset="0"/>
                <a:ea typeface="UGent Panno Text" pitchFamily="34" charset="-122"/>
                <a:cs typeface="UGent Panno Text" pitchFamily="34" charset="-120"/>
              </a:rPr>
              <a:t>understates the fleet's true average rate by ~26%</a:t>
            </a:r>
            <a:pPr indent="0" marL="0">
              <a:lnSpc>
                <a:spcPct val="120000"/>
              </a:lnSpc>
              <a:buNone/>
            </a:pPr>
            <a:r>
              <a:rPr lang="en-US" sz="1400" dirty="0">
                <a:solidFill>
                  <a:srgbClr val="16233B"/>
                </a:solidFill>
                <a:latin typeface="UGent Panno Text" pitchFamily="34" charset="0"/>
                <a:ea typeface="UGent Panno Text" pitchFamily="34" charset="-122"/>
                <a:cs typeface="UGent Panno Text" pitchFamily="34" charset="-120"/>
              </a:rPr>
              <a:t>, because it averages fast- and slow-failing engines together.</a:t>
            </a:r>
            <a:endParaRPr lang="en-US" sz="1400" dirty="0"/>
          </a:p>
        </p:txBody>
      </p:sp>
      <p:sp>
        <p:nvSpPr>
          <p:cNvPr id="6" name="Shape 3"/>
          <p:cNvSpPr/>
          <p:nvPr/>
        </p:nvSpPr>
        <p:spPr>
          <a:xfrm>
            <a:off x="594360" y="2331720"/>
            <a:ext cx="5257800" cy="3063240"/>
          </a:xfrm>
          <a:prstGeom prst="roundRect">
            <a:avLst>
              <a:gd name="adj" fmla="val 2985"/>
            </a:avLst>
          </a:prstGeom>
          <a:solidFill>
            <a:srgbClr val="FFFFFF"/>
          </a:solidFill>
          <a:ln w="19050">
            <a:solidFill>
              <a:srgbClr val="0F3D75"/>
            </a:solidFill>
            <a:prstDash val="solid"/>
          </a:ln>
          <a:effectLst>
            <a:outerShdw sx="100000" sy="100000" kx="0" ky="0" algn="bl" rotWithShape="0" blurRad="63500" dist="25400" dir="5400000">
              <a:srgbClr val="9AAFC7">
                <a:alpha val="30000"/>
              </a:srgbClr>
            </a:outerShdw>
          </a:effectLst>
        </p:spPr>
      </p:sp>
      <p:sp>
        <p:nvSpPr>
          <p:cNvPr id="7" name="Text 4"/>
          <p:cNvSpPr/>
          <p:nvPr/>
        </p:nvSpPr>
        <p:spPr>
          <a:xfrm>
            <a:off x="868680" y="2532888"/>
            <a:ext cx="4709160" cy="457200"/>
          </a:xfrm>
          <a:prstGeom prst="rect">
            <a:avLst/>
          </a:prstGeom>
          <a:noFill/>
          <a:ln/>
        </p:spPr>
        <p:txBody>
          <a:bodyPr wrap="square" rtlCol="0" anchor="ctr"/>
          <a:lstStyle/>
          <a:p>
            <a:pPr indent="0" marL="0">
              <a:buNone/>
            </a:pPr>
            <a:r>
              <a:rPr lang="en-US" sz="1550" b="1" dirty="0">
                <a:solidFill>
                  <a:srgbClr val="0F3D75"/>
                </a:solidFill>
                <a:latin typeface="UGent Panno Text" pitchFamily="34" charset="0"/>
                <a:ea typeface="UGent Panno Text" pitchFamily="34" charset="-122"/>
                <a:cs typeface="UGent Panno Text" pitchFamily="34" charset="-120"/>
              </a:rPr>
              <a:t>Fix 1 — PMMH</a:t>
            </a:r>
            <a:endParaRPr lang="en-US" sz="1550" dirty="0"/>
          </a:p>
        </p:txBody>
      </p:sp>
      <p:sp>
        <p:nvSpPr>
          <p:cNvPr id="8" name="Text 5"/>
          <p:cNvSpPr/>
          <p:nvPr/>
        </p:nvSpPr>
        <p:spPr>
          <a:xfrm>
            <a:off x="868680" y="3063240"/>
            <a:ext cx="4709160" cy="1371600"/>
          </a:xfrm>
          <a:prstGeom prst="rect">
            <a:avLst/>
          </a:prstGeom>
          <a:noFill/>
          <a:ln/>
        </p:spPr>
        <p:txBody>
          <a:bodyPr wrap="square" rtlCol="0" anchor="t"/>
          <a:lstStyle/>
          <a:p>
            <a:pPr indent="0" marL="0">
              <a:lnSpc>
                <a:spcPct val="120000"/>
              </a:lnSpc>
              <a:buNone/>
            </a:pPr>
            <a:r>
              <a:rPr lang="en-US" sz="1250" dirty="0">
                <a:solidFill>
                  <a:srgbClr val="16233B"/>
                </a:solidFill>
                <a:latin typeface="UGent Panno Text" pitchFamily="34" charset="0"/>
                <a:ea typeface="UGent Panno Text" pitchFamily="34" charset="-122"/>
                <a:cs typeface="UGent Panno Text" pitchFamily="34" charset="-120"/>
              </a:rPr>
              <a:t>Estimate the growth rate and noise scale per engine as a Bayesian posterior (Particle Marginal Metropolis–Hastings), then aggregate into one fleet-wide pair.</a:t>
            </a:r>
            <a:endParaRPr lang="en-US" sz="1250" dirty="0"/>
          </a:p>
        </p:txBody>
      </p:sp>
      <p:sp>
        <p:nvSpPr>
          <p:cNvPr id="9" name="Text 6"/>
          <p:cNvSpPr/>
          <p:nvPr/>
        </p:nvSpPr>
        <p:spPr>
          <a:xfrm>
            <a:off x="868680" y="4617720"/>
            <a:ext cx="4709160" cy="640080"/>
          </a:xfrm>
          <a:prstGeom prst="rect">
            <a:avLst/>
          </a:prstGeom>
          <a:noFill/>
          <a:ln/>
        </p:spPr>
        <p:txBody>
          <a:bodyPr wrap="square" rtlCol="0" anchor="t"/>
          <a:lstStyle/>
          <a:p>
            <a:pPr indent="0" marL="0">
              <a:buNone/>
            </a:pPr>
            <a:r>
              <a:rPr lang="en-US" sz="1150" i="1" dirty="0">
                <a:solidFill>
                  <a:srgbClr val="5B6B85"/>
                </a:solidFill>
                <a:latin typeface="UGent Panno Text" pitchFamily="34" charset="0"/>
                <a:ea typeface="UGent Panno Text" pitchFamily="34" charset="-122"/>
                <a:cs typeface="UGent Panno Text" pitchFamily="34" charset="-120"/>
              </a:rPr>
              <a:t>Converged on 31/100 (FD001), 8/100 (FD003) engines — fallback used elsewhere.</a:t>
            </a:r>
            <a:endParaRPr lang="en-US" sz="1150" dirty="0"/>
          </a:p>
        </p:txBody>
      </p:sp>
      <p:sp>
        <p:nvSpPr>
          <p:cNvPr id="10" name="Shape 7"/>
          <p:cNvSpPr/>
          <p:nvPr/>
        </p:nvSpPr>
        <p:spPr>
          <a:xfrm>
            <a:off x="6263640" y="2331720"/>
            <a:ext cx="5257800" cy="3063240"/>
          </a:xfrm>
          <a:prstGeom prst="roundRect">
            <a:avLst>
              <a:gd name="adj" fmla="val 2985"/>
            </a:avLst>
          </a:prstGeom>
          <a:solidFill>
            <a:srgbClr val="FFFFFF"/>
          </a:solidFill>
          <a:ln w="19050">
            <a:solidFill>
              <a:srgbClr val="F1A32B"/>
            </a:solidFill>
            <a:prstDash val="solid"/>
          </a:ln>
          <a:effectLst>
            <a:outerShdw sx="100000" sy="100000" kx="0" ky="0" algn="bl" rotWithShape="0" blurRad="63500" dist="25400" dir="5400000">
              <a:srgbClr val="9AAFC7">
                <a:alpha val="30000"/>
              </a:srgbClr>
            </a:outerShdw>
          </a:effectLst>
        </p:spPr>
      </p:sp>
      <p:sp>
        <p:nvSpPr>
          <p:cNvPr id="11" name="Text 8"/>
          <p:cNvSpPr/>
          <p:nvPr/>
        </p:nvSpPr>
        <p:spPr>
          <a:xfrm>
            <a:off x="6537960" y="2532888"/>
            <a:ext cx="4709160" cy="457200"/>
          </a:xfrm>
          <a:prstGeom prst="rect">
            <a:avLst/>
          </a:prstGeom>
          <a:noFill/>
          <a:ln/>
        </p:spPr>
        <p:txBody>
          <a:bodyPr wrap="square" rtlCol="0" anchor="ctr"/>
          <a:lstStyle/>
          <a:p>
            <a:pPr indent="0" marL="0">
              <a:buNone/>
            </a:pPr>
            <a:r>
              <a:rPr lang="en-US" sz="1550" b="1" dirty="0">
                <a:solidFill>
                  <a:srgbClr val="F1A32B"/>
                </a:solidFill>
                <a:latin typeface="UGent Panno Text" pitchFamily="34" charset="0"/>
                <a:ea typeface="UGent Panno Text" pitchFamily="34" charset="-122"/>
                <a:cs typeface="UGent Panno Text" pitchFamily="34" charset="-120"/>
              </a:rPr>
              <a:t>Fix 2 — Similarity Library  (adopted)</a:t>
            </a:r>
            <a:endParaRPr lang="en-US" sz="1550" dirty="0"/>
          </a:p>
        </p:txBody>
      </p:sp>
      <p:sp>
        <p:nvSpPr>
          <p:cNvPr id="12" name="Text 9"/>
          <p:cNvSpPr/>
          <p:nvPr/>
        </p:nvSpPr>
        <p:spPr>
          <a:xfrm>
            <a:off x="6537960" y="3063240"/>
            <a:ext cx="4709160" cy="1371600"/>
          </a:xfrm>
          <a:prstGeom prst="rect">
            <a:avLst/>
          </a:prstGeom>
          <a:noFill/>
          <a:ln/>
        </p:spPr>
        <p:txBody>
          <a:bodyPr wrap="square" rtlCol="0" anchor="t"/>
          <a:lstStyle/>
          <a:p>
            <a:pPr indent="0" marL="0">
              <a:lnSpc>
                <a:spcPct val="120000"/>
              </a:lnSpc>
              <a:buNone/>
            </a:pPr>
            <a:r>
              <a:rPr lang="en-US" sz="1250" dirty="0">
                <a:solidFill>
                  <a:srgbClr val="16233B"/>
                </a:solidFill>
                <a:latin typeface="UGent Panno Text" pitchFamily="34" charset="0"/>
                <a:ea typeface="UGent Panno Text" pitchFamily="34" charset="-122"/>
                <a:cs typeface="UGent Panno Text" pitchFamily="34" charset="-120"/>
              </a:rPr>
              <a:t>Keep one fitted rate per training engine. At test time, match the current engine to its closest analogues (MMD kernel) and borrow their rate.</a:t>
            </a:r>
            <a:endParaRPr lang="en-US" sz="1250" dirty="0"/>
          </a:p>
        </p:txBody>
      </p:sp>
      <p:sp>
        <p:nvSpPr>
          <p:cNvPr id="13" name="Text 10"/>
          <p:cNvSpPr/>
          <p:nvPr/>
        </p:nvSpPr>
        <p:spPr>
          <a:xfrm>
            <a:off x="6537960" y="4617720"/>
            <a:ext cx="4709160" cy="640080"/>
          </a:xfrm>
          <a:prstGeom prst="rect">
            <a:avLst/>
          </a:prstGeom>
          <a:noFill/>
          <a:ln/>
        </p:spPr>
        <p:txBody>
          <a:bodyPr wrap="square" rtlCol="0" anchor="t"/>
          <a:lstStyle/>
          <a:p>
            <a:pPr indent="0" marL="0">
              <a:buNone/>
            </a:pPr>
            <a:r>
              <a:rPr lang="en-US" sz="1150" i="1" dirty="0">
                <a:solidFill>
                  <a:srgbClr val="5B6B85"/>
                </a:solidFill>
                <a:latin typeface="UGent Panno Text" pitchFamily="34" charset="0"/>
                <a:ea typeface="UGent Panno Text" pitchFamily="34" charset="-122"/>
                <a:cs typeface="UGent Panno Text" pitchFamily="34" charset="-120"/>
              </a:rPr>
              <a:t>Best point accuracy AND best-calibrated intervals on both datasets.</a:t>
            </a:r>
            <a:endParaRPr lang="en-US" sz="1150" dirty="0"/>
          </a:p>
        </p:txBody>
      </p:sp>
      <p:sp>
        <p:nvSpPr>
          <p:cNvPr id="14" name="Text 11"/>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UGent Panno Text" pitchFamily="34" charset="0"/>
                <a:ea typeface="UGent Panno Text" pitchFamily="34" charset="-122"/>
                <a:cs typeface="UGent Panno Text"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p:bgPr>
    </p:bg>
    <p:spTree>
      <p:nvGrpSpPr>
        <p:cNvPr id="1" name=""/>
        <p:cNvGrpSpPr/>
        <p:nvPr/>
      </p:nvGrpSpPr>
      <p:grpSpPr>
        <a:xfrm>
          <a:off x="0" y="0"/>
          <a:ext cx="0" cy="0"/>
          <a:chOff x="0" y="0"/>
          <a:chExt cx="0" cy="0"/>
        </a:xfrm>
      </p:grpSpPr>
      <p:pic>
        <p:nvPicPr>
          <p:cNvPr id="2" name="Image 0" descr="/tmp/defense_prep/ugent_logo_cropped.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F1A32B"/>
                </a:solidFill>
                <a:latin typeface="UGent Panno Text" pitchFamily="34" charset="0"/>
                <a:ea typeface="UGent Panno Text" pitchFamily="34" charset="-122"/>
                <a:cs typeface="UGent Panno Text" pitchFamily="34" charset="-120"/>
              </a:rPr>
              <a:t>EXPERIMENTS</a:t>
            </a:r>
            <a:endParaRPr lang="en-US" sz="1100" dirty="0"/>
          </a:p>
        </p:txBody>
      </p:sp>
      <p:sp>
        <p:nvSpPr>
          <p:cNvPr id="4"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1E64C8"/>
                </a:solidFill>
                <a:latin typeface="UGent Panno Text SemiBold" pitchFamily="34" charset="0"/>
                <a:ea typeface="UGent Panno Text SemiBold" pitchFamily="34" charset="-122"/>
                <a:cs typeface="UGent Panno Text SemiBold" pitchFamily="34" charset="-120"/>
              </a:rPr>
              <a:t>NASA C-MAPSS Turbofan Benchmark</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6492240" cy="2651760"/>
        </p:xfrm>
        <a:graphic>
          <a:graphicData uri="http://schemas.openxmlformats.org/drawingml/2006/table">
            <a:tbl>
              <a:tblPr/>
              <a:tblGrid>
                <a:gridCol w="2743200"/>
                <a:gridCol w="1874520"/>
                <a:gridCol w="1874520"/>
              </a:tblGrid>
              <a:tr h="420624">
                <a:tc>
                  <a:txBody>
                    <a:bodyPr/>
                    <a:lstStyle/>
                    <a:p>
                      <a:pPr indent="0" marL="0">
                        <a:buNone/>
                      </a:pP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1E64C8"/>
                    </a:solidFill>
                  </a:tcPr>
                </a:tc>
                <a:tc>
                  <a:txBody>
                    <a:bodyPr/>
                    <a:lstStyle/>
                    <a:p>
                      <a:pPr algn="ctr" indent="0" marL="0">
                        <a:buNone/>
                      </a:pPr>
                      <a:r>
                        <a:rPr lang="en-US" sz="1200" b="1" dirty="0">
                          <a:solidFill>
                            <a:srgbClr val="FFFFFF"/>
                          </a:solidFill>
                          <a:latin typeface="UGent Panno Text" pitchFamily="34" charset="0"/>
                          <a:ea typeface="UGent Panno Text" pitchFamily="34" charset="-122"/>
                          <a:cs typeface="UGent Panno Text" pitchFamily="34" charset="-120"/>
                        </a:rPr>
                        <a:t>FD001</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1E64C8"/>
                    </a:solidFill>
                  </a:tcPr>
                </a:tc>
                <a:tc>
                  <a:txBody>
                    <a:bodyPr/>
                    <a:lstStyle/>
                    <a:p>
                      <a:pPr algn="ctr" indent="0" marL="0">
                        <a:buNone/>
                      </a:pPr>
                      <a:r>
                        <a:rPr lang="en-US" sz="1200" b="1" dirty="0">
                          <a:solidFill>
                            <a:srgbClr val="FFFFFF"/>
                          </a:solidFill>
                          <a:latin typeface="UGent Panno Text" pitchFamily="34" charset="0"/>
                          <a:ea typeface="UGent Panno Text" pitchFamily="34" charset="-122"/>
                          <a:cs typeface="UGent Panno Text" pitchFamily="34" charset="-120"/>
                        </a:rPr>
                        <a:t>FD003</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1E64C8"/>
                    </a:solidFill>
                  </a:tcPr>
                </a:tc>
              </a:tr>
              <a:tr h="420624">
                <a:tc>
                  <a:txBody>
                    <a:bodyPr/>
                    <a:lstStyle/>
                    <a:p>
                      <a:pPr algn="l" indent="0" marL="0">
                        <a:buNone/>
                      </a:pPr>
                      <a:r>
                        <a:rPr lang="en-US" sz="1200" dirty="0">
                          <a:solidFill>
                            <a:srgbClr val="16233B"/>
                          </a:solidFill>
                          <a:latin typeface="UGent Panno Text" pitchFamily="34" charset="0"/>
                          <a:ea typeface="UGent Panno Text" pitchFamily="34" charset="-122"/>
                          <a:cs typeface="UGent Panno Text" pitchFamily="34" charset="-120"/>
                        </a:rPr>
                        <a:t>Operating conditions</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UGent Panno Text" pitchFamily="34" charset="0"/>
                          <a:ea typeface="UGent Panno Text" pitchFamily="34" charset="-122"/>
                          <a:cs typeface="UGent Panno Text" pitchFamily="34" charset="-120"/>
                        </a:rPr>
                        <a:t>1</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UGent Panno Text" pitchFamily="34" charset="0"/>
                          <a:ea typeface="UGent Panno Text" pitchFamily="34" charset="-122"/>
                          <a:cs typeface="UGent Panno Text" pitchFamily="34" charset="-120"/>
                        </a:rPr>
                        <a:t>1</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6233B"/>
                          </a:solidFill>
                          <a:latin typeface="UGent Panno Text" pitchFamily="34" charset="0"/>
                          <a:ea typeface="UGent Panno Text" pitchFamily="34" charset="-122"/>
                          <a:cs typeface="UGent Panno Text" pitchFamily="34" charset="-120"/>
                        </a:rPr>
                        <a:t>Fault mode(s)</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UGent Panno Text" pitchFamily="34" charset="0"/>
                          <a:ea typeface="UGent Panno Text" pitchFamily="34" charset="-122"/>
                          <a:cs typeface="UGent Panno Text" pitchFamily="34" charset="-120"/>
                        </a:rPr>
                        <a:t>HPC degradation</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UGent Panno Text" pitchFamily="34" charset="0"/>
                          <a:ea typeface="UGent Panno Text" pitchFamily="34" charset="-122"/>
                          <a:cs typeface="UGent Panno Text" pitchFamily="34" charset="-120"/>
                        </a:rPr>
                        <a:t>HPC + Fan degradation</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6233B"/>
                          </a:solidFill>
                          <a:latin typeface="UGent Panno Text" pitchFamily="34" charset="0"/>
                          <a:ea typeface="UGent Panno Text" pitchFamily="34" charset="-122"/>
                          <a:cs typeface="UGent Panno Text" pitchFamily="34" charset="-120"/>
                        </a:rPr>
                        <a:t>Train / test engines</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UGent Panno Text" pitchFamily="34" charset="0"/>
                          <a:ea typeface="UGent Panno Text" pitchFamily="34" charset="-122"/>
                          <a:cs typeface="UGent Panno Text" pitchFamily="34" charset="-120"/>
                        </a:rPr>
                        <a:t>100 / 100</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UGent Panno Text" pitchFamily="34" charset="0"/>
                          <a:ea typeface="UGent Panno Text" pitchFamily="34" charset="-122"/>
                          <a:cs typeface="UGent Panno Text" pitchFamily="34" charset="-120"/>
                        </a:rPr>
                        <a:t>100 / 100</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6233B"/>
                          </a:solidFill>
                          <a:latin typeface="UGent Panno Text" pitchFamily="34" charset="0"/>
                          <a:ea typeface="UGent Panno Text" pitchFamily="34" charset="-122"/>
                          <a:cs typeface="UGent Panno Text" pitchFamily="34" charset="-120"/>
                        </a:rPr>
                        <a:t>Train cycle length (min/med/max)</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UGent Panno Text" pitchFamily="34" charset="0"/>
                          <a:ea typeface="UGent Panno Text" pitchFamily="34" charset="-122"/>
                          <a:cs typeface="UGent Panno Text" pitchFamily="34" charset="-120"/>
                        </a:rPr>
                        <a:t>128 / 199 / 362</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UGent Panno Text" pitchFamily="34" charset="0"/>
                          <a:ea typeface="UGent Panno Text" pitchFamily="34" charset="-122"/>
                          <a:cs typeface="UGent Panno Text" pitchFamily="34" charset="-120"/>
                        </a:rPr>
                        <a:t>145 / 220 / 525</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6233B"/>
                          </a:solidFill>
                          <a:latin typeface="UGent Panno Text" pitchFamily="34" charset="0"/>
                          <a:ea typeface="UGent Panno Text" pitchFamily="34" charset="-122"/>
                          <a:cs typeface="UGent Panno Text" pitchFamily="34" charset="-120"/>
                        </a:rPr>
                        <a:t>Test true RUL (min/med/max)</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UGent Panno Text" pitchFamily="34" charset="0"/>
                          <a:ea typeface="UGent Panno Text" pitchFamily="34" charset="-122"/>
                          <a:cs typeface="UGent Panno Text" pitchFamily="34" charset="-120"/>
                        </a:rPr>
                        <a:t>7 / 86 / 145</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UGent Panno Text" pitchFamily="34" charset="0"/>
                          <a:ea typeface="UGent Panno Text" pitchFamily="34" charset="-122"/>
                          <a:cs typeface="UGent Panno Text" pitchFamily="34" charset="-120"/>
                        </a:rPr>
                        <a:t>6 / 77 / 145</a:t>
                      </a:r>
                      <a:endParaRPr lang="en-US" sz="120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r>
            </a:tbl>
          </a:graphicData>
        </a:graphic>
      </p:graphicFrame>
      <p:sp>
        <p:nvSpPr>
          <p:cNvPr id="6" name="Text 2"/>
          <p:cNvSpPr/>
          <p:nvPr/>
        </p:nvSpPr>
        <p:spPr>
          <a:xfrm>
            <a:off x="594360" y="4206240"/>
            <a:ext cx="6492240" cy="822960"/>
          </a:xfrm>
          <a:prstGeom prst="rect">
            <a:avLst/>
          </a:prstGeom>
          <a:noFill/>
          <a:ln/>
        </p:spPr>
        <p:txBody>
          <a:bodyPr wrap="square" rtlCol="0" anchor="t"/>
          <a:lstStyle/>
          <a:p>
            <a:pPr indent="0" marL="0">
              <a:buNone/>
            </a:pPr>
            <a:r>
              <a:rPr lang="en-US" sz="1200" i="1" dirty="0">
                <a:solidFill>
                  <a:srgbClr val="5B6B85"/>
                </a:solidFill>
                <a:latin typeface="UGent Panno Text" pitchFamily="34" charset="0"/>
                <a:ea typeface="UGent Panno Text" pitchFamily="34" charset="-122"/>
                <a:cs typeface="UGent Panno Text" pitchFamily="34" charset="-120"/>
              </a:rPr>
              <a:t>FD003 is a robustness check: same pipeline, fitted only on FD001, tested unchanged on a harder, two-fault-mode dataset.</a:t>
            </a:r>
            <a:endParaRPr lang="en-US" sz="1200" dirty="0"/>
          </a:p>
        </p:txBody>
      </p:sp>
      <p:sp>
        <p:nvSpPr>
          <p:cNvPr id="7" name="Shape 3"/>
          <p:cNvSpPr/>
          <p:nvPr/>
        </p:nvSpPr>
        <p:spPr>
          <a:xfrm>
            <a:off x="7452360" y="1371600"/>
            <a:ext cx="4160520" cy="960120"/>
          </a:xfrm>
          <a:prstGeom prst="roundRect">
            <a:avLst>
              <a:gd name="adj" fmla="val 7619"/>
            </a:avLst>
          </a:prstGeom>
          <a:solidFill>
            <a:srgbClr val="0F3D75"/>
          </a:solidFill>
          <a:ln/>
        </p:spPr>
      </p:sp>
      <p:sp>
        <p:nvSpPr>
          <p:cNvPr id="8" name="Text 4"/>
          <p:cNvSpPr/>
          <p:nvPr/>
        </p:nvSpPr>
        <p:spPr>
          <a:xfrm>
            <a:off x="7635240" y="1444752"/>
            <a:ext cx="3794760" cy="320040"/>
          </a:xfrm>
          <a:prstGeom prst="rect">
            <a:avLst/>
          </a:prstGeom>
          <a:noFill/>
          <a:ln/>
        </p:spPr>
        <p:txBody>
          <a:bodyPr wrap="square" rtlCol="0" anchor="ctr"/>
          <a:lstStyle/>
          <a:p>
            <a:pPr indent="0" marL="0">
              <a:buNone/>
            </a:pPr>
            <a:r>
              <a:rPr lang="en-US" sz="1350" b="1" dirty="0">
                <a:solidFill>
                  <a:srgbClr val="FFFFFF"/>
                </a:solidFill>
                <a:latin typeface="UGent Panno Text" pitchFamily="34" charset="0"/>
                <a:ea typeface="UGent Panno Text" pitchFamily="34" charset="-122"/>
                <a:cs typeface="UGent Panno Text" pitchFamily="34" charset="-120"/>
              </a:rPr>
              <a:t>RMSE / MAPE</a:t>
            </a:r>
            <a:endParaRPr lang="en-US" sz="1350" dirty="0"/>
          </a:p>
        </p:txBody>
      </p:sp>
      <p:sp>
        <p:nvSpPr>
          <p:cNvPr id="9" name="Text 5"/>
          <p:cNvSpPr/>
          <p:nvPr/>
        </p:nvSpPr>
        <p:spPr>
          <a:xfrm>
            <a:off x="7635240" y="1755648"/>
            <a:ext cx="3794760" cy="530352"/>
          </a:xfrm>
          <a:prstGeom prst="rect">
            <a:avLst/>
          </a:prstGeom>
          <a:noFill/>
          <a:ln/>
        </p:spPr>
        <p:txBody>
          <a:bodyPr wrap="square" rtlCol="0" anchor="t"/>
          <a:lstStyle/>
          <a:p>
            <a:pPr indent="0" marL="0">
              <a:buNone/>
            </a:pPr>
            <a:r>
              <a:rPr lang="en-US" sz="1100" dirty="0">
                <a:solidFill>
                  <a:srgbClr val="D7E6F5"/>
                </a:solidFill>
                <a:latin typeface="UGent Panno Text" pitchFamily="34" charset="0"/>
                <a:ea typeface="UGent Panno Text" pitchFamily="34" charset="-122"/>
                <a:cs typeface="UGent Panno Text" pitchFamily="34" charset="-120"/>
              </a:rPr>
              <a:t>Point-accuracy — how close is the predicted RUL?</a:t>
            </a:r>
            <a:endParaRPr lang="en-US" sz="1100" dirty="0"/>
          </a:p>
        </p:txBody>
      </p:sp>
      <p:sp>
        <p:nvSpPr>
          <p:cNvPr id="10" name="Shape 6"/>
          <p:cNvSpPr/>
          <p:nvPr/>
        </p:nvSpPr>
        <p:spPr>
          <a:xfrm>
            <a:off x="7452360" y="2532888"/>
            <a:ext cx="4160520" cy="960120"/>
          </a:xfrm>
          <a:prstGeom prst="roundRect">
            <a:avLst>
              <a:gd name="adj" fmla="val 7619"/>
            </a:avLst>
          </a:prstGeom>
          <a:solidFill>
            <a:srgbClr val="0F3D75"/>
          </a:solidFill>
          <a:ln/>
        </p:spPr>
      </p:sp>
      <p:sp>
        <p:nvSpPr>
          <p:cNvPr id="11" name="Text 7"/>
          <p:cNvSpPr/>
          <p:nvPr/>
        </p:nvSpPr>
        <p:spPr>
          <a:xfrm>
            <a:off x="7635240" y="2606040"/>
            <a:ext cx="3794760" cy="320040"/>
          </a:xfrm>
          <a:prstGeom prst="rect">
            <a:avLst/>
          </a:prstGeom>
          <a:noFill/>
          <a:ln/>
        </p:spPr>
        <p:txBody>
          <a:bodyPr wrap="square" rtlCol="0" anchor="ctr"/>
          <a:lstStyle/>
          <a:p>
            <a:pPr indent="0" marL="0">
              <a:buNone/>
            </a:pPr>
            <a:r>
              <a:rPr lang="en-US" sz="1350" b="1" dirty="0">
                <a:solidFill>
                  <a:srgbClr val="FFFFFF"/>
                </a:solidFill>
                <a:latin typeface="UGent Panno Text" pitchFamily="34" charset="0"/>
                <a:ea typeface="UGent Panno Text" pitchFamily="34" charset="-122"/>
                <a:cs typeface="UGent Panno Text" pitchFamily="34" charset="-120"/>
              </a:rPr>
              <a:t>PHM08 score</a:t>
            </a:r>
            <a:endParaRPr lang="en-US" sz="1350" dirty="0"/>
          </a:p>
        </p:txBody>
      </p:sp>
      <p:sp>
        <p:nvSpPr>
          <p:cNvPr id="12" name="Text 8"/>
          <p:cNvSpPr/>
          <p:nvPr/>
        </p:nvSpPr>
        <p:spPr>
          <a:xfrm>
            <a:off x="7635240" y="2916936"/>
            <a:ext cx="3794760" cy="530352"/>
          </a:xfrm>
          <a:prstGeom prst="rect">
            <a:avLst/>
          </a:prstGeom>
          <a:noFill/>
          <a:ln/>
        </p:spPr>
        <p:txBody>
          <a:bodyPr wrap="square" rtlCol="0" anchor="t"/>
          <a:lstStyle/>
          <a:p>
            <a:pPr indent="0" marL="0">
              <a:buNone/>
            </a:pPr>
            <a:r>
              <a:rPr lang="en-US" sz="1100" dirty="0">
                <a:solidFill>
                  <a:srgbClr val="D7E6F5"/>
                </a:solidFill>
                <a:latin typeface="UGent Panno Text" pitchFamily="34" charset="0"/>
                <a:ea typeface="UGent Panno Text" pitchFamily="34" charset="-122"/>
                <a:cs typeface="UGent Panno Text" pitchFamily="34" charset="-120"/>
              </a:rPr>
              <a:t>Asymmetric penalty — late (over-)prediction costs more than early.</a:t>
            </a:r>
            <a:endParaRPr lang="en-US" sz="1100" dirty="0"/>
          </a:p>
        </p:txBody>
      </p:sp>
      <p:sp>
        <p:nvSpPr>
          <p:cNvPr id="13" name="Shape 9"/>
          <p:cNvSpPr/>
          <p:nvPr/>
        </p:nvSpPr>
        <p:spPr>
          <a:xfrm>
            <a:off x="7452360" y="3694176"/>
            <a:ext cx="4160520" cy="960120"/>
          </a:xfrm>
          <a:prstGeom prst="roundRect">
            <a:avLst>
              <a:gd name="adj" fmla="val 7619"/>
            </a:avLst>
          </a:prstGeom>
          <a:solidFill>
            <a:srgbClr val="F1A32B"/>
          </a:solidFill>
          <a:ln/>
        </p:spPr>
      </p:sp>
      <p:sp>
        <p:nvSpPr>
          <p:cNvPr id="14" name="Text 10"/>
          <p:cNvSpPr/>
          <p:nvPr/>
        </p:nvSpPr>
        <p:spPr>
          <a:xfrm>
            <a:off x="7635240" y="3767328"/>
            <a:ext cx="3794760" cy="320040"/>
          </a:xfrm>
          <a:prstGeom prst="rect">
            <a:avLst/>
          </a:prstGeom>
          <a:noFill/>
          <a:ln/>
        </p:spPr>
        <p:txBody>
          <a:bodyPr wrap="square" rtlCol="0" anchor="ctr"/>
          <a:lstStyle/>
          <a:p>
            <a:pPr indent="0" marL="0">
              <a:buNone/>
            </a:pPr>
            <a:r>
              <a:rPr lang="en-US" sz="1350" b="1" dirty="0">
                <a:solidFill>
                  <a:srgbClr val="FFFFFF"/>
                </a:solidFill>
                <a:latin typeface="UGent Panno Text" pitchFamily="34" charset="0"/>
                <a:ea typeface="UGent Panno Text" pitchFamily="34" charset="-122"/>
                <a:cs typeface="UGent Panno Text" pitchFamily="34" charset="-120"/>
              </a:rPr>
              <a:t>90% CI Coverage</a:t>
            </a:r>
            <a:endParaRPr lang="en-US" sz="1350" dirty="0"/>
          </a:p>
        </p:txBody>
      </p:sp>
      <p:sp>
        <p:nvSpPr>
          <p:cNvPr id="15" name="Text 11"/>
          <p:cNvSpPr/>
          <p:nvPr/>
        </p:nvSpPr>
        <p:spPr>
          <a:xfrm>
            <a:off x="7635240" y="4078224"/>
            <a:ext cx="3794760" cy="530352"/>
          </a:xfrm>
          <a:prstGeom prst="rect">
            <a:avLst/>
          </a:prstGeom>
          <a:noFill/>
          <a:ln/>
        </p:spPr>
        <p:txBody>
          <a:bodyPr wrap="square" rtlCol="0" anchor="t"/>
          <a:lstStyle/>
          <a:p>
            <a:pPr indent="0" marL="0">
              <a:buNone/>
            </a:pPr>
            <a:r>
              <a:rPr lang="en-US" sz="1100" dirty="0">
                <a:solidFill>
                  <a:srgbClr val="D7E6F5"/>
                </a:solidFill>
                <a:latin typeface="UGent Panno Text" pitchFamily="34" charset="0"/>
                <a:ea typeface="UGent Panno Text" pitchFamily="34" charset="-122"/>
                <a:cs typeface="UGent Panno Text" pitchFamily="34" charset="-120"/>
              </a:rPr>
              <a:t>Calibration — does the interval actually contain the truth? A point estimate cannot even report this.</a:t>
            </a:r>
            <a:endParaRPr lang="en-US" sz="1100" dirty="0"/>
          </a:p>
        </p:txBody>
      </p:sp>
      <p:sp>
        <p:nvSpPr>
          <p:cNvPr id="16" name="Text 12"/>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UGent Panno Text" pitchFamily="34" charset="0"/>
                <a:ea typeface="UGent Panno Text" pitchFamily="34" charset="-122"/>
                <a:cs typeface="UGent Panno Text"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p:bgPr>
    </p:bg>
    <p:spTree>
      <p:nvGrpSpPr>
        <p:cNvPr id="1" name=""/>
        <p:cNvGrpSpPr/>
        <p:nvPr/>
      </p:nvGrpSpPr>
      <p:grpSpPr>
        <a:xfrm>
          <a:off x="0" y="0"/>
          <a:ext cx="0" cy="0"/>
          <a:chOff x="0" y="0"/>
          <a:chExt cx="0" cy="0"/>
        </a:xfrm>
      </p:grpSpPr>
      <p:pic>
        <p:nvPicPr>
          <p:cNvPr id="2" name="Image 0" descr="/tmp/defense_prep/ugent_logo_cropped.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F1A32B"/>
                </a:solidFill>
                <a:latin typeface="UGent Panno Text" pitchFamily="34" charset="0"/>
                <a:ea typeface="UGent Panno Text" pitchFamily="34" charset="-122"/>
                <a:cs typeface="UGent Panno Text" pitchFamily="34" charset="-120"/>
              </a:rPr>
              <a:t>RESULTS</a:t>
            </a:r>
            <a:endParaRPr lang="en-US" sz="1100" dirty="0"/>
          </a:p>
        </p:txBody>
      </p:sp>
      <p:sp>
        <p:nvSpPr>
          <p:cNvPr id="4"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1E64C8"/>
                </a:solidFill>
                <a:latin typeface="UGent Panno Text SemiBold" pitchFamily="34" charset="0"/>
                <a:ea typeface="UGent Panno Text SemiBold" pitchFamily="34" charset="-122"/>
                <a:cs typeface="UGent Panno Text SemiBold" pitchFamily="34" charset="-120"/>
              </a:rPr>
              <a:t>The Filter Tracks Health Well — Even on the Hardest Engines</a:t>
            </a:r>
            <a:endParaRPr lang="en-US" sz="3000" dirty="0"/>
          </a:p>
        </p:txBody>
      </p:sp>
      <p:pic>
        <p:nvPicPr>
          <p:cNvPr id="5" name="Image 1" descr="/tmp/defense_prep/fig72-000.png">    </p:cNvPr>
          <p:cNvPicPr>
            <a:picLocks noChangeAspect="1"/>
          </p:cNvPicPr>
          <p:nvPr/>
        </p:nvPicPr>
        <p:blipFill>
          <a:blip r:embed="rId2"/>
          <a:stretch>
            <a:fillRect/>
          </a:stretch>
        </p:blipFill>
        <p:spPr>
          <a:xfrm>
            <a:off x="502920" y="1325880"/>
            <a:ext cx="8869680" cy="4434840"/>
          </a:xfrm>
          <a:prstGeom prst="rect">
            <a:avLst/>
          </a:prstGeom>
        </p:spPr>
      </p:pic>
      <p:sp>
        <p:nvSpPr>
          <p:cNvPr id="6" name="Shape 2"/>
          <p:cNvSpPr/>
          <p:nvPr/>
        </p:nvSpPr>
        <p:spPr>
          <a:xfrm>
            <a:off x="9601200" y="1554480"/>
            <a:ext cx="2103120" cy="1234440"/>
          </a:xfrm>
          <a:prstGeom prst="roundRect">
            <a:avLst>
              <a:gd name="adj" fmla="val 5926"/>
            </a:avLst>
          </a:prstGeom>
          <a:solidFill>
            <a:srgbClr val="1E64C8"/>
          </a:solidFill>
          <a:ln/>
        </p:spPr>
      </p:sp>
      <p:sp>
        <p:nvSpPr>
          <p:cNvPr id="7" name="Text 3"/>
          <p:cNvSpPr/>
          <p:nvPr/>
        </p:nvSpPr>
        <p:spPr>
          <a:xfrm>
            <a:off x="9601200" y="1664208"/>
            <a:ext cx="2103120" cy="502920"/>
          </a:xfrm>
          <a:prstGeom prst="rect">
            <a:avLst/>
          </a:prstGeom>
          <a:noFill/>
          <a:ln/>
        </p:spPr>
        <p:txBody>
          <a:bodyPr wrap="square" rtlCol="0" anchor="ctr"/>
          <a:lstStyle/>
          <a:p>
            <a:pPr algn="ctr" indent="0" marL="0">
              <a:buNone/>
            </a:pPr>
            <a:r>
              <a:rPr lang="en-US" sz="2000" b="1" dirty="0">
                <a:solidFill>
                  <a:srgbClr val="F1A32B"/>
                </a:solidFill>
                <a:latin typeface="UGent Panno Text SemiBold" pitchFamily="34" charset="0"/>
                <a:ea typeface="UGent Panno Text SemiBold" pitchFamily="34" charset="-122"/>
                <a:cs typeface="UGent Panno Text SemiBold" pitchFamily="34" charset="-120"/>
              </a:rPr>
              <a:t>0.08–0.09</a:t>
            </a:r>
            <a:endParaRPr lang="en-US" sz="2000" dirty="0"/>
          </a:p>
        </p:txBody>
      </p:sp>
      <p:sp>
        <p:nvSpPr>
          <p:cNvPr id="8" name="Text 4"/>
          <p:cNvSpPr/>
          <p:nvPr/>
        </p:nvSpPr>
        <p:spPr>
          <a:xfrm>
            <a:off x="9692640" y="2176272"/>
            <a:ext cx="1920240" cy="548640"/>
          </a:xfrm>
          <a:prstGeom prst="rect">
            <a:avLst/>
          </a:prstGeom>
          <a:noFill/>
          <a:ln/>
        </p:spPr>
        <p:txBody>
          <a:bodyPr wrap="square" rtlCol="0" anchor="t"/>
          <a:lstStyle/>
          <a:p>
            <a:pPr algn="ctr" indent="0" marL="0">
              <a:buNone/>
            </a:pPr>
            <a:r>
              <a:rPr lang="en-US" sz="950" dirty="0">
                <a:solidFill>
                  <a:srgbClr val="D7E6F5"/>
                </a:solidFill>
                <a:latin typeface="UGent Panno Text" pitchFamily="34" charset="0"/>
                <a:ea typeface="UGent Panno Text" pitchFamily="34" charset="-122"/>
                <a:cs typeface="UGent Panno Text" pitchFamily="34" charset="-120"/>
              </a:rPr>
              <a:t>Health-Index RMSE</a:t>
            </a:r>
            <a:endParaRPr lang="en-US" sz="950" dirty="0"/>
          </a:p>
          <a:p>
            <a:pPr algn="ctr" indent="0" marL="0">
              <a:buNone/>
            </a:pPr>
            <a:r>
              <a:rPr lang="en-US" sz="950" dirty="0">
                <a:solidFill>
                  <a:srgbClr val="D7E6F5"/>
                </a:solidFill>
                <a:latin typeface="UGent Panno Text" pitchFamily="34" charset="0"/>
                <a:ea typeface="UGent Panno Text" pitchFamily="34" charset="-122"/>
                <a:cs typeface="UGent Panno Text" pitchFamily="34" charset="-120"/>
              </a:rPr>
              <a:t>(0–1 scale), fleet-wide</a:t>
            </a:r>
            <a:endParaRPr lang="en-US" sz="950" dirty="0"/>
          </a:p>
        </p:txBody>
      </p:sp>
      <p:sp>
        <p:nvSpPr>
          <p:cNvPr id="9" name="Shape 5"/>
          <p:cNvSpPr/>
          <p:nvPr/>
        </p:nvSpPr>
        <p:spPr>
          <a:xfrm>
            <a:off x="9601200" y="3017520"/>
            <a:ext cx="2103120" cy="1234440"/>
          </a:xfrm>
          <a:prstGeom prst="roundRect">
            <a:avLst>
              <a:gd name="adj" fmla="val 5926"/>
            </a:avLst>
          </a:prstGeom>
          <a:solidFill>
            <a:srgbClr val="1E64C8"/>
          </a:solidFill>
          <a:ln/>
        </p:spPr>
      </p:sp>
      <p:sp>
        <p:nvSpPr>
          <p:cNvPr id="10" name="Text 6"/>
          <p:cNvSpPr/>
          <p:nvPr/>
        </p:nvSpPr>
        <p:spPr>
          <a:xfrm>
            <a:off x="9601200" y="3127248"/>
            <a:ext cx="2103120" cy="502920"/>
          </a:xfrm>
          <a:prstGeom prst="rect">
            <a:avLst/>
          </a:prstGeom>
          <a:noFill/>
          <a:ln/>
        </p:spPr>
        <p:txBody>
          <a:bodyPr wrap="square" rtlCol="0" anchor="ctr"/>
          <a:lstStyle/>
          <a:p>
            <a:pPr algn="ctr" indent="0" marL="0">
              <a:buNone/>
            </a:pPr>
            <a:r>
              <a:rPr lang="en-US" sz="2000" b="1" dirty="0">
                <a:solidFill>
                  <a:srgbClr val="F1A32B"/>
                </a:solidFill>
                <a:latin typeface="UGent Panno Text SemiBold" pitchFamily="34" charset="0"/>
                <a:ea typeface="UGent Panno Text SemiBold" pitchFamily="34" charset="-122"/>
                <a:cs typeface="UGent Panno Text SemiBold" pitchFamily="34" charset="-120"/>
              </a:rPr>
              <a:t>0.79 ± 0.02</a:t>
            </a:r>
            <a:endParaRPr lang="en-US" sz="2000" dirty="0"/>
          </a:p>
        </p:txBody>
      </p:sp>
      <p:sp>
        <p:nvSpPr>
          <p:cNvPr id="11" name="Text 7"/>
          <p:cNvSpPr/>
          <p:nvPr/>
        </p:nvSpPr>
        <p:spPr>
          <a:xfrm>
            <a:off x="9692640" y="3639312"/>
            <a:ext cx="1920240" cy="548640"/>
          </a:xfrm>
          <a:prstGeom prst="rect">
            <a:avLst/>
          </a:prstGeom>
          <a:noFill/>
          <a:ln/>
        </p:spPr>
        <p:txBody>
          <a:bodyPr wrap="square" rtlCol="0" anchor="t"/>
          <a:lstStyle/>
          <a:p>
            <a:pPr algn="ctr" indent="0" marL="0">
              <a:buNone/>
            </a:pPr>
            <a:r>
              <a:rPr lang="en-US" sz="950" dirty="0">
                <a:solidFill>
                  <a:srgbClr val="D7E6F5"/>
                </a:solidFill>
                <a:latin typeface="UGent Panno Text" pitchFamily="34" charset="0"/>
                <a:ea typeface="UGent Panno Text" pitchFamily="34" charset="-122"/>
                <a:cs typeface="UGent Panno Text" pitchFamily="34" charset="-120"/>
              </a:rPr>
              <a:t>Mean ESS / N — particle</a:t>
            </a:r>
            <a:endParaRPr lang="en-US" sz="950" dirty="0"/>
          </a:p>
          <a:p>
            <a:pPr algn="ctr" indent="0" marL="0">
              <a:buNone/>
            </a:pPr>
            <a:r>
              <a:rPr lang="en-US" sz="950" dirty="0">
                <a:solidFill>
                  <a:srgbClr val="D7E6F5"/>
                </a:solidFill>
                <a:latin typeface="UGent Panno Text" pitchFamily="34" charset="0"/>
                <a:ea typeface="UGent Panno Text" pitchFamily="34" charset="-122"/>
                <a:cs typeface="UGent Panno Text" pitchFamily="34" charset="-120"/>
              </a:rPr>
              <a:t>cloud stays diverse</a:t>
            </a:r>
            <a:endParaRPr lang="en-US" sz="950" dirty="0"/>
          </a:p>
        </p:txBody>
      </p:sp>
      <p:sp>
        <p:nvSpPr>
          <p:cNvPr id="12" name="Text 8"/>
          <p:cNvSpPr/>
          <p:nvPr/>
        </p:nvSpPr>
        <p:spPr>
          <a:xfrm>
            <a:off x="502920" y="5806440"/>
            <a:ext cx="8869680" cy="640080"/>
          </a:xfrm>
          <a:prstGeom prst="rect">
            <a:avLst/>
          </a:prstGeom>
          <a:noFill/>
          <a:ln/>
        </p:spPr>
        <p:txBody>
          <a:bodyPr wrap="square" rtlCol="0" anchor="t"/>
          <a:lstStyle/>
          <a:p>
            <a:pPr indent="0" marL="0">
              <a:buNone/>
            </a:pPr>
            <a:r>
              <a:rPr lang="en-US" sz="1050" i="1" dirty="0">
                <a:solidFill>
                  <a:srgbClr val="5B6B85"/>
                </a:solidFill>
                <a:latin typeface="UGent Panno Text" pitchFamily="34" charset="0"/>
                <a:ea typeface="UGent Panno Text" pitchFamily="34" charset="-122"/>
                <a:cs typeface="UGent Panno Text" pitchFamily="34" charset="-120"/>
              </a:rPr>
              <a:t>Figure 4.8 (thesis) — one-shot library, FD001: best (engine 76, left) vs. worst-tracked (engine 1, right) test engine. Even the worst case tracks health closely; its error shows up only in the RUL projection below.</a:t>
            </a:r>
            <a:endParaRPr lang="en-US" sz="1050" dirty="0"/>
          </a:p>
        </p:txBody>
      </p:sp>
      <p:sp>
        <p:nvSpPr>
          <p:cNvPr id="13" name="Text 9"/>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UGent Panno Text" pitchFamily="34" charset="0"/>
                <a:ea typeface="UGent Panno Text" pitchFamily="34" charset="-122"/>
                <a:cs typeface="UGent Panno Text"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p:bgPr>
    </p:bg>
    <p:spTree>
      <p:nvGrpSpPr>
        <p:cNvPr id="1" name=""/>
        <p:cNvGrpSpPr/>
        <p:nvPr/>
      </p:nvGrpSpPr>
      <p:grpSpPr>
        <a:xfrm>
          <a:off x="0" y="0"/>
          <a:ext cx="0" cy="0"/>
          <a:chOff x="0" y="0"/>
          <a:chExt cx="0" cy="0"/>
        </a:xfrm>
      </p:grpSpPr>
      <p:pic>
        <p:nvPicPr>
          <p:cNvPr id="2" name="Image 0" descr="/tmp/defense_prep/ugent_logo_cropped.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F1A32B"/>
                </a:solidFill>
                <a:latin typeface="UGent Panno Text" pitchFamily="34" charset="0"/>
                <a:ea typeface="UGent Panno Text" pitchFamily="34" charset="-122"/>
                <a:cs typeface="UGent Panno Text" pitchFamily="34" charset="-120"/>
              </a:rPr>
              <a:t>RESULTS</a:t>
            </a:r>
            <a:endParaRPr lang="en-US" sz="1100" dirty="0"/>
          </a:p>
        </p:txBody>
      </p:sp>
      <p:sp>
        <p:nvSpPr>
          <p:cNvPr id="4"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1E64C8"/>
                </a:solidFill>
                <a:latin typeface="UGent Panno Text SemiBold" pitchFamily="34" charset="0"/>
                <a:ea typeface="UGent Panno Text SemiBold" pitchFamily="34" charset="-122"/>
                <a:cs typeface="UGent Panno Text SemiBold" pitchFamily="34" charset="-120"/>
              </a:rPr>
              <a:t>Accuracy and Calibration Improve Together</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 y="1417320"/>
          <a:ext cx="7680960" cy="1737360"/>
        </p:xfrm>
        <a:graphic>
          <a:graphicData uri="http://schemas.openxmlformats.org/drawingml/2006/table">
            <a:tbl>
              <a:tblPr/>
              <a:tblGrid>
                <a:gridCol w="2377440"/>
                <a:gridCol w="1325880"/>
                <a:gridCol w="1325880"/>
                <a:gridCol w="1325880"/>
                <a:gridCol w="1325880"/>
              </a:tblGrid>
              <a:tr h="438912">
                <a:tc>
                  <a:txBody>
                    <a:bodyPr/>
                    <a:lstStyle/>
                    <a:p>
                      <a:pPr algn="ctr" indent="0" marL="0">
                        <a:buNone/>
                      </a:pPr>
                      <a:r>
                        <a:rPr lang="en-US" sz="1150" b="1" dirty="0">
                          <a:solidFill>
                            <a:srgbClr val="FFFFFF"/>
                          </a:solidFill>
                          <a:latin typeface="UGent Panno Text" pitchFamily="34" charset="0"/>
                          <a:ea typeface="UGent Panno Text" pitchFamily="34" charset="-122"/>
                          <a:cs typeface="UGent Panno Text" pitchFamily="34" charset="-120"/>
                        </a:rPr>
                        <a:t>Method</a:t>
                      </a:r>
                      <a:endParaRPr lang="en-US" sz="11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1E64C8"/>
                    </a:solidFill>
                  </a:tcPr>
                </a:tc>
                <a:tc>
                  <a:txBody>
                    <a:bodyPr/>
                    <a:lstStyle/>
                    <a:p>
                      <a:pPr algn="ctr" indent="0" marL="0">
                        <a:buNone/>
                      </a:pPr>
                      <a:r>
                        <a:rPr lang="en-US" sz="1150" b="1" dirty="0">
                          <a:solidFill>
                            <a:srgbClr val="FFFFFF"/>
                          </a:solidFill>
                          <a:latin typeface="UGent Panno Text" pitchFamily="34" charset="0"/>
                          <a:ea typeface="UGent Panno Text" pitchFamily="34" charset="-122"/>
                          <a:cs typeface="UGent Panno Text" pitchFamily="34" charset="-120"/>
                        </a:rPr>
                        <a:t>FD001 RMSE</a:t>
                      </a:r>
                      <a:endParaRPr lang="en-US" sz="11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1E64C8"/>
                    </a:solidFill>
                  </a:tcPr>
                </a:tc>
                <a:tc>
                  <a:txBody>
                    <a:bodyPr/>
                    <a:lstStyle/>
                    <a:p>
                      <a:pPr algn="ctr" indent="0" marL="0">
                        <a:buNone/>
                      </a:pPr>
                      <a:r>
                        <a:rPr lang="en-US" sz="1150" b="1" dirty="0">
                          <a:solidFill>
                            <a:srgbClr val="FFFFFF"/>
                          </a:solidFill>
                          <a:latin typeface="UGent Panno Text" pitchFamily="34" charset="0"/>
                          <a:ea typeface="UGent Panno Text" pitchFamily="34" charset="-122"/>
                          <a:cs typeface="UGent Panno Text" pitchFamily="34" charset="-120"/>
                        </a:rPr>
                        <a:t>FD001 Coverage</a:t>
                      </a:r>
                      <a:endParaRPr lang="en-US" sz="11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1E64C8"/>
                    </a:solidFill>
                  </a:tcPr>
                </a:tc>
                <a:tc>
                  <a:txBody>
                    <a:bodyPr/>
                    <a:lstStyle/>
                    <a:p>
                      <a:pPr algn="ctr" indent="0" marL="0">
                        <a:buNone/>
                      </a:pPr>
                      <a:r>
                        <a:rPr lang="en-US" sz="1150" b="1" dirty="0">
                          <a:solidFill>
                            <a:srgbClr val="FFFFFF"/>
                          </a:solidFill>
                          <a:latin typeface="UGent Panno Text" pitchFamily="34" charset="0"/>
                          <a:ea typeface="UGent Panno Text" pitchFamily="34" charset="-122"/>
                          <a:cs typeface="UGent Panno Text" pitchFamily="34" charset="-120"/>
                        </a:rPr>
                        <a:t>FD003 RMSE</a:t>
                      </a:r>
                      <a:endParaRPr lang="en-US" sz="11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1E64C8"/>
                    </a:solidFill>
                  </a:tcPr>
                </a:tc>
                <a:tc>
                  <a:txBody>
                    <a:bodyPr/>
                    <a:lstStyle/>
                    <a:p>
                      <a:pPr algn="ctr" indent="0" marL="0">
                        <a:buNone/>
                      </a:pPr>
                      <a:r>
                        <a:rPr lang="en-US" sz="1150" b="1" dirty="0">
                          <a:solidFill>
                            <a:srgbClr val="FFFFFF"/>
                          </a:solidFill>
                          <a:latin typeface="UGent Panno Text" pitchFamily="34" charset="0"/>
                          <a:ea typeface="UGent Panno Text" pitchFamily="34" charset="-122"/>
                          <a:cs typeface="UGent Panno Text" pitchFamily="34" charset="-120"/>
                        </a:rPr>
                        <a:t>FD003 Coverage</a:t>
                      </a:r>
                      <a:endParaRPr lang="en-US" sz="11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1E64C8"/>
                    </a:solidFill>
                  </a:tcPr>
                </a:tc>
              </a:tr>
              <a:tr h="438912">
                <a:tc>
                  <a:txBody>
                    <a:bodyPr/>
                    <a:lstStyle/>
                    <a:p>
                      <a:pPr algn="l" indent="0" marL="0">
                        <a:buNone/>
                      </a:pPr>
                      <a:r>
                        <a:rPr lang="en-US" sz="1250" dirty="0">
                          <a:solidFill>
                            <a:srgbClr val="16233B"/>
                          </a:solidFill>
                          <a:latin typeface="UGent Panno Text" pitchFamily="34" charset="0"/>
                          <a:ea typeface="UGent Panno Text" pitchFamily="34" charset="-122"/>
                          <a:cs typeface="UGent Panno Text" pitchFamily="34" charset="-120"/>
                        </a:rPr>
                        <a:t>Fixed parameters</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0F5FB"/>
                    </a:solidFill>
                  </a:tcPr>
                </a:tc>
                <a:tc>
                  <a:txBody>
                    <a:bodyPr/>
                    <a:lstStyle/>
                    <a:p>
                      <a:pPr algn="ctr" indent="0" marL="0">
                        <a:buNone/>
                      </a:pPr>
                      <a:r>
                        <a:rPr lang="en-US" sz="1250" dirty="0">
                          <a:solidFill>
                            <a:srgbClr val="16233B"/>
                          </a:solidFill>
                          <a:latin typeface="UGent Panno Text" pitchFamily="34" charset="0"/>
                          <a:ea typeface="UGent Panno Text" pitchFamily="34" charset="-122"/>
                          <a:cs typeface="UGent Panno Text" pitchFamily="34" charset="-120"/>
                        </a:rPr>
                        <a:t>98.3</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0F5FB"/>
                    </a:solidFill>
                  </a:tcPr>
                </a:tc>
                <a:tc>
                  <a:txBody>
                    <a:bodyPr/>
                    <a:lstStyle/>
                    <a:p>
                      <a:pPr algn="ctr" indent="0" marL="0">
                        <a:buNone/>
                      </a:pPr>
                      <a:r>
                        <a:rPr lang="en-US" sz="1250" dirty="0">
                          <a:solidFill>
                            <a:srgbClr val="16233B"/>
                          </a:solidFill>
                          <a:latin typeface="UGent Panno Text" pitchFamily="34" charset="0"/>
                          <a:ea typeface="UGent Panno Text" pitchFamily="34" charset="-122"/>
                          <a:cs typeface="UGent Panno Text" pitchFamily="34" charset="-120"/>
                        </a:rPr>
                        <a:t>0.49</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0F5FB"/>
                    </a:solidFill>
                  </a:tcPr>
                </a:tc>
                <a:tc>
                  <a:txBody>
                    <a:bodyPr/>
                    <a:lstStyle/>
                    <a:p>
                      <a:pPr algn="ctr" indent="0" marL="0">
                        <a:buNone/>
                      </a:pPr>
                      <a:r>
                        <a:rPr lang="en-US" sz="1250" dirty="0">
                          <a:solidFill>
                            <a:srgbClr val="16233B"/>
                          </a:solidFill>
                          <a:latin typeface="UGent Panno Text" pitchFamily="34" charset="0"/>
                          <a:ea typeface="UGent Panno Text" pitchFamily="34" charset="-122"/>
                          <a:cs typeface="UGent Panno Text" pitchFamily="34" charset="-120"/>
                        </a:rPr>
                        <a:t>160.4</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0F5FB"/>
                    </a:solidFill>
                  </a:tcPr>
                </a:tc>
                <a:tc>
                  <a:txBody>
                    <a:bodyPr/>
                    <a:lstStyle/>
                    <a:p>
                      <a:pPr algn="ctr" indent="0" marL="0">
                        <a:buNone/>
                      </a:pPr>
                      <a:r>
                        <a:rPr lang="en-US" sz="1250" dirty="0">
                          <a:solidFill>
                            <a:srgbClr val="16233B"/>
                          </a:solidFill>
                          <a:latin typeface="UGent Panno Text" pitchFamily="34" charset="0"/>
                          <a:ea typeface="UGent Panno Text" pitchFamily="34" charset="-122"/>
                          <a:cs typeface="UGent Panno Text" pitchFamily="34" charset="-120"/>
                        </a:rPr>
                        <a:t>1.00</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0F5FB"/>
                    </a:solidFill>
                  </a:tcPr>
                </a:tc>
              </a:tr>
              <a:tr h="438912">
                <a:tc>
                  <a:txBody>
                    <a:bodyPr/>
                    <a:lstStyle/>
                    <a:p>
                      <a:pPr algn="l" indent="0" marL="0">
                        <a:buNone/>
                      </a:pPr>
                      <a:r>
                        <a:rPr lang="en-US" sz="1250" dirty="0">
                          <a:solidFill>
                            <a:srgbClr val="16233B"/>
                          </a:solidFill>
                          <a:latin typeface="UGent Panno Text" pitchFamily="34" charset="0"/>
                          <a:ea typeface="UGent Panno Text" pitchFamily="34" charset="-122"/>
                          <a:cs typeface="UGent Panno Text" pitchFamily="34" charset="-120"/>
                        </a:rPr>
                        <a:t>PMMH</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6233B"/>
                          </a:solidFill>
                          <a:latin typeface="UGent Panno Text" pitchFamily="34" charset="0"/>
                          <a:ea typeface="UGent Panno Text" pitchFamily="34" charset="-122"/>
                          <a:cs typeface="UGent Panno Text" pitchFamily="34" charset="-120"/>
                        </a:rPr>
                        <a:t>52.9</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6233B"/>
                          </a:solidFill>
                          <a:latin typeface="UGent Panno Text" pitchFamily="34" charset="0"/>
                          <a:ea typeface="UGent Panno Text" pitchFamily="34" charset="-122"/>
                          <a:cs typeface="UGent Panno Text" pitchFamily="34" charset="-120"/>
                        </a:rPr>
                        <a:t>0.68</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6233B"/>
                          </a:solidFill>
                          <a:latin typeface="UGent Panno Text" pitchFamily="34" charset="0"/>
                          <a:ea typeface="UGent Panno Text" pitchFamily="34" charset="-122"/>
                          <a:cs typeface="UGent Panno Text" pitchFamily="34" charset="-120"/>
                        </a:rPr>
                        <a:t>104.6</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6233B"/>
                          </a:solidFill>
                          <a:latin typeface="UGent Panno Text" pitchFamily="34" charset="0"/>
                          <a:ea typeface="UGent Panno Text" pitchFamily="34" charset="-122"/>
                          <a:cs typeface="UGent Panno Text" pitchFamily="34" charset="-120"/>
                        </a:rPr>
                        <a:t>1.00</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r>
              <a:tr h="438912">
                <a:tc>
                  <a:txBody>
                    <a:bodyPr/>
                    <a:lstStyle/>
                    <a:p>
                      <a:pPr algn="l" indent="0" marL="0">
                        <a:buNone/>
                      </a:pPr>
                      <a:r>
                        <a:rPr lang="en-US" sz="1250" b="1" dirty="0">
                          <a:solidFill>
                            <a:srgbClr val="1E64C8"/>
                          </a:solidFill>
                          <a:latin typeface="UGent Panno Text" pitchFamily="34" charset="0"/>
                          <a:ea typeface="UGent Panno Text" pitchFamily="34" charset="-122"/>
                          <a:cs typeface="UGent Panno Text" pitchFamily="34" charset="-120"/>
                        </a:rPr>
                        <a:t>Library, one-shot (final)</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D7E6F5"/>
                    </a:solidFill>
                  </a:tcPr>
                </a:tc>
                <a:tc>
                  <a:txBody>
                    <a:bodyPr/>
                    <a:lstStyle/>
                    <a:p>
                      <a:pPr algn="ctr" indent="0" marL="0">
                        <a:buNone/>
                      </a:pPr>
                      <a:r>
                        <a:rPr lang="en-US" sz="1250" b="1" dirty="0">
                          <a:solidFill>
                            <a:srgbClr val="1E64C8"/>
                          </a:solidFill>
                          <a:latin typeface="UGent Panno Text" pitchFamily="34" charset="0"/>
                          <a:ea typeface="UGent Panno Text" pitchFamily="34" charset="-122"/>
                          <a:cs typeface="UGent Panno Text" pitchFamily="34" charset="-120"/>
                        </a:rPr>
                        <a:t>44.3</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D7E6F5"/>
                    </a:solidFill>
                  </a:tcPr>
                </a:tc>
                <a:tc>
                  <a:txBody>
                    <a:bodyPr/>
                    <a:lstStyle/>
                    <a:p>
                      <a:pPr algn="ctr" indent="0" marL="0">
                        <a:buNone/>
                      </a:pPr>
                      <a:r>
                        <a:rPr lang="en-US" sz="1250" b="1" dirty="0">
                          <a:solidFill>
                            <a:srgbClr val="1E64C8"/>
                          </a:solidFill>
                          <a:latin typeface="UGent Panno Text" pitchFamily="34" charset="0"/>
                          <a:ea typeface="UGent Panno Text" pitchFamily="34" charset="-122"/>
                          <a:cs typeface="UGent Panno Text" pitchFamily="34" charset="-120"/>
                        </a:rPr>
                        <a:t>0.75</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D7E6F5"/>
                    </a:solidFill>
                  </a:tcPr>
                </a:tc>
                <a:tc>
                  <a:txBody>
                    <a:bodyPr/>
                    <a:lstStyle/>
                    <a:p>
                      <a:pPr algn="ctr" indent="0" marL="0">
                        <a:buNone/>
                      </a:pPr>
                      <a:r>
                        <a:rPr lang="en-US" sz="1250" b="1" dirty="0">
                          <a:solidFill>
                            <a:srgbClr val="1E64C8"/>
                          </a:solidFill>
                          <a:latin typeface="UGent Panno Text" pitchFamily="34" charset="0"/>
                          <a:ea typeface="UGent Panno Text" pitchFamily="34" charset="-122"/>
                          <a:cs typeface="UGent Panno Text" pitchFamily="34" charset="-120"/>
                        </a:rPr>
                        <a:t>100.1</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D7E6F5"/>
                    </a:solidFill>
                  </a:tcPr>
                </a:tc>
                <a:tc>
                  <a:txBody>
                    <a:bodyPr/>
                    <a:lstStyle/>
                    <a:p>
                      <a:pPr algn="ctr" indent="0" marL="0">
                        <a:buNone/>
                      </a:pPr>
                      <a:r>
                        <a:rPr lang="en-US" sz="1250" b="1" dirty="0">
                          <a:solidFill>
                            <a:srgbClr val="1E64C8"/>
                          </a:solidFill>
                          <a:latin typeface="UGent Panno Text" pitchFamily="34" charset="0"/>
                          <a:ea typeface="UGent Panno Text" pitchFamily="34" charset="-122"/>
                          <a:cs typeface="UGent Panno Text" pitchFamily="34" charset="-120"/>
                        </a:rPr>
                        <a:t>0.99</a:t>
                      </a:r>
                      <a:endParaRPr lang="en-US" sz="1250" dirty="0">
                        <a:latin typeface="UGent Panno Text" charset="0"/>
                        <a:ea typeface="UGent Panno Text" charset="0"/>
                        <a:cs typeface="UGent Panno Text"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D7E6F5"/>
                    </a:solidFill>
                  </a:tcPr>
                </a:tc>
              </a:tr>
            </a:tbl>
          </a:graphicData>
        </a:graphic>
      </p:graphicFrame>
      <p:sp>
        <p:nvSpPr>
          <p:cNvPr id="6" name="Text 2"/>
          <p:cNvSpPr/>
          <p:nvPr/>
        </p:nvSpPr>
        <p:spPr>
          <a:xfrm>
            <a:off x="594360" y="3337560"/>
            <a:ext cx="7680960" cy="914400"/>
          </a:xfrm>
          <a:prstGeom prst="rect">
            <a:avLst/>
          </a:prstGeom>
          <a:noFill/>
          <a:ln/>
        </p:spPr>
        <p:txBody>
          <a:bodyPr wrap="square" rtlCol="0" anchor="t"/>
          <a:lstStyle/>
          <a:p>
            <a:pPr indent="0" marL="0">
              <a:lnSpc>
                <a:spcPct val="130000"/>
              </a:lnSpc>
              <a:buNone/>
            </a:pPr>
            <a:r>
              <a:rPr lang="en-US" sz="1350" b="1" dirty="0">
                <a:solidFill>
                  <a:srgbClr val="16233B"/>
                </a:solidFill>
                <a:latin typeface="UGent Panno Text" pitchFamily="34" charset="0"/>
                <a:ea typeface="UGent Panno Text" pitchFamily="34" charset="-122"/>
                <a:cs typeface="UGent Panno Text" pitchFamily="34" charset="-120"/>
              </a:rPr>
              <a:t>RMSE falls (cycles): </a:t>
            </a:r>
            <a:pPr indent="0" marL="0">
              <a:lnSpc>
                <a:spcPct val="130000"/>
              </a:lnSpc>
              <a:buNone/>
            </a:pPr>
            <a:r>
              <a:rPr lang="en-US" sz="1350" b="1" dirty="0">
                <a:solidFill>
                  <a:srgbClr val="F1A32B"/>
                </a:solidFill>
                <a:latin typeface="UGent Panno Text" pitchFamily="34" charset="0"/>
                <a:ea typeface="UGent Panno Text" pitchFamily="34" charset="-122"/>
                <a:cs typeface="UGent Panno Text" pitchFamily="34" charset="-120"/>
              </a:rPr>
              <a:t>98.3 → 52.9 → 44.3</a:t>
            </a:r>
            <a:pPr indent="0" marL="0">
              <a:lnSpc>
                <a:spcPct val="130000"/>
              </a:lnSpc>
              <a:buNone/>
            </a:pPr>
            <a:r>
              <a:rPr lang="en-US" sz="1350" dirty="0">
                <a:solidFill>
                  <a:srgbClr val="16233B"/>
                </a:solidFill>
                <a:latin typeface="UGent Panno Text" pitchFamily="34" charset="0"/>
                <a:ea typeface="UGent Panno Text" pitchFamily="34" charset="-122"/>
                <a:cs typeface="UGent Panno Text" pitchFamily="34" charset="-120"/>
              </a:rPr>
              <a:t>  (FD001)
</a:t>
            </a:r>
            <a:pPr indent="0" marL="0">
              <a:lnSpc>
                <a:spcPct val="130000"/>
              </a:lnSpc>
              <a:buNone/>
            </a:pPr>
            <a:r>
              <a:rPr lang="en-US" sz="1350" b="1" dirty="0">
                <a:solidFill>
                  <a:srgbClr val="16233B"/>
                </a:solidFill>
                <a:latin typeface="UGent Panno Text" pitchFamily="34" charset="0"/>
                <a:ea typeface="UGent Panno Text" pitchFamily="34" charset="-122"/>
                <a:cs typeface="UGent Panno Text" pitchFamily="34" charset="-120"/>
              </a:rPr>
              <a:t>Coverage rises: </a:t>
            </a:r>
            <a:pPr indent="0" marL="0">
              <a:lnSpc>
                <a:spcPct val="130000"/>
              </a:lnSpc>
              <a:buNone/>
            </a:pPr>
            <a:r>
              <a:rPr lang="en-US" sz="1350" b="1" dirty="0">
                <a:solidFill>
                  <a:srgbClr val="2C8CA5"/>
                </a:solidFill>
                <a:latin typeface="UGent Panno Text" pitchFamily="34" charset="0"/>
                <a:ea typeface="UGent Panno Text" pitchFamily="34" charset="-122"/>
                <a:cs typeface="UGent Panno Text" pitchFamily="34" charset="-120"/>
              </a:rPr>
              <a:t>0.49 → 0.68 → 0.75</a:t>
            </a:r>
            <a:pPr indent="0" marL="0">
              <a:lnSpc>
                <a:spcPct val="130000"/>
              </a:lnSpc>
              <a:buNone/>
            </a:pPr>
            <a:r>
              <a:rPr lang="en-US" sz="1350" dirty="0">
                <a:solidFill>
                  <a:srgbClr val="16233B"/>
                </a:solidFill>
                <a:latin typeface="UGent Panno Text" pitchFamily="34" charset="0"/>
                <a:ea typeface="UGent Panno Text" pitchFamily="34" charset="-122"/>
                <a:cs typeface="UGent Panno Text" pitchFamily="34" charset="-120"/>
              </a:rPr>
              <a:t>  (FD001, nominal target 0.90)</a:t>
            </a:r>
            <a:endParaRPr lang="en-US" sz="1350" dirty="0"/>
          </a:p>
        </p:txBody>
      </p:sp>
      <p:sp>
        <p:nvSpPr>
          <p:cNvPr id="7" name="Text 3"/>
          <p:cNvSpPr/>
          <p:nvPr/>
        </p:nvSpPr>
        <p:spPr>
          <a:xfrm>
            <a:off x="594360" y="4343400"/>
            <a:ext cx="7680960" cy="457200"/>
          </a:xfrm>
          <a:prstGeom prst="rect">
            <a:avLst/>
          </a:prstGeom>
          <a:noFill/>
          <a:ln/>
        </p:spPr>
        <p:txBody>
          <a:bodyPr wrap="square" rtlCol="0" anchor="ctr"/>
          <a:lstStyle/>
          <a:p>
            <a:pPr indent="0" marL="0">
              <a:buNone/>
            </a:pPr>
            <a:r>
              <a:rPr lang="en-US" sz="1250" i="1" dirty="0">
                <a:solidFill>
                  <a:srgbClr val="5B6B85"/>
                </a:solidFill>
                <a:latin typeface="UGent Panno Text" pitchFamily="34" charset="0"/>
                <a:ea typeface="UGent Panno Text" pitchFamily="34" charset="-122"/>
                <a:cs typeface="UGent Panno Text" pitchFamily="34" charset="-120"/>
              </a:rPr>
              <a:t>Every fix improves both accuracy and calibration at once — none trades one for the other.</a:t>
            </a:r>
            <a:endParaRPr lang="en-US" sz="1250" dirty="0"/>
          </a:p>
        </p:txBody>
      </p:sp>
      <p:graphicFrame>
        <p:nvGraphicFramePr>
          <p:cNvPr id="8" name="Chart 0" descr=""/>
          <p:cNvGraphicFramePr/>
          <p:nvPr/>
        </p:nvGraphicFramePr>
        <p:xfrm>
          <a:off x="8503920" y="1371600"/>
          <a:ext cx="3108960" cy="329184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8732520" y="1823575"/>
            <a:ext cx="2743200" cy="0"/>
          </a:xfrm>
          <a:prstGeom prst="line">
            <a:avLst/>
          </a:prstGeom>
          <a:noFill/>
          <a:ln w="12700">
            <a:solidFill>
              <a:srgbClr val="5B6B85"/>
            </a:solidFill>
            <a:prstDash val="dash"/>
          </a:ln>
        </p:spPr>
      </p:sp>
      <p:sp>
        <p:nvSpPr>
          <p:cNvPr id="10" name="Text 5"/>
          <p:cNvSpPr/>
          <p:nvPr/>
        </p:nvSpPr>
        <p:spPr>
          <a:xfrm>
            <a:off x="8732520" y="1585831"/>
            <a:ext cx="1828800" cy="228600"/>
          </a:xfrm>
          <a:prstGeom prst="rect">
            <a:avLst/>
          </a:prstGeom>
          <a:noFill/>
          <a:ln/>
        </p:spPr>
        <p:txBody>
          <a:bodyPr wrap="square" rtlCol="0" anchor="ctr"/>
          <a:lstStyle/>
          <a:p>
            <a:pPr indent="0" marL="0">
              <a:buNone/>
            </a:pPr>
            <a:r>
              <a:rPr lang="en-US" sz="850" dirty="0">
                <a:solidFill>
                  <a:srgbClr val="5B6B85"/>
                </a:solidFill>
                <a:latin typeface="UGent Panno Text" pitchFamily="34" charset="0"/>
                <a:ea typeface="UGent Panno Text" pitchFamily="34" charset="-122"/>
                <a:cs typeface="UGent Panno Text" pitchFamily="34" charset="-120"/>
              </a:rPr>
              <a:t>nominal 0.90</a:t>
            </a:r>
            <a:endParaRPr lang="en-US" sz="850" dirty="0"/>
          </a:p>
        </p:txBody>
      </p:sp>
      <p:sp>
        <p:nvSpPr>
          <p:cNvPr id="11" name="Text 6"/>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UGent Panno Text" pitchFamily="34" charset="0"/>
                <a:ea typeface="UGent Panno Text" pitchFamily="34" charset="-122"/>
                <a:cs typeface="UGent Panno Text"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p:bgPr>
    </p:bg>
    <p:spTree>
      <p:nvGrpSpPr>
        <p:cNvPr id="1" name=""/>
        <p:cNvGrpSpPr/>
        <p:nvPr/>
      </p:nvGrpSpPr>
      <p:grpSpPr>
        <a:xfrm>
          <a:off x="0" y="0"/>
          <a:ext cx="0" cy="0"/>
          <a:chOff x="0" y="0"/>
          <a:chExt cx="0" cy="0"/>
        </a:xfrm>
      </p:grpSpPr>
      <p:pic>
        <p:nvPicPr>
          <p:cNvPr id="2" name="Image 0" descr="/tmp/defense_prep/ugent_logo_cropped.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F1A32B"/>
                </a:solidFill>
                <a:latin typeface="UGent Panno Text" pitchFamily="34" charset="0"/>
                <a:ea typeface="UGent Panno Text" pitchFamily="34" charset="-122"/>
                <a:cs typeface="UGent Panno Text" pitchFamily="34" charset="-120"/>
              </a:rPr>
              <a:t>RESULTS</a:t>
            </a:r>
            <a:endParaRPr lang="en-US" sz="1100" dirty="0"/>
          </a:p>
        </p:txBody>
      </p:sp>
      <p:sp>
        <p:nvSpPr>
          <p:cNvPr id="4"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1E64C8"/>
                </a:solidFill>
                <a:latin typeface="UGent Panno Text SemiBold" pitchFamily="34" charset="0"/>
                <a:ea typeface="UGent Panno Text SemiBold" pitchFamily="34" charset="-122"/>
                <a:cs typeface="UGent Panno Text SemiBold" pitchFamily="34" charset="-120"/>
              </a:rPr>
              <a:t>vs. Baseline: the Honest Trade-off</a:t>
            </a:r>
            <a:endParaRPr lang="en-US" sz="3000" dirty="0"/>
          </a:p>
        </p:txBody>
      </p:sp>
      <p:graphicFrame>
        <p:nvGraphicFramePr>
          <p:cNvPr id="5" name="Chart 0" descr=""/>
          <p:cNvGraphicFramePr/>
          <p:nvPr/>
        </p:nvGraphicFramePr>
        <p:xfrm>
          <a:off x="548640" y="1417320"/>
          <a:ext cx="5943600" cy="33832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p:nvPr/>
        </p:nvSpPr>
        <p:spPr>
          <a:xfrm>
            <a:off x="6720840" y="1463040"/>
            <a:ext cx="4937760" cy="4480560"/>
          </a:xfrm>
          <a:prstGeom prst="rect">
            <a:avLst/>
          </a:prstGeom>
          <a:noFill/>
          <a:ln/>
        </p:spPr>
        <p:txBody>
          <a:bodyPr wrap="square" rtlCol="0" anchor="t"/>
          <a:lstStyle/>
          <a:p>
            <a:pPr indent="0" marL="0">
              <a:lnSpc>
                <a:spcPct val="125000"/>
              </a:lnSpc>
              <a:buNone/>
            </a:pPr>
            <a:r>
              <a:rPr lang="en-US" sz="1350" dirty="0">
                <a:solidFill>
                  <a:srgbClr val="16233B"/>
                </a:solidFill>
                <a:latin typeface="UGent Panno Text" pitchFamily="34" charset="0"/>
                <a:ea typeface="UGent Panno Text" pitchFamily="34" charset="-122"/>
                <a:cs typeface="UGent Panno Text" pitchFamily="34" charset="-120"/>
              </a:rPr>
              <a:t>The linear-regression baseline is the sharper point predictor on both datasets.
</a:t>
            </a:r>
            <a:pPr indent="0" marL="0">
              <a:lnSpc>
                <a:spcPct val="125000"/>
              </a:lnSpc>
              <a:buNone/>
            </a:pPr>
            <a:r>
              <a:rPr lang="en-US" sz="1350" b="1" dirty="0">
                <a:solidFill>
                  <a:srgbClr val="F1A32B"/>
                </a:solidFill>
                <a:latin typeface="UGent Panno Text" pitchFamily="34" charset="0"/>
                <a:ea typeface="UGent Panno Text" pitchFamily="34" charset="-122"/>
                <a:cs typeface="UGent Panno Text" pitchFamily="34" charset="-120"/>
              </a:rPr>
              <a:t>But it reports no interval at all.</a:t>
            </a:r>
            <a:pPr indent="0" marL="0">
              <a:lnSpc>
                <a:spcPct val="125000"/>
              </a:lnSpc>
              <a:buNone/>
            </a:pPr>
            <a:r>
              <a:rPr lang="en-US" sz="1350" dirty="0">
                <a:solidFill>
                  <a:srgbClr val="16233B"/>
                </a:solidFill>
                <a:latin typeface="UGent Panno Text" pitchFamily="34" charset="0"/>
                <a:ea typeface="UGent Panno Text" pitchFamily="34" charset="-122"/>
                <a:cs typeface="UGent Panno Text" pitchFamily="34" charset="-120"/>
              </a:rPr>
              <a:t> Asking whether its 90% interval covers the truth isn't a poor result — it isn't even a question that can be posed.
</a:t>
            </a:r>
            <a:pPr indent="0" marL="0">
              <a:lnSpc>
                <a:spcPct val="125000"/>
              </a:lnSpc>
              <a:buNone/>
            </a:pPr>
            <a:r>
              <a:rPr lang="en-US" sz="1350" dirty="0">
                <a:solidFill>
                  <a:srgbClr val="16233B"/>
                </a:solidFill>
                <a:latin typeface="UGent Panno Text" pitchFamily="34" charset="0"/>
                <a:ea typeface="UGent Panno Text" pitchFamily="34" charset="-122"/>
                <a:cs typeface="UGent Panno Text" pitchFamily="34" charset="-120"/>
              </a:rPr>
              <a:t>The filter concedes point accuracy and, in exchange, delivers a checkable, calibrated interval — </a:t>
            </a:r>
            <a:pPr indent="0" marL="0">
              <a:lnSpc>
                <a:spcPct val="125000"/>
              </a:lnSpc>
              <a:buNone/>
            </a:pPr>
            <a:r>
              <a:rPr lang="en-US" sz="1350" b="1" dirty="0">
                <a:solidFill>
                  <a:srgbClr val="2C8CA5"/>
                </a:solidFill>
                <a:latin typeface="UGent Panno Text" pitchFamily="34" charset="0"/>
                <a:ea typeface="UGent Panno Text" pitchFamily="34" charset="-122"/>
                <a:cs typeface="UGent Panno Text" pitchFamily="34" charset="-120"/>
              </a:rPr>
              <a:t>0.75 / 0.99 coverage</a:t>
            </a:r>
            <a:pPr indent="0" marL="0">
              <a:lnSpc>
                <a:spcPct val="125000"/>
              </a:lnSpc>
              <a:buNone/>
            </a:pPr>
            <a:r>
              <a:rPr lang="en-US" sz="1350" dirty="0">
                <a:solidFill>
                  <a:srgbClr val="16233B"/>
                </a:solidFill>
                <a:latin typeface="UGent Panno Text" pitchFamily="34" charset="0"/>
                <a:ea typeface="UGent Panno Text" pitchFamily="34" charset="-122"/>
                <a:cs typeface="UGent Panno Text" pitchFamily="34" charset="-120"/>
              </a:rPr>
              <a:t> — which is exactly the quantity a maintenance decision needs.</a:t>
            </a:r>
            <a:endParaRPr lang="en-US" sz="1350" dirty="0"/>
          </a:p>
        </p:txBody>
      </p:sp>
      <p:sp>
        <p:nvSpPr>
          <p:cNvPr id="7" name="Text 3"/>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UGent Panno Text" pitchFamily="34" charset="0"/>
                <a:ea typeface="UGent Panno Text" pitchFamily="34" charset="-122"/>
                <a:cs typeface="UGent Panno Text"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p:bgPr>
    </p:bg>
    <p:spTree>
      <p:nvGrpSpPr>
        <p:cNvPr id="1" name=""/>
        <p:cNvGrpSpPr/>
        <p:nvPr/>
      </p:nvGrpSpPr>
      <p:grpSpPr>
        <a:xfrm>
          <a:off x="0" y="0"/>
          <a:ext cx="0" cy="0"/>
          <a:chOff x="0" y="0"/>
          <a:chExt cx="0" cy="0"/>
        </a:xfrm>
      </p:grpSpPr>
      <p:pic>
        <p:nvPicPr>
          <p:cNvPr id="2" name="Image 0" descr="/tmp/defense_prep/ugent_logo_cropped.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F1A32B"/>
                </a:solidFill>
                <a:latin typeface="UGent Panno Text" pitchFamily="34" charset="0"/>
                <a:ea typeface="UGent Panno Text" pitchFamily="34" charset="-122"/>
                <a:cs typeface="UGent Panno Text" pitchFamily="34" charset="-120"/>
              </a:rPr>
              <a:t>HONEST ASSESSMENT</a:t>
            </a:r>
            <a:endParaRPr lang="en-US" sz="1100" dirty="0"/>
          </a:p>
        </p:txBody>
      </p:sp>
      <p:sp>
        <p:nvSpPr>
          <p:cNvPr id="4"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1E64C8"/>
                </a:solidFill>
                <a:latin typeface="UGent Panno Text SemiBold" pitchFamily="34" charset="0"/>
                <a:ea typeface="UGent Panno Text SemiBold" pitchFamily="34" charset="-122"/>
                <a:cs typeface="UGent Panno Text SemiBold" pitchFamily="34" charset="-120"/>
              </a:rPr>
              <a:t>What's Left Imperfect</a:t>
            </a:r>
            <a:endParaRPr lang="en-US" sz="3000" dirty="0"/>
          </a:p>
        </p:txBody>
      </p:sp>
      <p:sp>
        <p:nvSpPr>
          <p:cNvPr id="5" name="Shape 2"/>
          <p:cNvSpPr/>
          <p:nvPr/>
        </p:nvSpPr>
        <p:spPr>
          <a:xfrm>
            <a:off x="594360" y="1417320"/>
            <a:ext cx="5349240" cy="1965960"/>
          </a:xfrm>
          <a:prstGeom prst="roundRect">
            <a:avLst>
              <a:gd name="adj" fmla="val 3721"/>
            </a:avLst>
          </a:prstGeom>
          <a:solidFill>
            <a:srgbClr val="FFFFFF"/>
          </a:solidFill>
          <a:ln w="15875">
            <a:solidFill>
              <a:srgbClr val="F1A32B"/>
            </a:solidFill>
            <a:prstDash val="solid"/>
          </a:ln>
          <a:effectLst>
            <a:outerShdw sx="100000" sy="100000" kx="0" ky="0" algn="bl" rotWithShape="0" blurRad="50800" dist="25400" dir="5400000">
              <a:srgbClr val="9AAFC7">
                <a:alpha val="25000"/>
              </a:srgbClr>
            </a:outerShdw>
          </a:effectLst>
        </p:spPr>
      </p:sp>
      <p:sp>
        <p:nvSpPr>
          <p:cNvPr id="6" name="Text 3"/>
          <p:cNvSpPr/>
          <p:nvPr/>
        </p:nvSpPr>
        <p:spPr>
          <a:xfrm>
            <a:off x="850392" y="1581912"/>
            <a:ext cx="4837176" cy="457200"/>
          </a:xfrm>
          <a:prstGeom prst="rect">
            <a:avLst/>
          </a:prstGeom>
          <a:noFill/>
          <a:ln/>
        </p:spPr>
        <p:txBody>
          <a:bodyPr wrap="square" rtlCol="0" anchor="ctr"/>
          <a:lstStyle/>
          <a:p>
            <a:pPr indent="0" marL="0">
              <a:buNone/>
            </a:pPr>
            <a:r>
              <a:rPr lang="en-US" sz="1450" b="1" dirty="0">
                <a:solidFill>
                  <a:srgbClr val="1E64C8"/>
                </a:solidFill>
                <a:latin typeface="UGent Panno Text" pitchFamily="34" charset="0"/>
                <a:ea typeface="UGent Panno Text" pitchFamily="34" charset="-122"/>
                <a:cs typeface="UGent Panno Text" pitchFamily="34" charset="-120"/>
              </a:rPr>
              <a:t>FD001: mildly overconfident</a:t>
            </a:r>
            <a:endParaRPr lang="en-US" sz="1450" dirty="0"/>
          </a:p>
        </p:txBody>
      </p:sp>
      <p:sp>
        <p:nvSpPr>
          <p:cNvPr id="7" name="Text 4"/>
          <p:cNvSpPr/>
          <p:nvPr/>
        </p:nvSpPr>
        <p:spPr>
          <a:xfrm>
            <a:off x="850392" y="2039112"/>
            <a:ext cx="4837176" cy="1143000"/>
          </a:xfrm>
          <a:prstGeom prst="rect">
            <a:avLst/>
          </a:prstGeom>
          <a:noFill/>
          <a:ln/>
        </p:spPr>
        <p:txBody>
          <a:bodyPr wrap="square" rtlCol="0" anchor="t"/>
          <a:lstStyle/>
          <a:p>
            <a:pPr indent="0" marL="0">
              <a:lnSpc>
                <a:spcPct val="120000"/>
              </a:lnSpc>
              <a:buNone/>
            </a:pPr>
            <a:r>
              <a:rPr lang="en-US" sz="1200" dirty="0">
                <a:solidFill>
                  <a:srgbClr val="16233B"/>
                </a:solidFill>
                <a:latin typeface="UGent Panno Text" pitchFamily="34" charset="0"/>
                <a:ea typeface="UGent Panno Text" pitchFamily="34" charset="-122"/>
                <a:cs typeface="UGent Panno Text" pitchFamily="34" charset="-120"/>
              </a:rPr>
              <a:t>Coverage 0.75 vs nominal 0.90 — a single matched rate still can't capture every fast-degrading engine.</a:t>
            </a:r>
            <a:endParaRPr lang="en-US" sz="1200" dirty="0"/>
          </a:p>
        </p:txBody>
      </p:sp>
      <p:sp>
        <p:nvSpPr>
          <p:cNvPr id="8" name="Shape 5"/>
          <p:cNvSpPr/>
          <p:nvPr/>
        </p:nvSpPr>
        <p:spPr>
          <a:xfrm>
            <a:off x="6263640" y="1417320"/>
            <a:ext cx="5349240" cy="1965960"/>
          </a:xfrm>
          <a:prstGeom prst="roundRect">
            <a:avLst>
              <a:gd name="adj" fmla="val 3721"/>
            </a:avLst>
          </a:prstGeom>
          <a:solidFill>
            <a:srgbClr val="FFFFFF"/>
          </a:solidFill>
          <a:ln w="15875">
            <a:solidFill>
              <a:srgbClr val="F1A32B"/>
            </a:solidFill>
            <a:prstDash val="solid"/>
          </a:ln>
          <a:effectLst>
            <a:outerShdw sx="100000" sy="100000" kx="0" ky="0" algn="bl" rotWithShape="0" blurRad="50800" dist="25400" dir="5400000">
              <a:srgbClr val="9AAFC7">
                <a:alpha val="25000"/>
              </a:srgbClr>
            </a:outerShdw>
          </a:effectLst>
        </p:spPr>
      </p:sp>
      <p:sp>
        <p:nvSpPr>
          <p:cNvPr id="9" name="Text 6"/>
          <p:cNvSpPr/>
          <p:nvPr/>
        </p:nvSpPr>
        <p:spPr>
          <a:xfrm>
            <a:off x="6519672" y="1581912"/>
            <a:ext cx="4837176" cy="457200"/>
          </a:xfrm>
          <a:prstGeom prst="rect">
            <a:avLst/>
          </a:prstGeom>
          <a:noFill/>
          <a:ln/>
        </p:spPr>
        <p:txBody>
          <a:bodyPr wrap="square" rtlCol="0" anchor="ctr"/>
          <a:lstStyle/>
          <a:p>
            <a:pPr indent="0" marL="0">
              <a:buNone/>
            </a:pPr>
            <a:r>
              <a:rPr lang="en-US" sz="1450" b="1" dirty="0">
                <a:solidFill>
                  <a:srgbClr val="1E64C8"/>
                </a:solidFill>
                <a:latin typeface="UGent Panno Text" pitchFamily="34" charset="0"/>
                <a:ea typeface="UGent Panno Text" pitchFamily="34" charset="-122"/>
                <a:cs typeface="UGent Panno Text" pitchFamily="34" charset="-120"/>
              </a:rPr>
              <a:t>FD003: over-conservative</a:t>
            </a:r>
            <a:endParaRPr lang="en-US" sz="1450" dirty="0"/>
          </a:p>
        </p:txBody>
      </p:sp>
      <p:sp>
        <p:nvSpPr>
          <p:cNvPr id="10" name="Text 7"/>
          <p:cNvSpPr/>
          <p:nvPr/>
        </p:nvSpPr>
        <p:spPr>
          <a:xfrm>
            <a:off x="6519672" y="2039112"/>
            <a:ext cx="4837176" cy="1143000"/>
          </a:xfrm>
          <a:prstGeom prst="rect">
            <a:avLst/>
          </a:prstGeom>
          <a:noFill/>
          <a:ln/>
        </p:spPr>
        <p:txBody>
          <a:bodyPr wrap="square" rtlCol="0" anchor="t"/>
          <a:lstStyle/>
          <a:p>
            <a:pPr indent="0" marL="0">
              <a:lnSpc>
                <a:spcPct val="120000"/>
              </a:lnSpc>
              <a:buNone/>
            </a:pPr>
            <a:r>
              <a:rPr lang="en-US" sz="1200" dirty="0">
                <a:solidFill>
                  <a:srgbClr val="16233B"/>
                </a:solidFill>
                <a:latin typeface="UGent Panno Text" pitchFamily="34" charset="0"/>
                <a:ea typeface="UGent Panno Text" pitchFamily="34" charset="-122"/>
                <a:cs typeface="UGent Panno Text" pitchFamily="34" charset="-120"/>
              </a:rPr>
              <a:t>Coverage 0.99 — longer horizons + noisier library matches under two fault modes widen the interval.</a:t>
            </a:r>
            <a:endParaRPr lang="en-US" sz="1200" dirty="0"/>
          </a:p>
        </p:txBody>
      </p:sp>
      <p:sp>
        <p:nvSpPr>
          <p:cNvPr id="11" name="Shape 8"/>
          <p:cNvSpPr/>
          <p:nvPr/>
        </p:nvSpPr>
        <p:spPr>
          <a:xfrm>
            <a:off x="594360" y="3657600"/>
            <a:ext cx="5349240" cy="1965960"/>
          </a:xfrm>
          <a:prstGeom prst="roundRect">
            <a:avLst>
              <a:gd name="adj" fmla="val 3721"/>
            </a:avLst>
          </a:prstGeom>
          <a:solidFill>
            <a:srgbClr val="FFFFFF"/>
          </a:solidFill>
          <a:ln w="15875">
            <a:solidFill>
              <a:srgbClr val="F1A32B"/>
            </a:solidFill>
            <a:prstDash val="solid"/>
          </a:ln>
          <a:effectLst>
            <a:outerShdw sx="100000" sy="100000" kx="0" ky="0" algn="bl" rotWithShape="0" blurRad="50800" dist="25400" dir="5400000">
              <a:srgbClr val="9AAFC7">
                <a:alpha val="25000"/>
              </a:srgbClr>
            </a:outerShdw>
          </a:effectLst>
        </p:spPr>
      </p:sp>
      <p:sp>
        <p:nvSpPr>
          <p:cNvPr id="12" name="Text 9"/>
          <p:cNvSpPr/>
          <p:nvPr/>
        </p:nvSpPr>
        <p:spPr>
          <a:xfrm>
            <a:off x="850392" y="3822192"/>
            <a:ext cx="4837176" cy="457200"/>
          </a:xfrm>
          <a:prstGeom prst="rect">
            <a:avLst/>
          </a:prstGeom>
          <a:noFill/>
          <a:ln/>
        </p:spPr>
        <p:txBody>
          <a:bodyPr wrap="square" rtlCol="0" anchor="ctr"/>
          <a:lstStyle/>
          <a:p>
            <a:pPr indent="0" marL="0">
              <a:buNone/>
            </a:pPr>
            <a:r>
              <a:rPr lang="en-US" sz="1450" b="1" dirty="0">
                <a:solidFill>
                  <a:srgbClr val="1E64C8"/>
                </a:solidFill>
                <a:latin typeface="UGent Panno Text" pitchFamily="34" charset="0"/>
                <a:ea typeface="UGent Panno Text" pitchFamily="34" charset="-122"/>
                <a:cs typeface="UGent Panno Text" pitchFamily="34" charset="-120"/>
              </a:rPr>
              <a:t>PMMH convergence is partial</a:t>
            </a:r>
            <a:endParaRPr lang="en-US" sz="1450" dirty="0"/>
          </a:p>
        </p:txBody>
      </p:sp>
      <p:sp>
        <p:nvSpPr>
          <p:cNvPr id="13" name="Text 10"/>
          <p:cNvSpPr/>
          <p:nvPr/>
        </p:nvSpPr>
        <p:spPr>
          <a:xfrm>
            <a:off x="850392" y="4279392"/>
            <a:ext cx="4837176" cy="1143000"/>
          </a:xfrm>
          <a:prstGeom prst="rect">
            <a:avLst/>
          </a:prstGeom>
          <a:noFill/>
          <a:ln/>
        </p:spPr>
        <p:txBody>
          <a:bodyPr wrap="square" rtlCol="0" anchor="t"/>
          <a:lstStyle/>
          <a:p>
            <a:pPr indent="0" marL="0">
              <a:lnSpc>
                <a:spcPct val="120000"/>
              </a:lnSpc>
              <a:buNone/>
            </a:pPr>
            <a:r>
              <a:rPr lang="en-US" sz="1200" dirty="0">
                <a:solidFill>
                  <a:srgbClr val="16233B"/>
                </a:solidFill>
                <a:latin typeface="UGent Panno Text" pitchFamily="34" charset="0"/>
                <a:ea typeface="UGent Panno Text" pitchFamily="34" charset="-122"/>
                <a:cs typeface="UGent Panno Text" pitchFamily="34" charset="-120"/>
              </a:rPr>
              <a:t>Chains converged on 31/100 (FD001) and 8/100 (FD003) engines; regression fallback used otherwise.</a:t>
            </a:r>
            <a:endParaRPr lang="en-US" sz="1200" dirty="0"/>
          </a:p>
        </p:txBody>
      </p:sp>
      <p:sp>
        <p:nvSpPr>
          <p:cNvPr id="14" name="Shape 11"/>
          <p:cNvSpPr/>
          <p:nvPr/>
        </p:nvSpPr>
        <p:spPr>
          <a:xfrm>
            <a:off x="6263640" y="3657600"/>
            <a:ext cx="5349240" cy="1965960"/>
          </a:xfrm>
          <a:prstGeom prst="roundRect">
            <a:avLst>
              <a:gd name="adj" fmla="val 3721"/>
            </a:avLst>
          </a:prstGeom>
          <a:solidFill>
            <a:srgbClr val="FFFFFF"/>
          </a:solidFill>
          <a:ln w="15875">
            <a:solidFill>
              <a:srgbClr val="F1A32B"/>
            </a:solidFill>
            <a:prstDash val="solid"/>
          </a:ln>
          <a:effectLst>
            <a:outerShdw sx="100000" sy="100000" kx="0" ky="0" algn="bl" rotWithShape="0" blurRad="50800" dist="25400" dir="5400000">
              <a:srgbClr val="9AAFC7">
                <a:alpha val="25000"/>
              </a:srgbClr>
            </a:outerShdw>
          </a:effectLst>
        </p:spPr>
      </p:sp>
      <p:sp>
        <p:nvSpPr>
          <p:cNvPr id="15" name="Text 12"/>
          <p:cNvSpPr/>
          <p:nvPr/>
        </p:nvSpPr>
        <p:spPr>
          <a:xfrm>
            <a:off x="6519672" y="3822192"/>
            <a:ext cx="4837176" cy="457200"/>
          </a:xfrm>
          <a:prstGeom prst="rect">
            <a:avLst/>
          </a:prstGeom>
          <a:noFill/>
          <a:ln/>
        </p:spPr>
        <p:txBody>
          <a:bodyPr wrap="square" rtlCol="0" anchor="ctr"/>
          <a:lstStyle/>
          <a:p>
            <a:pPr indent="0" marL="0">
              <a:buNone/>
            </a:pPr>
            <a:r>
              <a:rPr lang="en-US" sz="1450" b="1" dirty="0">
                <a:solidFill>
                  <a:srgbClr val="1E64C8"/>
                </a:solidFill>
                <a:latin typeface="UGent Panno Text" pitchFamily="34" charset="0"/>
                <a:ea typeface="UGent Panno Text" pitchFamily="34" charset="-122"/>
                <a:cs typeface="UGent Panno Text" pitchFamily="34" charset="-120"/>
              </a:rPr>
              <a:t>Scope: one operating condition</a:t>
            </a:r>
            <a:endParaRPr lang="en-US" sz="1450" dirty="0"/>
          </a:p>
        </p:txBody>
      </p:sp>
      <p:sp>
        <p:nvSpPr>
          <p:cNvPr id="16" name="Text 13"/>
          <p:cNvSpPr/>
          <p:nvPr/>
        </p:nvSpPr>
        <p:spPr>
          <a:xfrm>
            <a:off x="6519672" y="4279392"/>
            <a:ext cx="4837176" cy="1143000"/>
          </a:xfrm>
          <a:prstGeom prst="rect">
            <a:avLst/>
          </a:prstGeom>
          <a:noFill/>
          <a:ln/>
        </p:spPr>
        <p:txBody>
          <a:bodyPr wrap="square" rtlCol="0" anchor="t"/>
          <a:lstStyle/>
          <a:p>
            <a:pPr indent="0" marL="0">
              <a:lnSpc>
                <a:spcPct val="120000"/>
              </a:lnSpc>
              <a:buNone/>
            </a:pPr>
            <a:r>
              <a:rPr lang="en-US" sz="1200" dirty="0">
                <a:solidFill>
                  <a:srgbClr val="16233B"/>
                </a:solidFill>
                <a:latin typeface="UGent Panno Text" pitchFamily="34" charset="0"/>
                <a:ea typeface="UGent Panno Text" pitchFamily="34" charset="-122"/>
                <a:cs typeface="UGent Panno Text" pitchFamily="34" charset="-120"/>
              </a:rPr>
              <a:t>FD001/FD003 only — no operating-condition-aware normalisation yet for FD002/FD004.</a:t>
            </a:r>
            <a:endParaRPr lang="en-US" sz="1200" dirty="0"/>
          </a:p>
        </p:txBody>
      </p:sp>
      <p:sp>
        <p:nvSpPr>
          <p:cNvPr id="17" name="Text 14"/>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UGent Panno Text" pitchFamily="34" charset="0"/>
                <a:ea typeface="UGent Panno Text" pitchFamily="34" charset="-122"/>
                <a:cs typeface="UGent Panno Text"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C"/>
        </a:solidFill>
      </p:bgPr>
    </p:bg>
    <p:spTree>
      <p:nvGrpSpPr>
        <p:cNvPr id="1" name=""/>
        <p:cNvGrpSpPr/>
        <p:nvPr/>
      </p:nvGrpSpPr>
      <p:grpSpPr>
        <a:xfrm>
          <a:off x="0" y="0"/>
          <a:ext cx="0" cy="0"/>
          <a:chOff x="0" y="0"/>
          <a:chExt cx="0" cy="0"/>
        </a:xfrm>
      </p:grpSpPr>
      <p:pic>
        <p:nvPicPr>
          <p:cNvPr id="2" name="Image 0" descr="/tmp/defense_prep/ugent_logo_cropped.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F1A32B"/>
                </a:solidFill>
                <a:latin typeface="UGent Panno Text" pitchFamily="34" charset="0"/>
                <a:ea typeface="UGent Panno Text" pitchFamily="34" charset="-122"/>
                <a:cs typeface="UGent Panno Text" pitchFamily="34" charset="-120"/>
              </a:rPr>
              <a:t>WRAPPING UP</a:t>
            </a:r>
            <a:endParaRPr lang="en-US" sz="1100" dirty="0"/>
          </a:p>
        </p:txBody>
      </p:sp>
      <p:sp>
        <p:nvSpPr>
          <p:cNvPr id="4"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1E64C8"/>
                </a:solidFill>
                <a:latin typeface="UGent Panno Text SemiBold" pitchFamily="34" charset="0"/>
                <a:ea typeface="UGent Panno Text SemiBold" pitchFamily="34" charset="-122"/>
                <a:cs typeface="UGent Panno Text SemiBold" pitchFamily="34" charset="-120"/>
              </a:rPr>
              <a:t>Conclusions &amp; Future Work</a:t>
            </a:r>
            <a:endParaRPr lang="en-US" sz="3000" dirty="0"/>
          </a:p>
        </p:txBody>
      </p:sp>
      <p:sp>
        <p:nvSpPr>
          <p:cNvPr id="5" name="Shape 2"/>
          <p:cNvSpPr/>
          <p:nvPr/>
        </p:nvSpPr>
        <p:spPr>
          <a:xfrm>
            <a:off x="548640" y="1371600"/>
            <a:ext cx="5486400" cy="4114800"/>
          </a:xfrm>
          <a:prstGeom prst="roundRect">
            <a:avLst>
              <a:gd name="adj" fmla="val 2222"/>
            </a:avLst>
          </a:prstGeom>
          <a:solidFill>
            <a:srgbClr val="1E64C8"/>
          </a:solidFill>
          <a:ln/>
        </p:spPr>
      </p:sp>
      <p:sp>
        <p:nvSpPr>
          <p:cNvPr id="6" name="Text 3"/>
          <p:cNvSpPr/>
          <p:nvPr/>
        </p:nvSpPr>
        <p:spPr>
          <a:xfrm>
            <a:off x="822960" y="1554480"/>
            <a:ext cx="4937760" cy="411480"/>
          </a:xfrm>
          <a:prstGeom prst="rect">
            <a:avLst/>
          </a:prstGeom>
          <a:noFill/>
          <a:ln/>
        </p:spPr>
        <p:txBody>
          <a:bodyPr wrap="square" rtlCol="0" anchor="ctr"/>
          <a:lstStyle/>
          <a:p>
            <a:pPr indent="0" marL="0">
              <a:buNone/>
            </a:pPr>
            <a:r>
              <a:rPr lang="en-US" sz="1600" b="1" dirty="0">
                <a:solidFill>
                  <a:srgbClr val="F1A32B"/>
                </a:solidFill>
                <a:latin typeface="UGent Panno Text" pitchFamily="34" charset="0"/>
                <a:ea typeface="UGent Panno Text" pitchFamily="34" charset="-122"/>
                <a:cs typeface="UGent Panno Text" pitchFamily="34" charset="-120"/>
              </a:rPr>
              <a:t>Conclusions</a:t>
            </a:r>
            <a:endParaRPr lang="en-US" sz="1600" dirty="0"/>
          </a:p>
        </p:txBody>
      </p:sp>
      <p:sp>
        <p:nvSpPr>
          <p:cNvPr id="7" name="Text 4"/>
          <p:cNvSpPr/>
          <p:nvPr/>
        </p:nvSpPr>
        <p:spPr>
          <a:xfrm>
            <a:off x="822960" y="2011680"/>
            <a:ext cx="4937760" cy="3337560"/>
          </a:xfrm>
          <a:prstGeom prst="rect">
            <a:avLst/>
          </a:prstGeom>
          <a:noFill/>
          <a:ln/>
        </p:spPr>
        <p:txBody>
          <a:bodyPr wrap="square" rtlCol="0" anchor="t"/>
          <a:lstStyle/>
          <a:p>
            <a:pPr indent="0" marL="0">
              <a:lnSpc>
                <a:spcPct val="115000"/>
              </a:lnSpc>
              <a:buNone/>
            </a:pPr>
            <a:r>
              <a:rPr lang="en-US" sz="1250" b="1" dirty="0">
                <a:solidFill>
                  <a:srgbClr val="FFFFFF"/>
                </a:solidFill>
                <a:latin typeface="UGent Panno Text" pitchFamily="34" charset="0"/>
                <a:ea typeface="UGent Panno Text" pitchFamily="34" charset="-122"/>
                <a:cs typeface="UGent Panno Text" pitchFamily="34" charset="-120"/>
              </a:rPr>
              <a:t>• Architecture works: </a:t>
            </a:r>
            <a:pPr indent="0" marL="0">
              <a:lnSpc>
                <a:spcPct val="115000"/>
              </a:lnSpc>
              <a:buNone/>
            </a:pPr>
            <a:r>
              <a:rPr lang="en-US" sz="1250" dirty="0">
                <a:solidFill>
                  <a:srgbClr val="D7E6F5"/>
                </a:solidFill>
                <a:latin typeface="UGent Panno Text" pitchFamily="34" charset="0"/>
                <a:ea typeface="UGent Panno Text" pitchFamily="34" charset="-122"/>
                <a:cs typeface="UGent Panno Text" pitchFamily="34" charset="-120"/>
              </a:rPr>
              <a:t>health tracked reliably, fleet-wide.
</a:t>
            </a:r>
            <a:pPr indent="0" marL="0">
              <a:lnSpc>
                <a:spcPct val="115000"/>
              </a:lnSpc>
              <a:buNone/>
            </a:pPr>
            <a:r>
              <a:rPr lang="en-US" sz="1250" b="1" dirty="0">
                <a:solidFill>
                  <a:srgbClr val="FFFFFF"/>
                </a:solidFill>
                <a:latin typeface="UGent Panno Text" pitchFamily="34" charset="0"/>
                <a:ea typeface="UGent Panno Text" pitchFamily="34" charset="-122"/>
                <a:cs typeface="UGent Panno Text" pitchFamily="34" charset="-120"/>
              </a:rPr>
              <a:t>• Point accuracy: </a:t>
            </a:r>
            <a:pPr indent="0" marL="0">
              <a:lnSpc>
                <a:spcPct val="115000"/>
              </a:lnSpc>
              <a:buNone/>
            </a:pPr>
            <a:r>
              <a:rPr lang="en-US" sz="1250" dirty="0">
                <a:solidFill>
                  <a:srgbClr val="D7E6F5"/>
                </a:solidFill>
                <a:latin typeface="UGent Panno Text" pitchFamily="34" charset="0"/>
                <a:ea typeface="UGent Panno Text" pitchFamily="34" charset="-122"/>
                <a:cs typeface="UGent Panno Text" pitchFamily="34" charset="-120"/>
              </a:rPr>
              <a:t>final-cycle RMSE roughly halved (98.3 → 44.3 on FD001) by fitting the degradation rate from data.
</a:t>
            </a:r>
            <a:pPr indent="0" marL="0">
              <a:lnSpc>
                <a:spcPct val="115000"/>
              </a:lnSpc>
              <a:buNone/>
            </a:pPr>
            <a:r>
              <a:rPr lang="en-US" sz="1250" b="1" dirty="0">
                <a:solidFill>
                  <a:srgbClr val="FFFFFF"/>
                </a:solidFill>
                <a:latin typeface="UGent Panno Text" pitchFamily="34" charset="0"/>
                <a:ea typeface="UGent Panno Text" pitchFamily="34" charset="-122"/>
                <a:cs typeface="UGent Panno Text" pitchFamily="34" charset="-120"/>
              </a:rPr>
              <a:t>• Calibration: </a:t>
            </a:r>
            <a:pPr indent="0" marL="0">
              <a:lnSpc>
                <a:spcPct val="115000"/>
              </a:lnSpc>
              <a:buNone/>
            </a:pPr>
            <a:r>
              <a:rPr lang="en-US" sz="1250" dirty="0">
                <a:solidFill>
                  <a:srgbClr val="D7E6F5"/>
                </a:solidFill>
                <a:latin typeface="UGent Panno Text" pitchFamily="34" charset="0"/>
                <a:ea typeface="UGent Panno Text" pitchFamily="34" charset="-122"/>
                <a:cs typeface="UGent Panno Text" pitchFamily="34" charset="-120"/>
              </a:rPr>
              <a:t>achieved in practice, not just in principle — coverage 0.000 → 0.75 / 0.99, checkable on a stated test fleet.
</a:t>
            </a:r>
            <a:pPr indent="0" marL="0">
              <a:lnSpc>
                <a:spcPct val="115000"/>
              </a:lnSpc>
              <a:buNone/>
            </a:pPr>
            <a:r>
              <a:rPr lang="en-US" sz="1250" b="1" dirty="0">
                <a:solidFill>
                  <a:srgbClr val="FFFFFF"/>
                </a:solidFill>
                <a:latin typeface="UGent Panno Text" pitchFamily="34" charset="0"/>
                <a:ea typeface="UGent Panno Text" pitchFamily="34" charset="-122"/>
                <a:cs typeface="UGent Panno Text" pitchFamily="34" charset="-120"/>
              </a:rPr>
              <a:t>• Contribution: </a:t>
            </a:r>
            <a:pPr indent="0" marL="0">
              <a:lnSpc>
                <a:spcPct val="115000"/>
              </a:lnSpc>
              <a:buNone/>
            </a:pPr>
            <a:r>
              <a:rPr lang="en-US" sz="1250" dirty="0">
                <a:solidFill>
                  <a:srgbClr val="D7E6F5"/>
                </a:solidFill>
                <a:latin typeface="UGent Panno Text" pitchFamily="34" charset="0"/>
                <a:ea typeface="UGent Panno Text" pitchFamily="34" charset="-122"/>
                <a:cs typeface="UGent Panno Text" pitchFamily="34" charset="-120"/>
              </a:rPr>
              <a:t>a particle-filter digital twin with calibrated RUL, applied to turbofans — a gap the literature (battery-PF, DL-on-C-MAPSS) leaves open.</a:t>
            </a:r>
            <a:endParaRPr lang="en-US" sz="1250" dirty="0"/>
          </a:p>
        </p:txBody>
      </p:sp>
      <p:sp>
        <p:nvSpPr>
          <p:cNvPr id="8" name="Text 5"/>
          <p:cNvSpPr/>
          <p:nvPr/>
        </p:nvSpPr>
        <p:spPr>
          <a:xfrm>
            <a:off x="6355080" y="1554480"/>
            <a:ext cx="5257800" cy="411480"/>
          </a:xfrm>
          <a:prstGeom prst="rect">
            <a:avLst/>
          </a:prstGeom>
          <a:noFill/>
          <a:ln/>
        </p:spPr>
        <p:txBody>
          <a:bodyPr wrap="square" rtlCol="0" anchor="ctr"/>
          <a:lstStyle/>
          <a:p>
            <a:pPr indent="0" marL="0">
              <a:buNone/>
            </a:pPr>
            <a:r>
              <a:rPr lang="en-US" sz="1600" b="1" dirty="0">
                <a:solidFill>
                  <a:srgbClr val="1E64C8"/>
                </a:solidFill>
                <a:latin typeface="UGent Panno Text" pitchFamily="34" charset="0"/>
                <a:ea typeface="UGent Panno Text" pitchFamily="34" charset="-122"/>
                <a:cs typeface="UGent Panno Text" pitchFamily="34" charset="-120"/>
              </a:rPr>
              <a:t>Future Work</a:t>
            </a:r>
            <a:endParaRPr lang="en-US" sz="1600" dirty="0"/>
          </a:p>
        </p:txBody>
      </p:sp>
      <p:sp>
        <p:nvSpPr>
          <p:cNvPr id="9" name="Shape 6"/>
          <p:cNvSpPr/>
          <p:nvPr/>
        </p:nvSpPr>
        <p:spPr>
          <a:xfrm>
            <a:off x="6355080" y="2066544"/>
            <a:ext cx="109728" cy="109728"/>
          </a:xfrm>
          <a:prstGeom prst="ellipse">
            <a:avLst/>
          </a:prstGeom>
          <a:solidFill>
            <a:srgbClr val="F1A32B"/>
          </a:solidFill>
          <a:ln/>
        </p:spPr>
      </p:sp>
      <p:sp>
        <p:nvSpPr>
          <p:cNvPr id="10" name="Text 7"/>
          <p:cNvSpPr/>
          <p:nvPr/>
        </p:nvSpPr>
        <p:spPr>
          <a:xfrm>
            <a:off x="6583680" y="1938528"/>
            <a:ext cx="5029200" cy="457200"/>
          </a:xfrm>
          <a:prstGeom prst="rect">
            <a:avLst/>
          </a:prstGeom>
          <a:noFill/>
          <a:ln/>
        </p:spPr>
        <p:txBody>
          <a:bodyPr wrap="square" rtlCol="0" anchor="t"/>
          <a:lstStyle/>
          <a:p>
            <a:pPr indent="0" marL="0">
              <a:buNone/>
            </a:pPr>
            <a:r>
              <a:rPr lang="en-US" sz="1250" dirty="0">
                <a:solidFill>
                  <a:srgbClr val="16233B"/>
                </a:solidFill>
                <a:latin typeface="UGent Panno Text" pitchFamily="34" charset="0"/>
                <a:ea typeface="UGent Panno Text" pitchFamily="34" charset="-122"/>
                <a:cs typeface="UGent Panno Text" pitchFamily="34" charset="-120"/>
              </a:rPr>
              <a:t>Improve PMMH convergence; move to per-engine process noise</a:t>
            </a:r>
            <a:endParaRPr lang="en-US" sz="1250" dirty="0"/>
          </a:p>
        </p:txBody>
      </p:sp>
      <p:sp>
        <p:nvSpPr>
          <p:cNvPr id="11" name="Shape 8"/>
          <p:cNvSpPr/>
          <p:nvPr/>
        </p:nvSpPr>
        <p:spPr>
          <a:xfrm>
            <a:off x="6355080" y="2596896"/>
            <a:ext cx="109728" cy="109728"/>
          </a:xfrm>
          <a:prstGeom prst="ellipse">
            <a:avLst/>
          </a:prstGeom>
          <a:solidFill>
            <a:srgbClr val="F1A32B"/>
          </a:solidFill>
          <a:ln/>
        </p:spPr>
      </p:sp>
      <p:sp>
        <p:nvSpPr>
          <p:cNvPr id="12" name="Text 9"/>
          <p:cNvSpPr/>
          <p:nvPr/>
        </p:nvSpPr>
        <p:spPr>
          <a:xfrm>
            <a:off x="6583680" y="2468880"/>
            <a:ext cx="5029200" cy="457200"/>
          </a:xfrm>
          <a:prstGeom prst="rect">
            <a:avLst/>
          </a:prstGeom>
          <a:noFill/>
          <a:ln/>
        </p:spPr>
        <p:txBody>
          <a:bodyPr wrap="square" rtlCol="0" anchor="t"/>
          <a:lstStyle/>
          <a:p>
            <a:pPr indent="0" marL="0">
              <a:buNone/>
            </a:pPr>
            <a:r>
              <a:rPr lang="en-US" sz="1250" dirty="0">
                <a:solidFill>
                  <a:srgbClr val="16233B"/>
                </a:solidFill>
                <a:latin typeface="UGent Panno Text" pitchFamily="34" charset="0"/>
                <a:ea typeface="UGent Panno Text" pitchFamily="34" charset="-122"/>
                <a:cs typeface="UGent Panno Text" pitchFamily="34" charset="-120"/>
              </a:rPr>
              <a:t>Jointly estimate growth rate and noise via PMMH + library</a:t>
            </a:r>
            <a:endParaRPr lang="en-US" sz="1250" dirty="0"/>
          </a:p>
        </p:txBody>
      </p:sp>
      <p:sp>
        <p:nvSpPr>
          <p:cNvPr id="13" name="Shape 10"/>
          <p:cNvSpPr/>
          <p:nvPr/>
        </p:nvSpPr>
        <p:spPr>
          <a:xfrm>
            <a:off x="6355080" y="3127248"/>
            <a:ext cx="109728" cy="109728"/>
          </a:xfrm>
          <a:prstGeom prst="ellipse">
            <a:avLst/>
          </a:prstGeom>
          <a:solidFill>
            <a:srgbClr val="F1A32B"/>
          </a:solidFill>
          <a:ln/>
        </p:spPr>
      </p:sp>
      <p:sp>
        <p:nvSpPr>
          <p:cNvPr id="14" name="Text 11"/>
          <p:cNvSpPr/>
          <p:nvPr/>
        </p:nvSpPr>
        <p:spPr>
          <a:xfrm>
            <a:off x="6583680" y="2999232"/>
            <a:ext cx="5029200" cy="457200"/>
          </a:xfrm>
          <a:prstGeom prst="rect">
            <a:avLst/>
          </a:prstGeom>
          <a:noFill/>
          <a:ln/>
        </p:spPr>
        <p:txBody>
          <a:bodyPr wrap="square" rtlCol="0" anchor="t"/>
          <a:lstStyle/>
          <a:p>
            <a:pPr indent="0" marL="0">
              <a:buNone/>
            </a:pPr>
            <a:r>
              <a:rPr lang="en-US" sz="1250" dirty="0">
                <a:solidFill>
                  <a:srgbClr val="16233B"/>
                </a:solidFill>
                <a:latin typeface="UGent Panno Text" pitchFamily="34" charset="0"/>
                <a:ea typeface="UGent Panno Text" pitchFamily="34" charset="-122"/>
                <a:cs typeface="UGent Panno Text" pitchFamily="34" charset="-120"/>
              </a:rPr>
              <a:t>Life-fraction-normalised pooling (t / T_max) as an alternative fix</a:t>
            </a:r>
            <a:endParaRPr lang="en-US" sz="1250" dirty="0"/>
          </a:p>
        </p:txBody>
      </p:sp>
      <p:sp>
        <p:nvSpPr>
          <p:cNvPr id="15" name="Shape 12"/>
          <p:cNvSpPr/>
          <p:nvPr/>
        </p:nvSpPr>
        <p:spPr>
          <a:xfrm>
            <a:off x="6355080" y="3657600"/>
            <a:ext cx="109728" cy="109728"/>
          </a:xfrm>
          <a:prstGeom prst="ellipse">
            <a:avLst/>
          </a:prstGeom>
          <a:solidFill>
            <a:srgbClr val="F1A32B"/>
          </a:solidFill>
          <a:ln/>
        </p:spPr>
      </p:sp>
      <p:sp>
        <p:nvSpPr>
          <p:cNvPr id="16" name="Text 13"/>
          <p:cNvSpPr/>
          <p:nvPr/>
        </p:nvSpPr>
        <p:spPr>
          <a:xfrm>
            <a:off x="6583680" y="3529584"/>
            <a:ext cx="5029200" cy="457200"/>
          </a:xfrm>
          <a:prstGeom prst="rect">
            <a:avLst/>
          </a:prstGeom>
          <a:noFill/>
          <a:ln/>
        </p:spPr>
        <p:txBody>
          <a:bodyPr wrap="square" rtlCol="0" anchor="t"/>
          <a:lstStyle/>
          <a:p>
            <a:pPr indent="0" marL="0">
              <a:buNone/>
            </a:pPr>
            <a:r>
              <a:rPr lang="en-US" sz="1250" dirty="0">
                <a:solidFill>
                  <a:srgbClr val="16233B"/>
                </a:solidFill>
                <a:latin typeface="UGent Panno Text" pitchFamily="34" charset="0"/>
                <a:ea typeface="UGent Panno Text" pitchFamily="34" charset="-122"/>
                <a:cs typeface="UGent Panno Text" pitchFamily="34" charset="-120"/>
              </a:rPr>
              <a:t>Formal Kernel Two-Sample Test for library matching (Cai et al. 2020)</a:t>
            </a:r>
            <a:endParaRPr lang="en-US" sz="1250" dirty="0"/>
          </a:p>
        </p:txBody>
      </p:sp>
      <p:sp>
        <p:nvSpPr>
          <p:cNvPr id="17" name="Shape 14"/>
          <p:cNvSpPr/>
          <p:nvPr/>
        </p:nvSpPr>
        <p:spPr>
          <a:xfrm>
            <a:off x="6355080" y="4187952"/>
            <a:ext cx="109728" cy="109728"/>
          </a:xfrm>
          <a:prstGeom prst="ellipse">
            <a:avLst/>
          </a:prstGeom>
          <a:solidFill>
            <a:srgbClr val="F1A32B"/>
          </a:solidFill>
          <a:ln/>
        </p:spPr>
      </p:sp>
      <p:sp>
        <p:nvSpPr>
          <p:cNvPr id="18" name="Text 15"/>
          <p:cNvSpPr/>
          <p:nvPr/>
        </p:nvSpPr>
        <p:spPr>
          <a:xfrm>
            <a:off x="6583680" y="4059936"/>
            <a:ext cx="5029200" cy="457200"/>
          </a:xfrm>
          <a:prstGeom prst="rect">
            <a:avLst/>
          </a:prstGeom>
          <a:noFill/>
          <a:ln/>
        </p:spPr>
        <p:txBody>
          <a:bodyPr wrap="square" rtlCol="0" anchor="t"/>
          <a:lstStyle/>
          <a:p>
            <a:pPr indent="0" marL="0">
              <a:buNone/>
            </a:pPr>
            <a:r>
              <a:rPr lang="en-US" sz="1250" dirty="0">
                <a:solidFill>
                  <a:srgbClr val="16233B"/>
                </a:solidFill>
                <a:latin typeface="UGent Panno Text" pitchFamily="34" charset="0"/>
                <a:ea typeface="UGent Panno Text" pitchFamily="34" charset="-122"/>
                <a:cs typeface="UGent Panno Text" pitchFamily="34" charset="-120"/>
              </a:rPr>
              <a:t>Extend to FD002 / FD004 (multiple operating conditions)</a:t>
            </a:r>
            <a:endParaRPr lang="en-US" sz="1250" dirty="0"/>
          </a:p>
        </p:txBody>
      </p:sp>
      <p:sp>
        <p:nvSpPr>
          <p:cNvPr id="19" name="Shape 16"/>
          <p:cNvSpPr/>
          <p:nvPr/>
        </p:nvSpPr>
        <p:spPr>
          <a:xfrm>
            <a:off x="6355080" y="4718304"/>
            <a:ext cx="109728" cy="109728"/>
          </a:xfrm>
          <a:prstGeom prst="ellipse">
            <a:avLst/>
          </a:prstGeom>
          <a:solidFill>
            <a:srgbClr val="F1A32B"/>
          </a:solidFill>
          <a:ln/>
        </p:spPr>
      </p:sp>
      <p:sp>
        <p:nvSpPr>
          <p:cNvPr id="20" name="Text 17"/>
          <p:cNvSpPr/>
          <p:nvPr/>
        </p:nvSpPr>
        <p:spPr>
          <a:xfrm>
            <a:off x="6583680" y="4590288"/>
            <a:ext cx="5029200" cy="457200"/>
          </a:xfrm>
          <a:prstGeom prst="rect">
            <a:avLst/>
          </a:prstGeom>
          <a:noFill/>
          <a:ln/>
        </p:spPr>
        <p:txBody>
          <a:bodyPr wrap="square" rtlCol="0" anchor="t"/>
          <a:lstStyle/>
          <a:p>
            <a:pPr indent="0" marL="0">
              <a:buNone/>
            </a:pPr>
            <a:r>
              <a:rPr lang="en-US" sz="1250" dirty="0">
                <a:solidFill>
                  <a:srgbClr val="16233B"/>
                </a:solidFill>
                <a:latin typeface="UGent Panno Text" pitchFamily="34" charset="0"/>
                <a:ea typeface="UGent Panno Text" pitchFamily="34" charset="-122"/>
                <a:cs typeface="UGent Panno Text" pitchFamily="34" charset="-120"/>
              </a:rPr>
              <a:t>Systematic particle-count sweep (N ∈ {500, 1000, 2000})</a:t>
            </a:r>
            <a:endParaRPr lang="en-US" sz="1250" dirty="0"/>
          </a:p>
        </p:txBody>
      </p:sp>
      <p:sp>
        <p:nvSpPr>
          <p:cNvPr id="21" name="Text 18"/>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UGent Panno Text" pitchFamily="34" charset="0"/>
                <a:ea typeface="UGent Panno Text" pitchFamily="34" charset="-122"/>
                <a:cs typeface="UGent Panno Text"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64C8"/>
        </a:solidFill>
      </p:bgPr>
    </p:bg>
    <p:spTree>
      <p:nvGrpSpPr>
        <p:cNvPr id="1" name=""/>
        <p:cNvGrpSpPr/>
        <p:nvPr/>
      </p:nvGrpSpPr>
      <p:grpSpPr>
        <a:xfrm>
          <a:off x="0" y="0"/>
          <a:ext cx="0" cy="0"/>
          <a:chOff x="0" y="0"/>
          <a:chExt cx="0" cy="0"/>
        </a:xfrm>
      </p:grpSpPr>
      <p:pic>
        <p:nvPicPr>
          <p:cNvPr id="2" name="Image 0" descr="/tmp/defense_prep/ugent_logo_white.png">    </p:cNvPr>
          <p:cNvPicPr>
            <a:picLocks noChangeAspect="1"/>
          </p:cNvPicPr>
          <p:nvPr/>
        </p:nvPicPr>
        <p:blipFill>
          <a:blip r:embed="rId1"/>
          <a:stretch>
            <a:fillRect/>
          </a:stretch>
        </p:blipFill>
        <p:spPr>
          <a:xfrm>
            <a:off x="11213287" y="274320"/>
            <a:ext cx="658368" cy="572166"/>
          </a:xfrm>
          <a:prstGeom prst="rect">
            <a:avLst/>
          </a:prstGeom>
        </p:spPr>
      </p:pic>
      <p:sp>
        <p:nvSpPr>
          <p:cNvPr id="3" name="Text 0"/>
          <p:cNvSpPr/>
          <p:nvPr/>
        </p:nvSpPr>
        <p:spPr>
          <a:xfrm>
            <a:off x="822960" y="2377440"/>
            <a:ext cx="10545775" cy="1005840"/>
          </a:xfrm>
          <a:prstGeom prst="rect">
            <a:avLst/>
          </a:prstGeom>
          <a:noFill/>
          <a:ln/>
        </p:spPr>
        <p:txBody>
          <a:bodyPr wrap="square" rtlCol="0" anchor="ctr"/>
          <a:lstStyle/>
          <a:p>
            <a:pPr indent="0" marL="0">
              <a:buNone/>
            </a:pPr>
            <a:r>
              <a:rPr lang="en-US" sz="4000" b="1" dirty="0">
                <a:solidFill>
                  <a:srgbClr val="FFFFFF"/>
                </a:solidFill>
                <a:latin typeface="UGent Panno Text SemiBold" pitchFamily="34" charset="0"/>
                <a:ea typeface="UGent Panno Text SemiBold" pitchFamily="34" charset="-122"/>
                <a:cs typeface="UGent Panno Text SemiBold" pitchFamily="34" charset="-120"/>
              </a:rPr>
              <a:t>Thank You</a:t>
            </a:r>
            <a:endParaRPr lang="en-US" sz="4000" dirty="0"/>
          </a:p>
        </p:txBody>
      </p:sp>
      <p:sp>
        <p:nvSpPr>
          <p:cNvPr id="4" name="Text 1"/>
          <p:cNvSpPr/>
          <p:nvPr/>
        </p:nvSpPr>
        <p:spPr>
          <a:xfrm>
            <a:off x="822960" y="3337560"/>
            <a:ext cx="10545775" cy="457200"/>
          </a:xfrm>
          <a:prstGeom prst="rect">
            <a:avLst/>
          </a:prstGeom>
          <a:noFill/>
          <a:ln/>
        </p:spPr>
        <p:txBody>
          <a:bodyPr wrap="square" rtlCol="0" anchor="ctr"/>
          <a:lstStyle/>
          <a:p>
            <a:pPr indent="0" marL="0">
              <a:buNone/>
            </a:pPr>
            <a:r>
              <a:rPr lang="en-US" sz="1600" i="1" dirty="0">
                <a:solidFill>
                  <a:srgbClr val="D7E6F5"/>
                </a:solidFill>
                <a:latin typeface="UGent Panno Text" pitchFamily="34" charset="0"/>
                <a:ea typeface="UGent Panno Text" pitchFamily="34" charset="-122"/>
                <a:cs typeface="UGent Panno Text" pitchFamily="34" charset="-120"/>
              </a:rPr>
              <a:t>Questions welcome.</a:t>
            </a:r>
            <a:endParaRPr lang="en-US" sz="1600" dirty="0"/>
          </a:p>
        </p:txBody>
      </p:sp>
      <p:sp>
        <p:nvSpPr>
          <p:cNvPr id="5" name="Shape 2"/>
          <p:cNvSpPr/>
          <p:nvPr/>
        </p:nvSpPr>
        <p:spPr>
          <a:xfrm>
            <a:off x="822960" y="3977640"/>
            <a:ext cx="1280160" cy="0"/>
          </a:xfrm>
          <a:prstGeom prst="line">
            <a:avLst/>
          </a:prstGeom>
          <a:noFill/>
          <a:ln w="31750">
            <a:solidFill>
              <a:srgbClr val="F1A32B"/>
            </a:solidFill>
            <a:prstDash val="solid"/>
          </a:ln>
        </p:spPr>
      </p:sp>
      <p:sp>
        <p:nvSpPr>
          <p:cNvPr id="6" name="Text 3"/>
          <p:cNvSpPr/>
          <p:nvPr/>
        </p:nvSpPr>
        <p:spPr>
          <a:xfrm>
            <a:off x="822960" y="4206240"/>
            <a:ext cx="7315200" cy="365760"/>
          </a:xfrm>
          <a:prstGeom prst="rect">
            <a:avLst/>
          </a:prstGeom>
          <a:noFill/>
          <a:ln/>
        </p:spPr>
        <p:txBody>
          <a:bodyPr wrap="square" rtlCol="0" anchor="ctr"/>
          <a:lstStyle/>
          <a:p>
            <a:pPr indent="0" marL="0">
              <a:buNone/>
            </a:pPr>
            <a:r>
              <a:rPr lang="en-US" sz="1200" dirty="0">
                <a:solidFill>
                  <a:srgbClr val="8BBED5"/>
                </a:solidFill>
                <a:latin typeface="UGent Panno Text" pitchFamily="34" charset="0"/>
                <a:ea typeface="UGent Panno Text" pitchFamily="34" charset="-122"/>
                <a:cs typeface="UGent Panno Text" pitchFamily="34" charset="-120"/>
              </a:rPr>
              <a:t>Sajjad Ayashm  ·  s.ayashm@gmail.com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2026-09-03T23:26:47Z</dcterms:created>
  <dcterms:modified xsi:type="dcterms:W3CDTF">2026-09-03T23:26:47Z</dcterms:modified>
</cp:coreProperties>
</file>
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Summary: Fixed → PMMH → Reference Library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412480" cy="265176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1554480"/>
                <a:gridCol w="1371600"/>
                <a:gridCol w="1463040"/>
              </a:tblGrid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(cyc.)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parameters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PMMH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one-shot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parameters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PMMH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one-shot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776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target coverage is 0.90. FD001 rises monotonically toward it (0.49 → 0.68 → 0.75); FD003 is over-conservative from the start (already 1.00 under fixed parameters).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roughly halves at each stage on both datasets — the library is the best point-accuracy AND best-calibrated configuration reached.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library beats periodic re-matching on both fleets (FD001: 44.3 vs 47.3; FD003: 100.1 vs 107.5) — tested, not assumed.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Model Configurations, Side by Side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4552" cy="2834640"/>
        </p:xfrm>
        <a:graphic>
          <a:graphicData uri="http://schemas.openxmlformats.org/drawingml/2006/table">
            <a:tbl>
              <a:tblPr/>
              <a:tblGrid>
                <a:gridCol w="1417320"/>
                <a:gridCol w="2788920"/>
                <a:gridCol w="2313432"/>
                <a:gridCol w="4754880"/>
              </a:tblGrid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Degradation rate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noise σᵥ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obtained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 regression — one rate for the whole fleet (FD001 ≈ 0.0028)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— hand-set, not estimated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k: log-linear regression on pooled (cycle, Health Index) data, all training engines together. σᵥ: an arbitrary starting value, never fitted.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PMMH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engine (mean ≈ 0.0039 FD001 / ≈ 0.0018 FD003); non-converged engines fall back to the pooled rate above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0.66 — fleet-wide, pooled from converged per-engine posteriors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 Marginal Metropolis-Hastings: samples the joint posterior p(k, σᵥ | data) using the bootstrap filter's own likelihood. Converged on 31/100 (FD001), 8/100 (FD003) engines.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(one-shot)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engine, matched from a library of 100 individually-fitted engine rates (library mean k ≈ 0.0037, FD001)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0.66 — same fleet-wide value as PMMH, not re-estimated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engine's observed Health Index (after a 20-cycle warm-up) matched via Maximum Mean Discrepancy to its 5 nearest library engines, rates averaged. Matched once, held fixed after — one-shot beat periodic re-matching empirically.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43484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σw (measurement noise, ≈ 9.26) is fitted once from training-residual spread and reused unchanged across all three — it is not a point of difference between them.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state-space model itself — exponential dynamics, Gaussian noise family, observation model, initial distribution — is identical in all three configurations. Only how k and σᵥ are obtained changes.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Kalman Filter?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4552" cy="3520440"/>
        </p:xfrm>
        <a:graphic>
          <a:graphicData uri="http://schemas.openxmlformats.org/drawingml/2006/table">
            <a:tbl>
              <a:tblPr/>
              <a:tblGrid>
                <a:gridCol w="1691640"/>
                <a:gridCol w="4480560"/>
                <a:gridCol w="5102352"/>
              </a:tblGrid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 Filter (used here)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closed-form update needs linear dynamics + Gaussian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any transition — here it's affine anyway, so this alone wouldn't rule out a KF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family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Gaussian — a skew-normal noise (tested, mild AIC gain) breaks the closed-form recursion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closed form needed — the bootstrap filter just samples the noise; any density works unchanged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 is the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one Gaussian belief over the state — not a threshold-crossing time, and no natural way to handle a threshold that is itself random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simulating each particle forward and record when it crosses its own (randomly drawn) failure level — a first-passage time, for free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(PMMH)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has an exact closed-form likelihood while the model stays Gaussian; a different noise family means re-deriving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produces an unbiased likelihood estimate as a byproduct of ordinary filtering — reused as-is by PMMH, whatever the noise family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8920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health-index transition itself, x_t = 100 − (100 − x_{t-1})·eᵏ + v_t, is actually affine in x_{t-1} — nothing there alone rules out a Kalman filter.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does: RUL is a first-passage time against a per-particle random failure threshold, and the noise family was deliberately left open — both need a simulation-based posterior, not a single Gaussian summary.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Tracking &amp; Particle Diversity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11247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Health-Index RMSE, all 13,096 FD001 test cycles: 0.082 (PMMH) vs. 0.092 (fixed parameters) — filtered estimate stays within about a tenth of a unit of the observed Health Index throughout.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sample size stays healthy: mean ESSₜ / N = 0.79 (SD 0.02), fleet-wide — the particle cloud is never close to degenerate.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resampling triggers at τ = 0.5: at least half the particles (250 / 500) always support the posterior.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weakness: trajectory RMSE correlates with observation length (r = −0.58) — shortest-observed quartile averages 111 cycles RMSE vs. 61 for the longest. This is a degradation-rate estimation limitation, not a filter/tracking failure — the filter tracks even the worst-observed engine's health well; the error shows up later, downstream, in the RUL projection.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Estimation via PMMH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9692640" cy="123444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920240"/>
                <a:gridCol w="219456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σᵥ (est.)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σᵥ (hand-set)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(growth rate)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converged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2697480"/>
            <a:ext cx="11247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PMMH jointly estimates (k, σᵥ) per engine — N = 3200 particles, 1000 iterations, acceptance-rate convergence rule ≥ 0.10.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Non-converged chains fall back to the pooled regression-fitted rate — every engine still contributes an estimate, none are dropped.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fitted σᵥ ≈ 0.66 confirms the hand-set default (0.5) understated the true process noise, on both datasets.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a named limitation, not hidden: a single global random-walk step size mixes unevenly across a diverse fleet, worse on FD003's noisier two-fault-mode likelihood surface.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&amp; Failure-Threshold Calibration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778240" cy="123444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Fleet-mean censored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Engines &gt; 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274320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Censoring: a particle that hasn't crossed the failure threshold by r_max is recorded as RUL = r_max, piling mass at the cap — biases the reported posterior slightly narrow and to the left. Reported coverage includes this effect as-is, not corrected out.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jump in calibration (coverage 0.000 → 0.49) came entirely from calibrating the failure threshold in posterior space — not from PMMH or the library. Degradation parameters were identical between those two configurations.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jumps are attributed separately: 0.49 → 0.68 (PMMH, data-driven σᵥ/k) → 0.75 (library, per-engine matched rate).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Trade-Off: Accuracy vs. Calibrated Uncertainty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9509760" cy="196596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1737360"/>
                <a:gridCol w="1371600"/>
                <a:gridCol w="173736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(cyc.)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4C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one-shot (this thesis)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one-shot (this thesis)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42900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the sharper point predictor on both datasets — reported plainly, not downplayed.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baseline produces one number with no expression of confidence — "does its 90% interval cover the truth?" is not a question that can even be posed of it.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particle filter concedes point accuracy in exchange for a calibrated credible interval a bare point estimate cannot structurally provide. For a maintenance decision, that is the quantity that matters.</a:t>
            </a:r>
            <a:endParaRPr lang="en-US" sz="155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11247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σᵥ is still fleet-wide, not per-engine — PMMH estimates it per engine, but converged posteriors are pooled into one number applied to every test engine. The growth rate k is the only parameter with genuine per-engine treatment (via the library). Top future-work priority: better PMMH convergence + a genuinely per-engine σᵥ — it addresses FD001's overconfidence and FD003's over-conservatism at once.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matching simplifies Cai et al. (2020) in three ways: a scalar Health Index instead of the full sensor feature matrix; top-5-nearest instead of a formal statistical accept/reject test; a matched rate held fixed between matches rather than tracked jointly with the state online.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operating-condition-aware normalisation — the pipeline does not extend to FD002 / FD004 (multiple operating conditions) as-is. A scoped, well-defined next step, not an open research question.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e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679606"/>
            <a:ext cx="777240" cy="675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80160" y="1874520"/>
            <a:ext cx="96286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sincere thanks to my promotor, </a:t>
            </a:r>
            <a:pPr algn="ctr"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Koen De Turck</a:t>
            </a:r>
            <a:pPr algn="ctr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my co-promotor, </a:t>
            </a:r>
            <a:pPr algn="ctr"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Dieter Fiems</a:t>
            </a:r>
            <a:pPr algn="ctr" indent="0" marL="0">
              <a:lnSpc>
                <a:spcPts val="3000"/>
              </a:lnSpc>
              <a:spcAft>
                <a:spcPts val="2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their guidance, patience, and careful reading throughout this thesis.</a:t>
            </a:r>
            <a:endParaRPr lang="en-US" sz="19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 my wife, </a:t>
            </a:r>
            <a:pPr algn="ctr"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Shamim Sattarpour Nobari</a:t>
            </a:r>
            <a:pPr algn="ctr" indent="0" marL="0">
              <a:lnSpc>
                <a:spcPts val="3000"/>
              </a:lnSpc>
              <a:spcAft>
                <a:spcPts val="2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who lived every part of this journey with me — this work is as much hers as it is mine.</a:t>
            </a:r>
            <a:endParaRPr lang="en-US" sz="19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5679606"/>
            <a:ext cx="320040" cy="675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2026-09-06T21:50:10Z</dcterms:created>
  <dcterms:modified xsi:type="dcterms:W3CDTF">2026-09-06T21:50:10Z</dcterms:modified>
</cp:coreProperties>
</file>